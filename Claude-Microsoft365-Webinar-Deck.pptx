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hello. Today is a working, practical hour, not a lecture about AI.
Premise in one line: most of us live inside Outlook, Word, Excel and PowerPoint all day, and Claude can take over a big slice of the routine writing, summarizing, reformatting and number-wrangling that fills those apps. You do NOT need a Copilot license, you do NOT need to install anything, and you do NOT need IT to approve anything to start, a free Claude account in your browser is enough.
Tell them what they'll walk out with: specific prompts, repeatable workflows, and real examples they can use at their desk tomorrow morning.
Housekeeping: tell them whether you'll take questions throughout or at the end, mention the handouts (cheat sheet, exercises, licensing guide, follow-up email), and that a recording will follow if applicable. Keep this slide up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hour. Don't read all eight, point at the shape of it.
Say: the first two blocks are setup (where Claude fits, and how to talk to it). The middle four are the live demos in the four apps. The last two are how you make it stick, reusable prompts, a daily routine, and using it responsibly.
Set the rhythm expectation: each app demo follows the same loop, so once you see one you can predict the rest. Promise them the handouts cover everything here so they can just watch, not scramble to take notes.
Keep to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I want them to leave with: Claude is not "the computer doing your job." It's a fast, capable junior teammate who will produce a solid first draft of almost anything textual, instantly, as many times as you want, but who needs you to direct it and check its work.
Walk the three pillars left to right. The human keeps the judgment (what matters, what's confidential, what's good enough). Claude supplies speed. And, crucial for this audience, you don't have to leave your familiar apps or learn a new system. The whole workflow is paste-in, get-output, paste-back.
Reassure the nervous: nothing here changes your files automatically, nothing is sent anywhere without you doing it, and you're always the last set of eyes before anything goes out.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a non-technical audience. The "trick" is almost embarrassingly simple: copy, ask, review, paste back. If they remember nothing else, they should remember this loop.
Emphasize step 3, Review. Claude is fast and usually good, but not always right, it can misread your intent or invent a detail. The loop has a built-in checkpoint: you read before you paste back. That's where your judgment lives.
Then point at the bottom strip: the exact same four steps work whether you're in Outlook, Word, Excel or PowerPoint. We're about to do one demo in each, and you'll see the loop repeat every time. Once you've got it in one app, you've got it in all of them.
Optional aside: later we'll show an official Microsoft 365 connector that removes some of the copy-paste, but everything today works with plain copy-paste and a free account. ~70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brisk and reassuring, this is the part where people worry they'll be left behind.
Walk the four steps. The big message: there is nothing to install for the web version, and the Free plan is enough to do everything we'll do today. If you want to actually open claude.ai live and create a chat, this is the moment, but it's optional.
On plans (right panel): Free is fine to start. Pro is roughly $20/month for people who use it heavily every day, higher usage limits and the ability to work with longer documents. Team and Enterprise are the org-rollout tiers with admin controls and the official Microsoft 365 connector. Don't dwell on pricing live, tell them exact current numbers and the privacy details are in the Download &amp; Licensing Guide handout, because those change.
If someone asks "is it safe to put work info in?", flag that we have a whole slide on that coming up, and park it.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transferable skill of the session. If they internalize Role / Task / Context / Format, every demo afterward is just an application of it.
Go through the four with a single running example (a status email) so it feels concrete: Role = "act as my assistant"; Task = "write a status update"; Context = "here's the thread, audience is my VP, keep it factual"; Format = "five bullets, under 150 words."
Then relieve the pressure: you do NOT need all four every time, and you do NOT need to nail it on the first try. The amber bar is the key message, treat it as a conversation. Get a rough draft and steer it: "shorter," "warmer," "add a line about the deadline." That iterative steering is faster and easier than agonizing over one perfect prompt.
Callback: tell them the cheat-sheet handout lists ready-made patterns built on exactly this structure.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set the scene. Email is where most people feel the daily grind, so this is the demo that tends to land hardest. Tell them we'll do three things: turn a messy thread into a clean status update, then look at tone adjustment and quick replies. Keep this on screen only a few seconds, it's a signpost, not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live demo. If you can, do this for real: grab any long, rambling thread (scrub names if needed) and paste it under the prompt on the left.
Narrate the prompt as an application of slide 6: Role ("you're my chief of staff"), Task ("write a status update"), Context ("the thread, audience is leadership"), Format ("four sections, under 150 words, flag decisions"). The right side shows the kind of structured, skimmable output you get back.
The "wow" beat is the Risks / decisions line, point out that Claude pulled the buried blocker out of a wall of text and surfaced it as something a leader can act on. That's the real value: not just shorter, but reorganized around what the reader needs.
Then demonstrate steering: "make it warmer," or "add one sentence of context at the top." Reinforce the loop. Before moving on, say out loud: "I'd read this, fix the one detail that's off, and send." Never blind-send.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email moves, both very relatable.
Left, tone rescue. We've all fired off a draft while irritated. Show pasting a (made-up) snippy draft and asking for "firm but professional and calm." This one always gets nods. List the other tone dials they can turn: more formal, warmer, more concise, less robotic, match the sender's tone.
Right, reply from bullets. This is the biggest daily time-saver: you already know WHAT you want to say, you just don't want to write the connective tissue. Give Claude three bullets and let it produce three tidy paragraphs. Stress that this keeps YOUR decisions intact, Claude isn't deciding anything, it's just phrasing.
Reminder to the room: still your judgment, still your send button. Keep moving.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Word. The theme here is "shape, don't just shorten." Word is where unstructured mess becomes a presentable artifact: meeting notes into a one-pager, and long documents into key points. Brief signpost, keep it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Word demo. The input is deliberately ugly, half-sentences, abbreviations, the kind of notes you actually type in a meeting. Show that you don't need to clean them up first; that's Claude's job.
Two phrases in the prompt are doing real work and you should call them out: "with owners" forces it to assign action items to people, and "don't invent anything / list unclear things under Open questions" is your guardrail against the model filling gaps with plausible fiction. That instruction matters any time accuracy counts.
Then the practical bit: the result pastes straight into Word and keeps its heading/bullet structure. Mention you can follow up with "make it more formal" or "add a one-line summary at the top" before pasting. Same loop, new app.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demo shows the upload capability, which feels like magic to first-timers. Drag a real (non-sensitive) PDF or Word file into the chat and ask for the five key takeaways. It reads the whole thing in seconds.
The three tips on the right are the leverage. (1) Always set a length or you'll get more than you want. (2) Aim it at an audience, "summarize this for my CEO" vs "for a new hire" produces genuinely different, better-targeted summaries. (3) The honesty trick: ask it to QUOTE the exact sentence rather than paraphrase when accuracy matters. That lets you verify against the source and is your defense against the model smoothing over or inventing detail.
Tie back to the file-size/plan point: very long documents may need a paid plan, note it's in the licensing guide.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PowerPoint. Set expectation: Claude won't design the slides for you in this copy-paste workflow, but it will do the hard part, the thinking and the structure. You get a slide-by-slide outline plus speaker notes that you drop into PowerPoint's outline view. Quick signpost.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PowerPoint demo. Manage expectations up front: in the copy-paste workflow Claude gives you the OUTLINE and the NOTES, not finished visual slides. But honestly, structure is the part people get stuck on, so this removes the hardest blocker.
The prompt asks for three things per slide: title, bullets, and speaker notes. Point out that asking for speaker notes is the underused move, Claude will write what you should actually SAY, which is gold for anyone nervous about presenting.
Pro tip to share: PowerPoint's Outline View (View &gt; Outline) lets you paste a titles-and-bullets structure and it becomes real slides instantly. So the path is: Claude writes the outline, you paste into Outline View, you apply your template. Also mention they can ask "suggest a chart for slide 4" or "what image would fit here."
Meta moment, if you want a laugh: the speaker notes under THIS deck were drafted exactly this way.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Excel, often the most anxiety-inducing app for this audience, so frame it as relief. You no longer have to remember exact function syntax or nest IFs in your head. You describe the result; Claude writes the formula and explains it. Three moves coming: write a formula, fix a broken one, explain an inherited one. Quick signpost.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demo, part one, writing a formula. The flip in mindset: you describe the RESULT you want in plain English, and you let Claude choose the function. Most people's Excel friction is "I know what I want, I just can't remember the syntax." This erases that.
Three habits make it reliable, shown on the right: describe the goal not the syntax; tell it your column layout so the formula references the right cells; and always ask it to explain the formula. The explain step does double duty, you learn, and you can catch a logic mismatch before trusting the number.
Honest caveat to say aloud: Claude can't see your live spreadsheet in this copy-paste workflow, so it's working from your description. If your description is off, the formula will be too, paste the formula in, check the result against a row you can verify by hand.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parts two and three, the two situations people actually dread.
Left, fix-it: paste a formula that's throwing an error (#VALUE!, #REF!, #N/A) and ask what's wrong. Claude diagnoses it in plain language and returns the corrected version. Great for the moment you're stuck and would otherwise lose 20 minutes.
Right, explain-it: this is the one that gets the biggest reaction. Everyone has inherited a workbook full of nested formulas they're terrified to touch. Paste the scary formula and ask for a step-by-step explanation "like I'm new to Excel." Now you understand it before you change it, that's confidence, not just convenience.
Close the Excel section by reinforcing the verify habit: paste the fix back, confirm the result on a row you can check.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session pays off long-term: turning one-off wins into repeatable speed. The insight on the line up top is the hook, the first good prompt is slow; every reuse is nearly free.
Three low-tech ways, no special tools: a prompt notebook (just a Word doc of your 5–10 favorites), fill-in-the-blank templates, and the discipline of saving the exact wording when something works great. Most people regenerate the same prompt from scratch every week, saving it is the whole productivity gain.
The template at the bottom is on the cheat sheet they're taking home. Read it once: role, deliverable, audience, format, plus the "keep my facts" guardrail. Tell them to copy that into their notebook today. (If their org has Claude Team/Enterprise, mention Projects/custom instructions as a fancier version of the same idea.)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turn the demos into a routine so it doesn't evaporate after lunch. Walk the day: morning triage of email/notes, midday hand-offs of routine writing as work arrives, end-of-day wrap-up into a status note or tomorrow's list.
The real coaching point is the line at the bottom: don't try to use it for everything at once or you'll use it for nothing. Pick the ONE task you most dread, the weekly status email, the meeting recap, whatever, and hand only that to Claude every day for a week until it's a reflex. Then add a second. Habit-stacking beats enthusiasm.
Invite them to write down their one task right now. That single commitment is what makes the hour pay off.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it's what makes the difference between IT loving you and IT shutting this down. Keep the tone practical, not scary.
Left, green: the large majority of everyday work is fine, public material, general drafting, anonymized or fake example data, your own notes, how-to and formula questions.
Right, red: keep out personal data about real people (customers, patients, employees), credentials and financial account numbers, trade secrets and confidential contracts, anything under NDA or regulation. The simplest test is the last bullet: "anything you couldn't already email to someone outside your organization."
The two rules at the bottom are the takeaway: (1) check YOUR company's AI policy first, policies vary and yours wins over anything I say; (2) when in doubt, anonymize or omit, and always read the output before you act on it.
Mention the licensing guide covers the data/privacy details, e.g. that consumer plans have a setting controlling whether chats can be used to improve the models, and that business/enterprise plans are handled differently. Give exact current specifics from the guide rather than from memory.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 should at least acknowledge there are better ways" slide. Keep the energy up, but frame both options as upgrades, not prerequisites, so nobody feels they can't start until they buy something.
First, restate the foundation: everything we did today is free copy-paste and it works for everyone. Then open the door.
Left card, the Microsoft 365 add-in: this is the "see your apps flow together" experience. Claude sits in a side panel inside Word, Excel, PowerPoint and Outlook and can follow a single task across an email, a document and a spreadsheet in one conversation, working with what you have open (only what you can already access). It's set up by your organization on a business Microsoft 365 account.
Right card, Cowork: this is the part people get excited about. It's an agentic assistant in the Claude desktop app that works across your real files. You describe an outcome, step away, and come back to finished work, organized files, drafted docs, synthesized research. It can run multi-step jobs, use your connected tools, and even run on a schedule. It's on the paid plans (Pro, Max, Team, Enterprise).
If you have a paid plan yourself, this is a great spot to show a 30-second live taste of the in-app panel or Cowork. If not, describe it and point to the licensing guide, which has links. Land on the bottom line: upgrades, not prerequisites. ~2 to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plane with a clear, small ask. Three concrete actions, not vague inspiration: (1) create the free account today; (2) hand off the one task you most dread this week; (3) save the first prompt that works.
Then the one-line takeaway in the dark bar, repeat the loop out loud and have them say it back if the room's game: Copy, Ask, Review, Paste back. Same four steps, every app, on the work they already do.
Remind them all the handouts reinforce this: cheat sheet, exercises, licensing guide, and a follow-up email. Transition to Q&amp;A on the next slide.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The best Q&amp;A prompt is concrete: "bring me the task you do every week that you'd love to hand off," then solve it live. Live problem-solving is the most persuasive thing you can do; it turns skeptics.
While questions come in, point at the take-home pack so everyone knows what they're getting: cheat sheet, exercises, licensing guide, and the follow-up email. Tell them where and how they'll receive these.
Common questions to be ready for: Is it free? (Yes, the Free plan covers today.) Is my data safe? (Point to the licensing guide; consumer plans have a training setting, business plans differ; follow your company policy.) Does it work in my actual Excel? (Copy-paste today; the in-app add-in and Cowork if you're on a paid plan.) How is this different from Copilot? (Complementary; no license needed; you can start now.)
Close warmly and end on the call to action: go hand something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0698480" y="-822960"/>
            <a:ext cx="2377440" cy="2377440"/>
          </a:xfrm>
          <a:prstGeom prst="ellipse">
            <a:avLst/>
          </a:prstGeom>
          <a:solidFill>
            <a:srgbClr val="24385F"/>
          </a:solidFill>
          <a:ln/>
        </p:spPr>
      </p:sp>
      <p:sp>
        <p:nvSpPr>
          <p:cNvPr id="3" name="Shape 1"/>
          <p:cNvSpPr/>
          <p:nvPr/>
        </p:nvSpPr>
        <p:spPr>
          <a:xfrm>
            <a:off x="11521440" y="457200"/>
            <a:ext cx="640080" cy="640080"/>
          </a:xfrm>
          <a:prstGeom prst="ellipse">
            <a:avLst/>
          </a:prstGeom>
          <a:solidFill>
            <a:srgbClr val="E8A33D"/>
          </a:solidFill>
          <a:ln/>
        </p:spPr>
      </p:sp>
      <p:sp>
        <p:nvSpPr>
          <p:cNvPr id="4" name="Shape 2"/>
          <p:cNvSpPr/>
          <p:nvPr/>
        </p:nvSpPr>
        <p:spPr>
          <a:xfrm>
            <a:off x="0" y="0"/>
            <a:ext cx="201168" cy="6858000"/>
          </a:xfrm>
          <a:prstGeom prst="rect">
            <a:avLst/>
          </a:prstGeom>
          <a:solidFill>
            <a:srgbClr val="E8A33D"/>
          </a:solidFill>
          <a:ln/>
        </p:spPr>
      </p:sp>
      <p:sp>
        <p:nvSpPr>
          <p:cNvPr id="5" name="Text 3"/>
          <p:cNvSpPr/>
          <p:nvPr/>
        </p:nvSpPr>
        <p:spPr>
          <a:xfrm>
            <a:off x="822960" y="1417320"/>
            <a:ext cx="8229600" cy="365760"/>
          </a:xfrm>
          <a:prstGeom prst="rect">
            <a:avLst/>
          </a:prstGeom>
          <a:noFill/>
          <a:ln/>
        </p:spPr>
        <p:txBody>
          <a:bodyPr wrap="square" lIns="0" tIns="0" rIns="0" bIns="0" rtlCol="0" anchor="ctr"/>
          <a:lstStyle/>
          <a:p>
            <a:pPr indent="0" marL="0">
              <a:buNone/>
            </a:pPr>
            <a:r>
              <a:rPr lang="en-US" sz="1400" b="1" spc="200" kern="0" dirty="0">
                <a:solidFill>
                  <a:srgbClr val="5FB3B3"/>
                </a:solidFill>
                <a:latin typeface="Calibri" pitchFamily="34" charset="0"/>
                <a:ea typeface="Calibri" pitchFamily="34" charset="-122"/>
                <a:cs typeface="Calibri" pitchFamily="34" charset="-120"/>
              </a:rPr>
              <a:t>LIVE WEBINAR · 60 MINUTES</a:t>
            </a:r>
            <a:endParaRPr lang="en-US" sz="1400" dirty="0"/>
          </a:p>
        </p:txBody>
      </p:sp>
      <p:sp>
        <p:nvSpPr>
          <p:cNvPr id="6" name="Text 4"/>
          <p:cNvSpPr/>
          <p:nvPr/>
        </p:nvSpPr>
        <p:spPr>
          <a:xfrm>
            <a:off x="777240" y="1874520"/>
            <a:ext cx="10607040" cy="91440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Claude + Microsoft 365</a:t>
            </a:r>
            <a:endParaRPr lang="en-US" sz="5200" dirty="0"/>
          </a:p>
        </p:txBody>
      </p:sp>
      <p:sp>
        <p:nvSpPr>
          <p:cNvPr id="7" name="Text 5"/>
          <p:cNvSpPr/>
          <p:nvPr/>
        </p:nvSpPr>
        <p:spPr>
          <a:xfrm>
            <a:off x="777240" y="2743200"/>
            <a:ext cx="10607040" cy="822960"/>
          </a:xfrm>
          <a:prstGeom prst="rect">
            <a:avLst/>
          </a:prstGeom>
          <a:noFill/>
          <a:ln/>
        </p:spPr>
        <p:txBody>
          <a:bodyPr wrap="square" lIns="0" tIns="0" rIns="0" bIns="0" rtlCol="0" anchor="ctr"/>
          <a:lstStyle/>
          <a:p>
            <a:pPr indent="0" marL="0">
              <a:buNone/>
            </a:pPr>
            <a:r>
              <a:rPr lang="en-US" sz="4000" i="1" dirty="0">
                <a:solidFill>
                  <a:srgbClr val="E8A33D"/>
                </a:solidFill>
                <a:latin typeface="Georgia" pitchFamily="34" charset="0"/>
                <a:ea typeface="Georgia" pitchFamily="34" charset="-122"/>
                <a:cs typeface="Georgia" pitchFamily="34" charset="-120"/>
              </a:rPr>
              <a:t>for Everyday Productivity</a:t>
            </a:r>
            <a:endParaRPr lang="en-US" sz="4000" dirty="0"/>
          </a:p>
        </p:txBody>
      </p:sp>
      <p:sp>
        <p:nvSpPr>
          <p:cNvPr id="8" name="Text 6"/>
          <p:cNvSpPr/>
          <p:nvPr/>
        </p:nvSpPr>
        <p:spPr>
          <a:xfrm>
            <a:off x="822960" y="3703320"/>
            <a:ext cx="9875520" cy="914400"/>
          </a:xfrm>
          <a:prstGeom prst="rect">
            <a:avLst/>
          </a:prstGeom>
          <a:noFill/>
          <a:ln/>
        </p:spPr>
        <p:txBody>
          <a:bodyPr wrap="square" lIns="0" tIns="0" rIns="0" bIns="0" rtlCol="0" anchor="ctr"/>
          <a:lstStyle/>
          <a:p>
            <a:pPr indent="0" marL="0">
              <a:lnSpc>
                <a:spcPct val="115000"/>
              </a:lnSpc>
              <a:buNone/>
            </a:pPr>
            <a:r>
              <a:rPr lang="en-US" sz="1700" dirty="0">
                <a:solidFill>
                  <a:srgbClr val="CFD8E6"/>
                </a:solidFill>
                <a:latin typeface="Calibri" pitchFamily="34" charset="0"/>
                <a:ea typeface="Calibri" pitchFamily="34" charset="-122"/>
                <a:cs typeface="Calibri" pitchFamily="34" charset="-120"/>
              </a:rPr>
              <a:t>Hand off the routine writing, summarizing, formatting and analysis,</a:t>
            </a:r>
            <a:endParaRPr lang="en-US" sz="1700" dirty="0"/>
          </a:p>
          <a:p>
            <a:pPr indent="0" marL="0">
              <a:lnSpc>
                <a:spcPct val="115000"/>
              </a:lnSpc>
              <a:buNone/>
            </a:pPr>
            <a:r>
              <a:rPr lang="en-US" sz="1700" dirty="0">
                <a:solidFill>
                  <a:srgbClr val="CFD8E6"/>
                </a:solidFill>
                <a:latin typeface="Calibri" pitchFamily="34" charset="0"/>
                <a:ea typeface="Calibri" pitchFamily="34" charset="-122"/>
                <a:cs typeface="Calibri" pitchFamily="34" charset="-120"/>
              </a:rPr>
              <a:t>and get back polished output that drops straight into Word, Excel, PowerPoint and Outlook.</a:t>
            </a:r>
            <a:endParaRPr lang="en-US" sz="1700" dirty="0"/>
          </a:p>
        </p:txBody>
      </p:sp>
      <p:sp>
        <p:nvSpPr>
          <p:cNvPr id="9" name="Text 7"/>
          <p:cNvSpPr/>
          <p:nvPr/>
        </p:nvSpPr>
        <p:spPr>
          <a:xfrm>
            <a:off x="822960" y="4892040"/>
            <a:ext cx="10058400" cy="365760"/>
          </a:xfrm>
          <a:prstGeom prst="rect">
            <a:avLst/>
          </a:prstGeom>
          <a:noFill/>
          <a:ln/>
        </p:spPr>
        <p:txBody>
          <a:bodyPr wrap="square" lIns="0" tIns="0" rIns="0" bIns="0" rtlCol="0" anchor="ctr"/>
          <a:lstStyle/>
          <a:p>
            <a:pPr indent="0" marL="0">
              <a:buNone/>
            </a:pPr>
            <a:r>
              <a:rPr lang="en-US" sz="1500" b="1" dirty="0">
                <a:solidFill>
                  <a:srgbClr val="9FB0C9"/>
                </a:solidFill>
                <a:latin typeface="Calibri" pitchFamily="34" charset="0"/>
                <a:ea typeface="Calibri" pitchFamily="34" charset="-122"/>
                <a:cs typeface="Calibri" pitchFamily="34" charset="-120"/>
              </a:rPr>
              <a:t>No Copilot license</a:t>
            </a:r>
            <a:pPr indent="0" marL="0">
              <a:buNone/>
            </a:pPr>
            <a:r>
              <a:rPr lang="en-US" sz="1500" dirty="0">
                <a:solidFill>
                  <a:srgbClr val="9FB0C9"/>
                </a:solidFill>
                <a:latin typeface="Calibri" pitchFamily="34" charset="0"/>
                <a:ea typeface="Calibri" pitchFamily="34" charset="-122"/>
                <a:cs typeface="Calibri" pitchFamily="34" charset="-120"/>
              </a:rPr>
              <a:t>  ·  No coding  ·  No plugins  ·  No IT approval to get started</a:t>
            </a:r>
            <a:endParaRPr lang="en-US" sz="1500" dirty="0"/>
          </a:p>
        </p:txBody>
      </p:sp>
      <p:sp>
        <p:nvSpPr>
          <p:cNvPr id="10" name="Text 8"/>
          <p:cNvSpPr/>
          <p:nvPr/>
        </p:nvSpPr>
        <p:spPr>
          <a:xfrm>
            <a:off x="822960" y="5989320"/>
            <a:ext cx="10058400" cy="365760"/>
          </a:xfrm>
          <a:prstGeom prst="rect">
            <a:avLst/>
          </a:prstGeom>
          <a:noFill/>
          <a:ln/>
        </p:spPr>
        <p:txBody>
          <a:bodyPr wrap="square" lIns="0" tIns="0" rIns="0" bIns="0" rtlCol="0" anchor="ctr"/>
          <a:lstStyle/>
          <a:p>
            <a:pPr indent="0" marL="0">
              <a:buNone/>
            </a:pPr>
            <a:r>
              <a:rPr lang="en-US" sz="1200" dirty="0">
                <a:solidFill>
                  <a:srgbClr val="6E7E99"/>
                </a:solidFill>
                <a:latin typeface="Calibri" pitchFamily="34" charset="0"/>
                <a:ea typeface="Calibri" pitchFamily="34" charset="-122"/>
                <a:cs typeface="Calibri" pitchFamily="34" charset="-120"/>
              </a:rPr>
              <a:t>Presenter: ______________________   |   Materials provided with this session</a:t>
            </a:r>
            <a:endParaRPr lang="en-US" sz="1200" dirty="0"/>
          </a:p>
        </p:txBody>
      </p:sp>
      <p:sp>
        <p:nvSpPr>
          <p:cNvPr id="12" name="Text 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3" name="Text 1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ROADMAP</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What we'll cover in the next hour</a:t>
            </a:r>
            <a:endParaRPr lang="en-US" sz="3000" dirty="0"/>
          </a:p>
        </p:txBody>
      </p:sp>
      <p:sp>
        <p:nvSpPr>
          <p:cNvPr id="5" name="Shape 3"/>
          <p:cNvSpPr/>
          <p:nvPr/>
        </p:nvSpPr>
        <p:spPr>
          <a:xfrm>
            <a:off x="457200" y="16916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685800" y="1929384"/>
            <a:ext cx="566928" cy="566928"/>
          </a:xfrm>
          <a:prstGeom prst="ellipse">
            <a:avLst/>
          </a:prstGeom>
          <a:solidFill>
            <a:srgbClr val="1B2A4A"/>
          </a:solidFill>
          <a:ln/>
        </p:spPr>
      </p:sp>
      <p:pic>
        <p:nvPicPr>
          <p:cNvPr id="7" name="Image 0" descr="preencoded.png">    </p:cNvPr>
          <p:cNvPicPr>
            <a:picLocks noChangeAspect="1"/>
          </p:cNvPicPr>
          <p:nvPr/>
        </p:nvPicPr>
        <p:blipFill>
          <a:blip r:embed="rId1"/>
          <a:stretch>
            <a:fillRect/>
          </a:stretch>
        </p:blipFill>
        <p:spPr>
          <a:xfrm>
            <a:off x="804672" y="2048256"/>
            <a:ext cx="329184" cy="329184"/>
          </a:xfrm>
          <a:prstGeom prst="rect">
            <a:avLst/>
          </a:prstGeom>
        </p:spPr>
      </p:pic>
      <p:sp>
        <p:nvSpPr>
          <p:cNvPr id="8" name="Text 5"/>
          <p:cNvSpPr/>
          <p:nvPr/>
        </p:nvSpPr>
        <p:spPr>
          <a:xfrm>
            <a:off x="2514600" y="18562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1</a:t>
            </a:r>
            <a:endParaRPr lang="en-US" sz="2600" dirty="0"/>
          </a:p>
        </p:txBody>
      </p:sp>
      <p:sp>
        <p:nvSpPr>
          <p:cNvPr id="9" name="Text 6"/>
          <p:cNvSpPr/>
          <p:nvPr/>
        </p:nvSpPr>
        <p:spPr>
          <a:xfrm>
            <a:off x="685800" y="26060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Where Claude fits</a:t>
            </a:r>
            <a:endParaRPr lang="en-US" sz="1450" dirty="0"/>
          </a:p>
        </p:txBody>
      </p:sp>
      <p:sp>
        <p:nvSpPr>
          <p:cNvPr id="10" name="Text 7"/>
          <p:cNvSpPr/>
          <p:nvPr/>
        </p:nvSpPr>
        <p:spPr>
          <a:xfrm>
            <a:off x="685800" y="29535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How it works alongside the apps you already use</a:t>
            </a:r>
            <a:endParaRPr lang="en-US" sz="1150" dirty="0"/>
          </a:p>
        </p:txBody>
      </p:sp>
      <p:sp>
        <p:nvSpPr>
          <p:cNvPr id="11" name="Shape 8"/>
          <p:cNvSpPr/>
          <p:nvPr/>
        </p:nvSpPr>
        <p:spPr>
          <a:xfrm>
            <a:off x="3273552" y="16916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Shape 9"/>
          <p:cNvSpPr/>
          <p:nvPr/>
        </p:nvSpPr>
        <p:spPr>
          <a:xfrm>
            <a:off x="3502152" y="1929384"/>
            <a:ext cx="566928" cy="566928"/>
          </a:xfrm>
          <a:prstGeom prst="ellipse">
            <a:avLst/>
          </a:prstGeom>
          <a:solidFill>
            <a:srgbClr val="1B2A4A"/>
          </a:solidFill>
          <a:ln/>
        </p:spPr>
      </p:sp>
      <p:pic>
        <p:nvPicPr>
          <p:cNvPr id="13" name="Image 1" descr="preencoded.png">    </p:cNvPr>
          <p:cNvPicPr>
            <a:picLocks noChangeAspect="1"/>
          </p:cNvPicPr>
          <p:nvPr/>
        </p:nvPicPr>
        <p:blipFill>
          <a:blip r:embed="rId2"/>
          <a:stretch>
            <a:fillRect/>
          </a:stretch>
        </p:blipFill>
        <p:spPr>
          <a:xfrm>
            <a:off x="3621024" y="2048256"/>
            <a:ext cx="329184" cy="329184"/>
          </a:xfrm>
          <a:prstGeom prst="rect">
            <a:avLst/>
          </a:prstGeom>
        </p:spPr>
      </p:pic>
      <p:sp>
        <p:nvSpPr>
          <p:cNvPr id="14" name="Text 10"/>
          <p:cNvSpPr/>
          <p:nvPr/>
        </p:nvSpPr>
        <p:spPr>
          <a:xfrm>
            <a:off x="5330952" y="18562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2</a:t>
            </a:r>
            <a:endParaRPr lang="en-US" sz="2600" dirty="0"/>
          </a:p>
        </p:txBody>
      </p:sp>
      <p:sp>
        <p:nvSpPr>
          <p:cNvPr id="15" name="Text 11"/>
          <p:cNvSpPr/>
          <p:nvPr/>
        </p:nvSpPr>
        <p:spPr>
          <a:xfrm>
            <a:off x="3502152" y="26060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Email, faster</a:t>
            </a:r>
            <a:endParaRPr lang="en-US" sz="1450" dirty="0"/>
          </a:p>
        </p:txBody>
      </p:sp>
      <p:sp>
        <p:nvSpPr>
          <p:cNvPr id="16" name="Text 12"/>
          <p:cNvSpPr/>
          <p:nvPr/>
        </p:nvSpPr>
        <p:spPr>
          <a:xfrm>
            <a:off x="3502152" y="29535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Draft, summarize threads, fix the tone</a:t>
            </a:r>
            <a:endParaRPr lang="en-US" sz="1150" dirty="0"/>
          </a:p>
        </p:txBody>
      </p:sp>
      <p:sp>
        <p:nvSpPr>
          <p:cNvPr id="17" name="Shape 13"/>
          <p:cNvSpPr/>
          <p:nvPr/>
        </p:nvSpPr>
        <p:spPr>
          <a:xfrm>
            <a:off x="6089904" y="16916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8" name="Shape 14"/>
          <p:cNvSpPr/>
          <p:nvPr/>
        </p:nvSpPr>
        <p:spPr>
          <a:xfrm>
            <a:off x="6318504" y="1929384"/>
            <a:ext cx="566928" cy="566928"/>
          </a:xfrm>
          <a:prstGeom prst="ellipse">
            <a:avLst/>
          </a:prstGeom>
          <a:solidFill>
            <a:srgbClr val="1B2A4A"/>
          </a:solidFill>
          <a:ln/>
        </p:spPr>
      </p:sp>
      <p:pic>
        <p:nvPicPr>
          <p:cNvPr id="19" name="Image 2" descr="preencoded.png">    </p:cNvPr>
          <p:cNvPicPr>
            <a:picLocks noChangeAspect="1"/>
          </p:cNvPicPr>
          <p:nvPr/>
        </p:nvPicPr>
        <p:blipFill>
          <a:blip r:embed="rId3"/>
          <a:stretch>
            <a:fillRect/>
          </a:stretch>
        </p:blipFill>
        <p:spPr>
          <a:xfrm>
            <a:off x="6437376" y="2048256"/>
            <a:ext cx="329184" cy="329184"/>
          </a:xfrm>
          <a:prstGeom prst="rect">
            <a:avLst/>
          </a:prstGeom>
        </p:spPr>
      </p:pic>
      <p:sp>
        <p:nvSpPr>
          <p:cNvPr id="20" name="Text 15"/>
          <p:cNvSpPr/>
          <p:nvPr/>
        </p:nvSpPr>
        <p:spPr>
          <a:xfrm>
            <a:off x="8147304" y="18562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3</a:t>
            </a:r>
            <a:endParaRPr lang="en-US" sz="2600" dirty="0"/>
          </a:p>
        </p:txBody>
      </p:sp>
      <p:sp>
        <p:nvSpPr>
          <p:cNvPr id="21" name="Text 16"/>
          <p:cNvSpPr/>
          <p:nvPr/>
        </p:nvSpPr>
        <p:spPr>
          <a:xfrm>
            <a:off x="6318504" y="26060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Notes → clean docs</a:t>
            </a:r>
            <a:endParaRPr lang="en-US" sz="1450" dirty="0"/>
          </a:p>
        </p:txBody>
      </p:sp>
      <p:sp>
        <p:nvSpPr>
          <p:cNvPr id="22" name="Text 17"/>
          <p:cNvSpPr/>
          <p:nvPr/>
        </p:nvSpPr>
        <p:spPr>
          <a:xfrm>
            <a:off x="6318504" y="29535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Turn raw text into a polished one-pager</a:t>
            </a:r>
            <a:endParaRPr lang="en-US" sz="1150" dirty="0"/>
          </a:p>
        </p:txBody>
      </p:sp>
      <p:sp>
        <p:nvSpPr>
          <p:cNvPr id="23" name="Shape 18"/>
          <p:cNvSpPr/>
          <p:nvPr/>
        </p:nvSpPr>
        <p:spPr>
          <a:xfrm>
            <a:off x="8906256" y="16916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24" name="Shape 19"/>
          <p:cNvSpPr/>
          <p:nvPr/>
        </p:nvSpPr>
        <p:spPr>
          <a:xfrm>
            <a:off x="9134856" y="1929384"/>
            <a:ext cx="566928" cy="566928"/>
          </a:xfrm>
          <a:prstGeom prst="ellipse">
            <a:avLst/>
          </a:prstGeom>
          <a:solidFill>
            <a:srgbClr val="1B2A4A"/>
          </a:solidFill>
          <a:ln/>
        </p:spPr>
      </p:sp>
      <p:pic>
        <p:nvPicPr>
          <p:cNvPr id="25" name="Image 3" descr="preencoded.png">    </p:cNvPr>
          <p:cNvPicPr>
            <a:picLocks noChangeAspect="1"/>
          </p:cNvPicPr>
          <p:nvPr/>
        </p:nvPicPr>
        <p:blipFill>
          <a:blip r:embed="rId4"/>
          <a:stretch>
            <a:fillRect/>
          </a:stretch>
        </p:blipFill>
        <p:spPr>
          <a:xfrm>
            <a:off x="9253728" y="2048256"/>
            <a:ext cx="329184" cy="329184"/>
          </a:xfrm>
          <a:prstGeom prst="rect">
            <a:avLst/>
          </a:prstGeom>
        </p:spPr>
      </p:pic>
      <p:sp>
        <p:nvSpPr>
          <p:cNvPr id="26" name="Text 20"/>
          <p:cNvSpPr/>
          <p:nvPr/>
        </p:nvSpPr>
        <p:spPr>
          <a:xfrm>
            <a:off x="10963656" y="18562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4</a:t>
            </a:r>
            <a:endParaRPr lang="en-US" sz="2600" dirty="0"/>
          </a:p>
        </p:txBody>
      </p:sp>
      <p:sp>
        <p:nvSpPr>
          <p:cNvPr id="27" name="Text 21"/>
          <p:cNvSpPr/>
          <p:nvPr/>
        </p:nvSpPr>
        <p:spPr>
          <a:xfrm>
            <a:off x="9134856" y="26060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Slide outlines</a:t>
            </a:r>
            <a:endParaRPr lang="en-US" sz="1450" dirty="0"/>
          </a:p>
        </p:txBody>
      </p:sp>
      <p:sp>
        <p:nvSpPr>
          <p:cNvPr id="28" name="Text 22"/>
          <p:cNvSpPr/>
          <p:nvPr/>
        </p:nvSpPr>
        <p:spPr>
          <a:xfrm>
            <a:off x="9134856" y="29535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From a Word doc to a deck + speaker notes</a:t>
            </a:r>
            <a:endParaRPr lang="en-US" sz="1150" dirty="0"/>
          </a:p>
        </p:txBody>
      </p:sp>
      <p:sp>
        <p:nvSpPr>
          <p:cNvPr id="29" name="Shape 23"/>
          <p:cNvSpPr/>
          <p:nvPr/>
        </p:nvSpPr>
        <p:spPr>
          <a:xfrm>
            <a:off x="457200" y="37490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30" name="Shape 24"/>
          <p:cNvSpPr/>
          <p:nvPr/>
        </p:nvSpPr>
        <p:spPr>
          <a:xfrm>
            <a:off x="685800" y="3986784"/>
            <a:ext cx="566928" cy="566928"/>
          </a:xfrm>
          <a:prstGeom prst="ellipse">
            <a:avLst/>
          </a:prstGeom>
          <a:solidFill>
            <a:srgbClr val="1B2A4A"/>
          </a:solidFill>
          <a:ln/>
        </p:spPr>
      </p:sp>
      <p:pic>
        <p:nvPicPr>
          <p:cNvPr id="31" name="Image 4" descr="preencoded.png">    </p:cNvPr>
          <p:cNvPicPr>
            <a:picLocks noChangeAspect="1"/>
          </p:cNvPicPr>
          <p:nvPr/>
        </p:nvPicPr>
        <p:blipFill>
          <a:blip r:embed="rId5"/>
          <a:stretch>
            <a:fillRect/>
          </a:stretch>
        </p:blipFill>
        <p:spPr>
          <a:xfrm>
            <a:off x="804672" y="4105656"/>
            <a:ext cx="329184" cy="329184"/>
          </a:xfrm>
          <a:prstGeom prst="rect">
            <a:avLst/>
          </a:prstGeom>
        </p:spPr>
      </p:pic>
      <p:sp>
        <p:nvSpPr>
          <p:cNvPr id="32" name="Text 25"/>
          <p:cNvSpPr/>
          <p:nvPr/>
        </p:nvSpPr>
        <p:spPr>
          <a:xfrm>
            <a:off x="2514600" y="39136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5</a:t>
            </a:r>
            <a:endParaRPr lang="en-US" sz="2600" dirty="0"/>
          </a:p>
        </p:txBody>
      </p:sp>
      <p:sp>
        <p:nvSpPr>
          <p:cNvPr id="33" name="Text 26"/>
          <p:cNvSpPr/>
          <p:nvPr/>
        </p:nvSpPr>
        <p:spPr>
          <a:xfrm>
            <a:off x="685800" y="46634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Excel formulas</a:t>
            </a:r>
            <a:endParaRPr lang="en-US" sz="1450" dirty="0"/>
          </a:p>
        </p:txBody>
      </p:sp>
      <p:sp>
        <p:nvSpPr>
          <p:cNvPr id="34" name="Text 27"/>
          <p:cNvSpPr/>
          <p:nvPr/>
        </p:nvSpPr>
        <p:spPr>
          <a:xfrm>
            <a:off x="685800" y="50109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Write, fix and explain formulas in plain English</a:t>
            </a:r>
            <a:endParaRPr lang="en-US" sz="1150" dirty="0"/>
          </a:p>
        </p:txBody>
      </p:sp>
      <p:sp>
        <p:nvSpPr>
          <p:cNvPr id="35" name="Shape 28"/>
          <p:cNvSpPr/>
          <p:nvPr/>
        </p:nvSpPr>
        <p:spPr>
          <a:xfrm>
            <a:off x="3273552" y="37490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36" name="Shape 29"/>
          <p:cNvSpPr/>
          <p:nvPr/>
        </p:nvSpPr>
        <p:spPr>
          <a:xfrm>
            <a:off x="3502152" y="3986784"/>
            <a:ext cx="566928" cy="566928"/>
          </a:xfrm>
          <a:prstGeom prst="ellipse">
            <a:avLst/>
          </a:prstGeom>
          <a:solidFill>
            <a:srgbClr val="1B2A4A"/>
          </a:solidFill>
          <a:ln/>
        </p:spPr>
      </p:sp>
      <p:pic>
        <p:nvPicPr>
          <p:cNvPr id="37" name="Image 5" descr="preencoded.png">    </p:cNvPr>
          <p:cNvPicPr>
            <a:picLocks noChangeAspect="1"/>
          </p:cNvPicPr>
          <p:nvPr/>
        </p:nvPicPr>
        <p:blipFill>
          <a:blip r:embed="rId6"/>
          <a:stretch>
            <a:fillRect/>
          </a:stretch>
        </p:blipFill>
        <p:spPr>
          <a:xfrm>
            <a:off x="3621024" y="4105656"/>
            <a:ext cx="329184" cy="329184"/>
          </a:xfrm>
          <a:prstGeom prst="rect">
            <a:avLst/>
          </a:prstGeom>
        </p:spPr>
      </p:pic>
      <p:sp>
        <p:nvSpPr>
          <p:cNvPr id="38" name="Text 30"/>
          <p:cNvSpPr/>
          <p:nvPr/>
        </p:nvSpPr>
        <p:spPr>
          <a:xfrm>
            <a:off x="5330952" y="39136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6</a:t>
            </a:r>
            <a:endParaRPr lang="en-US" sz="2600" dirty="0"/>
          </a:p>
        </p:txBody>
      </p:sp>
      <p:sp>
        <p:nvSpPr>
          <p:cNvPr id="39" name="Text 31"/>
          <p:cNvSpPr/>
          <p:nvPr/>
        </p:nvSpPr>
        <p:spPr>
          <a:xfrm>
            <a:off x="3502152" y="46634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Reusable prompts</a:t>
            </a:r>
            <a:endParaRPr lang="en-US" sz="1450" dirty="0"/>
          </a:p>
        </p:txBody>
      </p:sp>
      <p:sp>
        <p:nvSpPr>
          <p:cNvPr id="40" name="Text 32"/>
          <p:cNvSpPr/>
          <p:nvPr/>
        </p:nvSpPr>
        <p:spPr>
          <a:xfrm>
            <a:off x="3502152" y="50109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Build patterns so tasks get faster every time</a:t>
            </a:r>
            <a:endParaRPr lang="en-US" sz="1150" dirty="0"/>
          </a:p>
        </p:txBody>
      </p:sp>
      <p:sp>
        <p:nvSpPr>
          <p:cNvPr id="41" name="Shape 33"/>
          <p:cNvSpPr/>
          <p:nvPr/>
        </p:nvSpPr>
        <p:spPr>
          <a:xfrm>
            <a:off x="6089904" y="37490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42" name="Shape 34"/>
          <p:cNvSpPr/>
          <p:nvPr/>
        </p:nvSpPr>
        <p:spPr>
          <a:xfrm>
            <a:off x="6318504" y="3986784"/>
            <a:ext cx="566928" cy="566928"/>
          </a:xfrm>
          <a:prstGeom prst="ellipse">
            <a:avLst/>
          </a:prstGeom>
          <a:solidFill>
            <a:srgbClr val="1B2A4A"/>
          </a:solidFill>
          <a:ln/>
        </p:spPr>
      </p:sp>
      <p:pic>
        <p:nvPicPr>
          <p:cNvPr id="43" name="Image 6" descr="preencoded.png">    </p:cNvPr>
          <p:cNvPicPr>
            <a:picLocks noChangeAspect="1"/>
          </p:cNvPicPr>
          <p:nvPr/>
        </p:nvPicPr>
        <p:blipFill>
          <a:blip r:embed="rId7"/>
          <a:stretch>
            <a:fillRect/>
          </a:stretch>
        </p:blipFill>
        <p:spPr>
          <a:xfrm>
            <a:off x="6437376" y="4105656"/>
            <a:ext cx="329184" cy="329184"/>
          </a:xfrm>
          <a:prstGeom prst="rect">
            <a:avLst/>
          </a:prstGeom>
        </p:spPr>
      </p:pic>
      <p:sp>
        <p:nvSpPr>
          <p:cNvPr id="44" name="Text 35"/>
          <p:cNvSpPr/>
          <p:nvPr/>
        </p:nvSpPr>
        <p:spPr>
          <a:xfrm>
            <a:off x="8147304" y="39136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7</a:t>
            </a:r>
            <a:endParaRPr lang="en-US" sz="2600" dirty="0"/>
          </a:p>
        </p:txBody>
      </p:sp>
      <p:sp>
        <p:nvSpPr>
          <p:cNvPr id="45" name="Text 36"/>
          <p:cNvSpPr/>
          <p:nvPr/>
        </p:nvSpPr>
        <p:spPr>
          <a:xfrm>
            <a:off x="6318504" y="46634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Responsible use</a:t>
            </a:r>
            <a:endParaRPr lang="en-US" sz="1450" dirty="0"/>
          </a:p>
        </p:txBody>
      </p:sp>
      <p:sp>
        <p:nvSpPr>
          <p:cNvPr id="46" name="Text 37"/>
          <p:cNvSpPr/>
          <p:nvPr/>
        </p:nvSpPr>
        <p:spPr>
          <a:xfrm>
            <a:off x="6318504" y="50109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What to share, what to keep out</a:t>
            </a:r>
            <a:endParaRPr lang="en-US" sz="1150" dirty="0"/>
          </a:p>
        </p:txBody>
      </p:sp>
      <p:sp>
        <p:nvSpPr>
          <p:cNvPr id="47" name="Shape 38"/>
          <p:cNvSpPr/>
          <p:nvPr/>
        </p:nvSpPr>
        <p:spPr>
          <a:xfrm>
            <a:off x="8906256" y="3749040"/>
            <a:ext cx="2697480" cy="1874520"/>
          </a:xfrm>
          <a:prstGeom prst="roundRect">
            <a:avLst>
              <a:gd name="adj" fmla="val 3902"/>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48" name="Shape 39"/>
          <p:cNvSpPr/>
          <p:nvPr/>
        </p:nvSpPr>
        <p:spPr>
          <a:xfrm>
            <a:off x="9134856" y="3986784"/>
            <a:ext cx="566928" cy="566928"/>
          </a:xfrm>
          <a:prstGeom prst="ellipse">
            <a:avLst/>
          </a:prstGeom>
          <a:solidFill>
            <a:srgbClr val="1B2A4A"/>
          </a:solidFill>
          <a:ln/>
        </p:spPr>
      </p:sp>
      <p:pic>
        <p:nvPicPr>
          <p:cNvPr id="49" name="Image 7" descr="preencoded.png">    </p:cNvPr>
          <p:cNvPicPr>
            <a:picLocks noChangeAspect="1"/>
          </p:cNvPicPr>
          <p:nvPr/>
        </p:nvPicPr>
        <p:blipFill>
          <a:blip r:embed="rId8"/>
          <a:stretch>
            <a:fillRect/>
          </a:stretch>
        </p:blipFill>
        <p:spPr>
          <a:xfrm>
            <a:off x="9253728" y="4105656"/>
            <a:ext cx="329184" cy="329184"/>
          </a:xfrm>
          <a:prstGeom prst="rect">
            <a:avLst/>
          </a:prstGeom>
        </p:spPr>
      </p:pic>
      <p:sp>
        <p:nvSpPr>
          <p:cNvPr id="50" name="Text 40"/>
          <p:cNvSpPr/>
          <p:nvPr/>
        </p:nvSpPr>
        <p:spPr>
          <a:xfrm>
            <a:off x="10963656" y="3913632"/>
            <a:ext cx="457200" cy="457200"/>
          </a:xfrm>
          <a:prstGeom prst="rect">
            <a:avLst/>
          </a:prstGeom>
          <a:noFill/>
          <a:ln/>
        </p:spPr>
        <p:txBody>
          <a:bodyPr wrap="square" lIns="0" tIns="0" rIns="0" bIns="0" rtlCol="0" anchor="ctr"/>
          <a:lstStyle/>
          <a:p>
            <a:pPr algn="r" indent="0" marL="0">
              <a:buNone/>
            </a:pPr>
            <a:r>
              <a:rPr lang="en-US" sz="2600" b="1" dirty="0">
                <a:solidFill>
                  <a:srgbClr val="E2E7EF"/>
                </a:solidFill>
                <a:latin typeface="Georgia" pitchFamily="34" charset="0"/>
                <a:ea typeface="Georgia" pitchFamily="34" charset="-122"/>
                <a:cs typeface="Georgia" pitchFamily="34" charset="-120"/>
              </a:rPr>
              <a:t>8</a:t>
            </a:r>
            <a:endParaRPr lang="en-US" sz="2600" dirty="0"/>
          </a:p>
        </p:txBody>
      </p:sp>
      <p:sp>
        <p:nvSpPr>
          <p:cNvPr id="51" name="Text 41"/>
          <p:cNvSpPr/>
          <p:nvPr/>
        </p:nvSpPr>
        <p:spPr>
          <a:xfrm>
            <a:off x="9134856" y="4663440"/>
            <a:ext cx="2286000" cy="36576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Your daily workflow</a:t>
            </a:r>
            <a:endParaRPr lang="en-US" sz="1450" dirty="0"/>
          </a:p>
        </p:txBody>
      </p:sp>
      <p:sp>
        <p:nvSpPr>
          <p:cNvPr id="52" name="Text 42"/>
          <p:cNvSpPr/>
          <p:nvPr/>
        </p:nvSpPr>
        <p:spPr>
          <a:xfrm>
            <a:off x="9134856" y="5010912"/>
            <a:ext cx="2286000" cy="548640"/>
          </a:xfrm>
          <a:prstGeom prst="rect">
            <a:avLst/>
          </a:prstGeom>
          <a:noFill/>
          <a:ln/>
        </p:spPr>
        <p:txBody>
          <a:bodyPr wrap="square" lIns="0" tIns="0" rIns="0" bIns="0" rtlCol="0" anchor="ctr"/>
          <a:lstStyle/>
          <a:p>
            <a:pPr indent="0" marL="0">
              <a:lnSpc>
                <a:spcPct val="105000"/>
              </a:lnSpc>
              <a:buNone/>
            </a:pPr>
            <a:r>
              <a:rPr lang="en-US" sz="1150" dirty="0">
                <a:solidFill>
                  <a:srgbClr val="3C4A63"/>
                </a:solidFill>
                <a:latin typeface="Calibri" pitchFamily="34" charset="0"/>
                <a:ea typeface="Calibri" pitchFamily="34" charset="-122"/>
                <a:cs typeface="Calibri" pitchFamily="34" charset="-120"/>
              </a:rPr>
              <a:t>A simple routine you start tomorrow</a:t>
            </a:r>
            <a:endParaRPr lang="en-US" sz="1150" dirty="0"/>
          </a:p>
        </p:txBody>
      </p:sp>
      <p:sp>
        <p:nvSpPr>
          <p:cNvPr id="54" name="Text 43"/>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55" name="Text 44"/>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C8C8C"/>
          </a:solidFill>
          <a:ln/>
        </p:spPr>
      </p:sp>
      <p:sp>
        <p:nvSpPr>
          <p:cNvPr id="3" name="Text 1"/>
          <p:cNvSpPr/>
          <p:nvPr/>
        </p:nvSpPr>
        <p:spPr>
          <a:xfrm>
            <a:off x="822960" y="640080"/>
            <a:ext cx="7315200" cy="320040"/>
          </a:xfrm>
          <a:prstGeom prst="rect">
            <a:avLst/>
          </a:prstGeom>
          <a:noFill/>
          <a:ln/>
        </p:spPr>
        <p:txBody>
          <a:bodyPr wrap="square" lIns="0" tIns="0" rIns="0" bIns="0" rtlCol="0" anchor="ctr"/>
          <a:lstStyle/>
          <a:p>
            <a:pPr indent="0" marL="0">
              <a:buNone/>
            </a:pPr>
            <a:r>
              <a:rPr lang="en-US" sz="1300" b="1" spc="200" kern="0" dirty="0">
                <a:solidFill>
                  <a:srgbClr val="5FB3B3"/>
                </a:solidFill>
                <a:latin typeface="Calibri" pitchFamily="34" charset="0"/>
                <a:ea typeface="Calibri" pitchFamily="34" charset="-122"/>
                <a:cs typeface="Calibri" pitchFamily="34" charset="-120"/>
              </a:rPr>
              <a:t>THE BIG IDEA</a:t>
            </a:r>
            <a:endParaRPr lang="en-US" sz="1300" dirty="0"/>
          </a:p>
        </p:txBody>
      </p:sp>
      <p:sp>
        <p:nvSpPr>
          <p:cNvPr id="4" name="Text 2"/>
          <p:cNvSpPr/>
          <p:nvPr/>
        </p:nvSpPr>
        <p:spPr>
          <a:xfrm>
            <a:off x="777240" y="960120"/>
            <a:ext cx="10607040" cy="118872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Georgia" pitchFamily="34" charset="0"/>
                <a:ea typeface="Georgia" pitchFamily="34" charset="-122"/>
                <a:cs typeface="Georgia" pitchFamily="34" charset="-120"/>
              </a:rPr>
              <a:t>Claude is a fast, tireless drafting partner that sits next to your Microsoft 365 apps</a:t>
            </a:r>
            <a:endParaRPr lang="en-US" sz="3000" dirty="0"/>
          </a:p>
        </p:txBody>
      </p:sp>
      <p:sp>
        <p:nvSpPr>
          <p:cNvPr id="5" name="Shape 3"/>
          <p:cNvSpPr/>
          <p:nvPr/>
        </p:nvSpPr>
        <p:spPr>
          <a:xfrm>
            <a:off x="777240" y="2606040"/>
            <a:ext cx="3520440" cy="3108960"/>
          </a:xfrm>
          <a:prstGeom prst="roundRect">
            <a:avLst>
              <a:gd name="adj" fmla="val 2353"/>
            </a:avLst>
          </a:prstGeom>
          <a:solidFill>
            <a:srgbClr val="24385F"/>
          </a:solidFill>
          <a:ln w="12700">
            <a:solidFill>
              <a:srgbClr val="33476B"/>
            </a:solidFill>
            <a:prstDash val="solid"/>
          </a:ln>
        </p:spPr>
      </p:sp>
      <p:sp>
        <p:nvSpPr>
          <p:cNvPr id="6" name="Shape 4"/>
          <p:cNvSpPr/>
          <p:nvPr/>
        </p:nvSpPr>
        <p:spPr>
          <a:xfrm>
            <a:off x="1143000" y="2971800"/>
            <a:ext cx="868680" cy="86868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344168" y="3172968"/>
            <a:ext cx="466344" cy="466344"/>
          </a:xfrm>
          <a:prstGeom prst="rect">
            <a:avLst/>
          </a:prstGeom>
        </p:spPr>
      </p:pic>
      <p:sp>
        <p:nvSpPr>
          <p:cNvPr id="8" name="Text 5"/>
          <p:cNvSpPr/>
          <p:nvPr/>
        </p:nvSpPr>
        <p:spPr>
          <a:xfrm>
            <a:off x="1143000" y="4023360"/>
            <a:ext cx="2788920" cy="6400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You bring the judgment</a:t>
            </a:r>
            <a:endParaRPr lang="en-US" sz="1900" dirty="0"/>
          </a:p>
        </p:txBody>
      </p:sp>
      <p:sp>
        <p:nvSpPr>
          <p:cNvPr id="9" name="Text 6"/>
          <p:cNvSpPr/>
          <p:nvPr/>
        </p:nvSpPr>
        <p:spPr>
          <a:xfrm>
            <a:off x="1143000" y="4663440"/>
            <a:ext cx="2788920" cy="914400"/>
          </a:xfrm>
          <a:prstGeom prst="rect">
            <a:avLst/>
          </a:prstGeom>
          <a:noFill/>
          <a:ln/>
        </p:spPr>
        <p:txBody>
          <a:bodyPr wrap="square" lIns="0" tIns="0" rIns="0" bIns="0" rtlCol="0" anchor="ctr"/>
          <a:lstStyle/>
          <a:p>
            <a:pPr indent="0" marL="0">
              <a:lnSpc>
                <a:spcPct val="112000"/>
              </a:lnSpc>
              <a:buNone/>
            </a:pPr>
            <a:r>
              <a:rPr lang="en-US" sz="1400" dirty="0">
                <a:solidFill>
                  <a:srgbClr val="C7D2E2"/>
                </a:solidFill>
                <a:latin typeface="Calibri" pitchFamily="34" charset="0"/>
                <a:ea typeface="Calibri" pitchFamily="34" charset="-122"/>
                <a:cs typeface="Calibri" pitchFamily="34" charset="-120"/>
              </a:rPr>
              <a:t>You decide what matters, what's sensitive, and what's good enough to send.</a:t>
            </a:r>
            <a:endParaRPr lang="en-US" sz="1400" dirty="0"/>
          </a:p>
        </p:txBody>
      </p:sp>
      <p:sp>
        <p:nvSpPr>
          <p:cNvPr id="10" name="Shape 7"/>
          <p:cNvSpPr/>
          <p:nvPr/>
        </p:nvSpPr>
        <p:spPr>
          <a:xfrm>
            <a:off x="4526280" y="2606040"/>
            <a:ext cx="3520440" cy="3108960"/>
          </a:xfrm>
          <a:prstGeom prst="roundRect">
            <a:avLst>
              <a:gd name="adj" fmla="val 2353"/>
            </a:avLst>
          </a:prstGeom>
          <a:solidFill>
            <a:srgbClr val="24385F"/>
          </a:solidFill>
          <a:ln w="12700">
            <a:solidFill>
              <a:srgbClr val="33476B"/>
            </a:solidFill>
            <a:prstDash val="solid"/>
          </a:ln>
        </p:spPr>
      </p:sp>
      <p:sp>
        <p:nvSpPr>
          <p:cNvPr id="11" name="Shape 8"/>
          <p:cNvSpPr/>
          <p:nvPr/>
        </p:nvSpPr>
        <p:spPr>
          <a:xfrm>
            <a:off x="4892040" y="2971800"/>
            <a:ext cx="868680" cy="868680"/>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5093208" y="3172968"/>
            <a:ext cx="466344" cy="466344"/>
          </a:xfrm>
          <a:prstGeom prst="rect">
            <a:avLst/>
          </a:prstGeom>
        </p:spPr>
      </p:pic>
      <p:sp>
        <p:nvSpPr>
          <p:cNvPr id="13" name="Text 9"/>
          <p:cNvSpPr/>
          <p:nvPr/>
        </p:nvSpPr>
        <p:spPr>
          <a:xfrm>
            <a:off x="4892040" y="4023360"/>
            <a:ext cx="2788920" cy="6400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Claude brings the speed</a:t>
            </a:r>
            <a:endParaRPr lang="en-US" sz="1900" dirty="0"/>
          </a:p>
        </p:txBody>
      </p:sp>
      <p:sp>
        <p:nvSpPr>
          <p:cNvPr id="14" name="Text 10"/>
          <p:cNvSpPr/>
          <p:nvPr/>
        </p:nvSpPr>
        <p:spPr>
          <a:xfrm>
            <a:off x="4892040" y="4663440"/>
            <a:ext cx="2788920" cy="914400"/>
          </a:xfrm>
          <a:prstGeom prst="rect">
            <a:avLst/>
          </a:prstGeom>
          <a:noFill/>
          <a:ln/>
        </p:spPr>
        <p:txBody>
          <a:bodyPr wrap="square" lIns="0" tIns="0" rIns="0" bIns="0" rtlCol="0" anchor="ctr"/>
          <a:lstStyle/>
          <a:p>
            <a:pPr indent="0" marL="0">
              <a:lnSpc>
                <a:spcPct val="112000"/>
              </a:lnSpc>
              <a:buNone/>
            </a:pPr>
            <a:r>
              <a:rPr lang="en-US" sz="1400" dirty="0">
                <a:solidFill>
                  <a:srgbClr val="C7D2E2"/>
                </a:solidFill>
                <a:latin typeface="Calibri" pitchFamily="34" charset="0"/>
                <a:ea typeface="Calibri" pitchFamily="34" charset="-122"/>
                <a:cs typeface="Calibri" pitchFamily="34" charset="-120"/>
              </a:rPr>
              <a:t>First drafts, summaries, reformatting and formula logic in seconds, not minutes.</a:t>
            </a:r>
            <a:endParaRPr lang="en-US" sz="1400" dirty="0"/>
          </a:p>
        </p:txBody>
      </p:sp>
      <p:sp>
        <p:nvSpPr>
          <p:cNvPr id="15" name="Shape 11"/>
          <p:cNvSpPr/>
          <p:nvPr/>
        </p:nvSpPr>
        <p:spPr>
          <a:xfrm>
            <a:off x="8275320" y="2606040"/>
            <a:ext cx="3520440" cy="3108960"/>
          </a:xfrm>
          <a:prstGeom prst="roundRect">
            <a:avLst>
              <a:gd name="adj" fmla="val 2353"/>
            </a:avLst>
          </a:prstGeom>
          <a:solidFill>
            <a:srgbClr val="24385F"/>
          </a:solidFill>
          <a:ln w="12700">
            <a:solidFill>
              <a:srgbClr val="33476B"/>
            </a:solidFill>
            <a:prstDash val="solid"/>
          </a:ln>
        </p:spPr>
      </p:sp>
      <p:sp>
        <p:nvSpPr>
          <p:cNvPr id="16" name="Shape 12"/>
          <p:cNvSpPr/>
          <p:nvPr/>
        </p:nvSpPr>
        <p:spPr>
          <a:xfrm>
            <a:off x="8641080" y="2971800"/>
            <a:ext cx="868680" cy="868680"/>
          </a:xfrm>
          <a:prstGeom prst="ellipse">
            <a:avLst/>
          </a:prstGeom>
          <a:solidFill>
            <a:srgbClr val="E8A33D"/>
          </a:solidFill>
          <a:ln/>
        </p:spPr>
      </p:sp>
      <p:pic>
        <p:nvPicPr>
          <p:cNvPr id="17" name="Image 2" descr="preencoded.png">    </p:cNvPr>
          <p:cNvPicPr>
            <a:picLocks noChangeAspect="1"/>
          </p:cNvPicPr>
          <p:nvPr/>
        </p:nvPicPr>
        <p:blipFill>
          <a:blip r:embed="rId3"/>
          <a:stretch>
            <a:fillRect/>
          </a:stretch>
        </p:blipFill>
        <p:spPr>
          <a:xfrm>
            <a:off x="8842248" y="3172968"/>
            <a:ext cx="466344" cy="466344"/>
          </a:xfrm>
          <a:prstGeom prst="rect">
            <a:avLst/>
          </a:prstGeom>
        </p:spPr>
      </p:pic>
      <p:sp>
        <p:nvSpPr>
          <p:cNvPr id="18" name="Text 13"/>
          <p:cNvSpPr/>
          <p:nvPr/>
        </p:nvSpPr>
        <p:spPr>
          <a:xfrm>
            <a:off x="8641080" y="4023360"/>
            <a:ext cx="2788920" cy="6400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You stay in your apps</a:t>
            </a:r>
            <a:endParaRPr lang="en-US" sz="1900" dirty="0"/>
          </a:p>
        </p:txBody>
      </p:sp>
      <p:sp>
        <p:nvSpPr>
          <p:cNvPr id="19" name="Text 14"/>
          <p:cNvSpPr/>
          <p:nvPr/>
        </p:nvSpPr>
        <p:spPr>
          <a:xfrm>
            <a:off x="8641080" y="4663440"/>
            <a:ext cx="2788920" cy="914400"/>
          </a:xfrm>
          <a:prstGeom prst="rect">
            <a:avLst/>
          </a:prstGeom>
          <a:noFill/>
          <a:ln/>
        </p:spPr>
        <p:txBody>
          <a:bodyPr wrap="square" lIns="0" tIns="0" rIns="0" bIns="0" rtlCol="0" anchor="ctr"/>
          <a:lstStyle/>
          <a:p>
            <a:pPr indent="0" marL="0">
              <a:lnSpc>
                <a:spcPct val="112000"/>
              </a:lnSpc>
              <a:buNone/>
            </a:pPr>
            <a:r>
              <a:rPr lang="en-US" sz="1400" dirty="0">
                <a:solidFill>
                  <a:srgbClr val="C7D2E2"/>
                </a:solidFill>
                <a:latin typeface="Calibri" pitchFamily="34" charset="0"/>
                <a:ea typeface="Calibri" pitchFamily="34" charset="-122"/>
                <a:cs typeface="Calibri" pitchFamily="34" charset="-120"/>
              </a:rPr>
              <a:t>Paste in, get output back, drop it into Word, Excel, PowerPoint or Outlook.</a:t>
            </a:r>
            <a:endParaRPr lang="en-US" sz="1400" dirty="0"/>
          </a:p>
        </p:txBody>
      </p:sp>
      <p:sp>
        <p:nvSpPr>
          <p:cNvPr id="21" name="Text 15"/>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2" name="Text 16"/>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HOW IT WORKS</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The copy-and-paste loop: that's the whole trick</a:t>
            </a:r>
            <a:endParaRPr lang="en-US" sz="3000" dirty="0"/>
          </a:p>
        </p:txBody>
      </p:sp>
      <p:sp>
        <p:nvSpPr>
          <p:cNvPr id="5" name="Shape 3"/>
          <p:cNvSpPr/>
          <p:nvPr/>
        </p:nvSpPr>
        <p:spPr>
          <a:xfrm>
            <a:off x="457200" y="1783080"/>
            <a:ext cx="260604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1303020" y="2075688"/>
            <a:ext cx="914400" cy="914400"/>
          </a:xfrm>
          <a:prstGeom prst="ellipse">
            <a:avLst/>
          </a:prstGeom>
          <a:solidFill>
            <a:srgbClr val="1B2A4A"/>
          </a:solidFill>
          <a:ln/>
        </p:spPr>
      </p:sp>
      <p:pic>
        <p:nvPicPr>
          <p:cNvPr id="7" name="Image 0" descr="preencoded.png">    </p:cNvPr>
          <p:cNvPicPr>
            <a:picLocks noChangeAspect="1"/>
          </p:cNvPicPr>
          <p:nvPr/>
        </p:nvPicPr>
        <p:blipFill>
          <a:blip r:embed="rId1"/>
          <a:stretch>
            <a:fillRect/>
          </a:stretch>
        </p:blipFill>
        <p:spPr>
          <a:xfrm>
            <a:off x="1504188" y="2276856"/>
            <a:ext cx="512064" cy="512064"/>
          </a:xfrm>
          <a:prstGeom prst="rect">
            <a:avLst/>
          </a:prstGeom>
        </p:spPr>
      </p:pic>
      <p:sp>
        <p:nvSpPr>
          <p:cNvPr id="8" name="Text 5"/>
          <p:cNvSpPr/>
          <p:nvPr/>
        </p:nvSpPr>
        <p:spPr>
          <a:xfrm>
            <a:off x="640080" y="3108960"/>
            <a:ext cx="2240280" cy="365760"/>
          </a:xfrm>
          <a:prstGeom prst="rect">
            <a:avLst/>
          </a:prstGeom>
          <a:noFill/>
          <a:ln/>
        </p:spPr>
        <p:txBody>
          <a:bodyPr wrap="square" lIns="0" tIns="0" rIns="0" bIns="0" rtlCol="0" anchor="ctr"/>
          <a:lstStyle/>
          <a:p>
            <a:pPr algn="ctr" indent="0" marL="0">
              <a:buNone/>
            </a:pPr>
            <a:r>
              <a:rPr lang="en-US" sz="1700" b="1" dirty="0">
                <a:solidFill>
                  <a:srgbClr val="1B2A4A"/>
                </a:solidFill>
                <a:latin typeface="Georgia" pitchFamily="34" charset="0"/>
                <a:ea typeface="Georgia" pitchFamily="34" charset="-122"/>
                <a:cs typeface="Georgia" pitchFamily="34" charset="-120"/>
              </a:rPr>
              <a:t>1 · Copy</a:t>
            </a:r>
            <a:endParaRPr lang="en-US" sz="1700" dirty="0"/>
          </a:p>
        </p:txBody>
      </p:sp>
      <p:sp>
        <p:nvSpPr>
          <p:cNvPr id="9" name="Text 6"/>
          <p:cNvSpPr/>
          <p:nvPr/>
        </p:nvSpPr>
        <p:spPr>
          <a:xfrm>
            <a:off x="640080" y="3502152"/>
            <a:ext cx="2240280" cy="685800"/>
          </a:xfrm>
          <a:prstGeom prst="rect">
            <a:avLst/>
          </a:prstGeom>
          <a:noFill/>
          <a:ln/>
        </p:spPr>
        <p:txBody>
          <a:bodyPr wrap="square" lIns="0" tIns="0" rIns="0" bIns="0" rtlCol="0" anchor="ctr"/>
          <a:lstStyle/>
          <a:p>
            <a:pPr algn="ctr" indent="0" marL="0">
              <a:lnSpc>
                <a:spcPct val="108000"/>
              </a:lnSpc>
              <a:buNone/>
            </a:pPr>
            <a:r>
              <a:rPr lang="en-US" sz="1200" dirty="0">
                <a:solidFill>
                  <a:srgbClr val="3C4A63"/>
                </a:solidFill>
                <a:latin typeface="Calibri" pitchFamily="34" charset="0"/>
                <a:ea typeface="Calibri" pitchFamily="34" charset="-122"/>
                <a:cs typeface="Calibri" pitchFamily="34" charset="-120"/>
              </a:rPr>
              <a:t>Grab the email, notes, data or document you're working on.</a:t>
            </a:r>
            <a:endParaRPr lang="en-US" sz="1200" dirty="0"/>
          </a:p>
        </p:txBody>
      </p:sp>
      <p:sp>
        <p:nvSpPr>
          <p:cNvPr id="10" name="Text 7"/>
          <p:cNvSpPr/>
          <p:nvPr/>
        </p:nvSpPr>
        <p:spPr>
          <a:xfrm>
            <a:off x="3044952" y="2606040"/>
            <a:ext cx="365760" cy="457200"/>
          </a:xfrm>
          <a:prstGeom prst="rect">
            <a:avLst/>
          </a:prstGeom>
          <a:noFill/>
          <a:ln/>
        </p:spPr>
        <p:txBody>
          <a:bodyPr wrap="square" lIns="0" tIns="0" rIns="0" bIns="0" rtlCol="0" anchor="ctr"/>
          <a:lstStyle/>
          <a:p>
            <a:pPr algn="ctr" indent="0" marL="0">
              <a:buNone/>
            </a:pPr>
            <a:r>
              <a:rPr lang="en-US" sz="2600" b="1" dirty="0">
                <a:solidFill>
                  <a:srgbClr val="E8A33D"/>
                </a:solidFill>
                <a:latin typeface="Calibri" pitchFamily="34" charset="0"/>
                <a:ea typeface="Calibri" pitchFamily="34" charset="-122"/>
                <a:cs typeface="Calibri" pitchFamily="34" charset="-120"/>
              </a:rPr>
              <a:t>→</a:t>
            </a:r>
            <a:endParaRPr lang="en-US" sz="2600" dirty="0"/>
          </a:p>
        </p:txBody>
      </p:sp>
      <p:sp>
        <p:nvSpPr>
          <p:cNvPr id="11" name="Shape 8"/>
          <p:cNvSpPr/>
          <p:nvPr/>
        </p:nvSpPr>
        <p:spPr>
          <a:xfrm>
            <a:off x="3364992" y="1783080"/>
            <a:ext cx="260604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Shape 9"/>
          <p:cNvSpPr/>
          <p:nvPr/>
        </p:nvSpPr>
        <p:spPr>
          <a:xfrm>
            <a:off x="4210812" y="2075688"/>
            <a:ext cx="914400" cy="914400"/>
          </a:xfrm>
          <a:prstGeom prst="ellipse">
            <a:avLst/>
          </a:prstGeom>
          <a:solidFill>
            <a:srgbClr val="2C8C8C"/>
          </a:solidFill>
          <a:ln/>
        </p:spPr>
      </p:sp>
      <p:pic>
        <p:nvPicPr>
          <p:cNvPr id="13" name="Image 1" descr="preencoded.png">    </p:cNvPr>
          <p:cNvPicPr>
            <a:picLocks noChangeAspect="1"/>
          </p:cNvPicPr>
          <p:nvPr/>
        </p:nvPicPr>
        <p:blipFill>
          <a:blip r:embed="rId2"/>
          <a:stretch>
            <a:fillRect/>
          </a:stretch>
        </p:blipFill>
        <p:spPr>
          <a:xfrm>
            <a:off x="4411980" y="2276856"/>
            <a:ext cx="512064" cy="512064"/>
          </a:xfrm>
          <a:prstGeom prst="rect">
            <a:avLst/>
          </a:prstGeom>
        </p:spPr>
      </p:pic>
      <p:sp>
        <p:nvSpPr>
          <p:cNvPr id="14" name="Text 10"/>
          <p:cNvSpPr/>
          <p:nvPr/>
        </p:nvSpPr>
        <p:spPr>
          <a:xfrm>
            <a:off x="3547872" y="3108960"/>
            <a:ext cx="2240280" cy="365760"/>
          </a:xfrm>
          <a:prstGeom prst="rect">
            <a:avLst/>
          </a:prstGeom>
          <a:noFill/>
          <a:ln/>
        </p:spPr>
        <p:txBody>
          <a:bodyPr wrap="square" lIns="0" tIns="0" rIns="0" bIns="0" rtlCol="0" anchor="ctr"/>
          <a:lstStyle/>
          <a:p>
            <a:pPr algn="ctr" indent="0" marL="0">
              <a:buNone/>
            </a:pPr>
            <a:r>
              <a:rPr lang="en-US" sz="1700" b="1" dirty="0">
                <a:solidFill>
                  <a:srgbClr val="1B2A4A"/>
                </a:solidFill>
                <a:latin typeface="Georgia" pitchFamily="34" charset="0"/>
                <a:ea typeface="Georgia" pitchFamily="34" charset="-122"/>
                <a:cs typeface="Georgia" pitchFamily="34" charset="-120"/>
              </a:rPr>
              <a:t>2 · Ask</a:t>
            </a:r>
            <a:endParaRPr lang="en-US" sz="1700" dirty="0"/>
          </a:p>
        </p:txBody>
      </p:sp>
      <p:sp>
        <p:nvSpPr>
          <p:cNvPr id="15" name="Text 11"/>
          <p:cNvSpPr/>
          <p:nvPr/>
        </p:nvSpPr>
        <p:spPr>
          <a:xfrm>
            <a:off x="3547872" y="3502152"/>
            <a:ext cx="2240280" cy="685800"/>
          </a:xfrm>
          <a:prstGeom prst="rect">
            <a:avLst/>
          </a:prstGeom>
          <a:noFill/>
          <a:ln/>
        </p:spPr>
        <p:txBody>
          <a:bodyPr wrap="square" lIns="0" tIns="0" rIns="0" bIns="0" rtlCol="0" anchor="ctr"/>
          <a:lstStyle/>
          <a:p>
            <a:pPr algn="ctr" indent="0" marL="0">
              <a:lnSpc>
                <a:spcPct val="108000"/>
              </a:lnSpc>
              <a:buNone/>
            </a:pPr>
            <a:r>
              <a:rPr lang="en-US" sz="1200" dirty="0">
                <a:solidFill>
                  <a:srgbClr val="3C4A63"/>
                </a:solidFill>
                <a:latin typeface="Calibri" pitchFamily="34" charset="0"/>
                <a:ea typeface="Calibri" pitchFamily="34" charset="-122"/>
                <a:cs typeface="Calibri" pitchFamily="34" charset="-120"/>
              </a:rPr>
              <a:t>Paste it into Claude with a clear instruction of what you want.</a:t>
            </a:r>
            <a:endParaRPr lang="en-US" sz="1200" dirty="0"/>
          </a:p>
        </p:txBody>
      </p:sp>
      <p:sp>
        <p:nvSpPr>
          <p:cNvPr id="16" name="Text 12"/>
          <p:cNvSpPr/>
          <p:nvPr/>
        </p:nvSpPr>
        <p:spPr>
          <a:xfrm>
            <a:off x="5952744" y="2606040"/>
            <a:ext cx="365760" cy="457200"/>
          </a:xfrm>
          <a:prstGeom prst="rect">
            <a:avLst/>
          </a:prstGeom>
          <a:noFill/>
          <a:ln/>
        </p:spPr>
        <p:txBody>
          <a:bodyPr wrap="square" lIns="0" tIns="0" rIns="0" bIns="0" rtlCol="0" anchor="ctr"/>
          <a:lstStyle/>
          <a:p>
            <a:pPr algn="ctr" indent="0" marL="0">
              <a:buNone/>
            </a:pPr>
            <a:r>
              <a:rPr lang="en-US" sz="2600" b="1" dirty="0">
                <a:solidFill>
                  <a:srgbClr val="E8A33D"/>
                </a:solidFill>
                <a:latin typeface="Calibri" pitchFamily="34" charset="0"/>
                <a:ea typeface="Calibri" pitchFamily="34" charset="-122"/>
                <a:cs typeface="Calibri" pitchFamily="34" charset="-120"/>
              </a:rPr>
              <a:t>→</a:t>
            </a:r>
            <a:endParaRPr lang="en-US" sz="2600" dirty="0"/>
          </a:p>
        </p:txBody>
      </p:sp>
      <p:sp>
        <p:nvSpPr>
          <p:cNvPr id="17" name="Shape 13"/>
          <p:cNvSpPr/>
          <p:nvPr/>
        </p:nvSpPr>
        <p:spPr>
          <a:xfrm>
            <a:off x="6272784" y="1783080"/>
            <a:ext cx="260604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8" name="Shape 14"/>
          <p:cNvSpPr/>
          <p:nvPr/>
        </p:nvSpPr>
        <p:spPr>
          <a:xfrm>
            <a:off x="7118604" y="2075688"/>
            <a:ext cx="914400" cy="914400"/>
          </a:xfrm>
          <a:prstGeom prst="ellipse">
            <a:avLst/>
          </a:prstGeom>
          <a:solidFill>
            <a:srgbClr val="1B2A4A"/>
          </a:solidFill>
          <a:ln/>
        </p:spPr>
      </p:sp>
      <p:pic>
        <p:nvPicPr>
          <p:cNvPr id="19" name="Image 2" descr="preencoded.png">    </p:cNvPr>
          <p:cNvPicPr>
            <a:picLocks noChangeAspect="1"/>
          </p:cNvPicPr>
          <p:nvPr/>
        </p:nvPicPr>
        <p:blipFill>
          <a:blip r:embed="rId3"/>
          <a:stretch>
            <a:fillRect/>
          </a:stretch>
        </p:blipFill>
        <p:spPr>
          <a:xfrm>
            <a:off x="7319772" y="2276856"/>
            <a:ext cx="512064" cy="512064"/>
          </a:xfrm>
          <a:prstGeom prst="rect">
            <a:avLst/>
          </a:prstGeom>
        </p:spPr>
      </p:pic>
      <p:sp>
        <p:nvSpPr>
          <p:cNvPr id="20" name="Text 15"/>
          <p:cNvSpPr/>
          <p:nvPr/>
        </p:nvSpPr>
        <p:spPr>
          <a:xfrm>
            <a:off x="6455664" y="3108960"/>
            <a:ext cx="2240280" cy="365760"/>
          </a:xfrm>
          <a:prstGeom prst="rect">
            <a:avLst/>
          </a:prstGeom>
          <a:noFill/>
          <a:ln/>
        </p:spPr>
        <p:txBody>
          <a:bodyPr wrap="square" lIns="0" tIns="0" rIns="0" bIns="0" rtlCol="0" anchor="ctr"/>
          <a:lstStyle/>
          <a:p>
            <a:pPr algn="ctr" indent="0" marL="0">
              <a:buNone/>
            </a:pPr>
            <a:r>
              <a:rPr lang="en-US" sz="1700" b="1" dirty="0">
                <a:solidFill>
                  <a:srgbClr val="1B2A4A"/>
                </a:solidFill>
                <a:latin typeface="Georgia" pitchFamily="34" charset="0"/>
                <a:ea typeface="Georgia" pitchFamily="34" charset="-122"/>
                <a:cs typeface="Georgia" pitchFamily="34" charset="-120"/>
              </a:rPr>
              <a:t>3 · Review</a:t>
            </a:r>
            <a:endParaRPr lang="en-US" sz="1700" dirty="0"/>
          </a:p>
        </p:txBody>
      </p:sp>
      <p:sp>
        <p:nvSpPr>
          <p:cNvPr id="21" name="Text 16"/>
          <p:cNvSpPr/>
          <p:nvPr/>
        </p:nvSpPr>
        <p:spPr>
          <a:xfrm>
            <a:off x="6455664" y="3502152"/>
            <a:ext cx="2240280" cy="685800"/>
          </a:xfrm>
          <a:prstGeom prst="rect">
            <a:avLst/>
          </a:prstGeom>
          <a:noFill/>
          <a:ln/>
        </p:spPr>
        <p:txBody>
          <a:bodyPr wrap="square" lIns="0" tIns="0" rIns="0" bIns="0" rtlCol="0" anchor="ctr"/>
          <a:lstStyle/>
          <a:p>
            <a:pPr algn="ctr" indent="0" marL="0">
              <a:lnSpc>
                <a:spcPct val="108000"/>
              </a:lnSpc>
              <a:buNone/>
            </a:pPr>
            <a:r>
              <a:rPr lang="en-US" sz="1200" dirty="0">
                <a:solidFill>
                  <a:srgbClr val="3C4A63"/>
                </a:solidFill>
                <a:latin typeface="Calibri" pitchFamily="34" charset="0"/>
                <a:ea typeface="Calibri" pitchFamily="34" charset="-122"/>
                <a:cs typeface="Calibri" pitchFamily="34" charset="-120"/>
              </a:rPr>
              <a:t>Read what comes back. Refine with a follow-up if needed.</a:t>
            </a:r>
            <a:endParaRPr lang="en-US" sz="1200" dirty="0"/>
          </a:p>
        </p:txBody>
      </p:sp>
      <p:sp>
        <p:nvSpPr>
          <p:cNvPr id="22" name="Text 17"/>
          <p:cNvSpPr/>
          <p:nvPr/>
        </p:nvSpPr>
        <p:spPr>
          <a:xfrm>
            <a:off x="8860536" y="2606040"/>
            <a:ext cx="365760" cy="457200"/>
          </a:xfrm>
          <a:prstGeom prst="rect">
            <a:avLst/>
          </a:prstGeom>
          <a:noFill/>
          <a:ln/>
        </p:spPr>
        <p:txBody>
          <a:bodyPr wrap="square" lIns="0" tIns="0" rIns="0" bIns="0" rtlCol="0" anchor="ctr"/>
          <a:lstStyle/>
          <a:p>
            <a:pPr algn="ctr" indent="0" marL="0">
              <a:buNone/>
            </a:pPr>
            <a:r>
              <a:rPr lang="en-US" sz="2600" b="1" dirty="0">
                <a:solidFill>
                  <a:srgbClr val="E8A33D"/>
                </a:solidFill>
                <a:latin typeface="Calibri" pitchFamily="34" charset="0"/>
                <a:ea typeface="Calibri" pitchFamily="34" charset="-122"/>
                <a:cs typeface="Calibri" pitchFamily="34" charset="-120"/>
              </a:rPr>
              <a:t>→</a:t>
            </a:r>
            <a:endParaRPr lang="en-US" sz="2600" dirty="0"/>
          </a:p>
        </p:txBody>
      </p:sp>
      <p:sp>
        <p:nvSpPr>
          <p:cNvPr id="23" name="Shape 18"/>
          <p:cNvSpPr/>
          <p:nvPr/>
        </p:nvSpPr>
        <p:spPr>
          <a:xfrm>
            <a:off x="9180576" y="1783080"/>
            <a:ext cx="260604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24" name="Shape 19"/>
          <p:cNvSpPr/>
          <p:nvPr/>
        </p:nvSpPr>
        <p:spPr>
          <a:xfrm>
            <a:off x="10026396" y="2075688"/>
            <a:ext cx="914400" cy="914400"/>
          </a:xfrm>
          <a:prstGeom prst="ellipse">
            <a:avLst/>
          </a:prstGeom>
          <a:solidFill>
            <a:srgbClr val="2C8C8C"/>
          </a:solidFill>
          <a:ln/>
        </p:spPr>
      </p:sp>
      <p:pic>
        <p:nvPicPr>
          <p:cNvPr id="25" name="Image 3" descr="preencoded.png">    </p:cNvPr>
          <p:cNvPicPr>
            <a:picLocks noChangeAspect="1"/>
          </p:cNvPicPr>
          <p:nvPr/>
        </p:nvPicPr>
        <p:blipFill>
          <a:blip r:embed="rId4"/>
          <a:stretch>
            <a:fillRect/>
          </a:stretch>
        </p:blipFill>
        <p:spPr>
          <a:xfrm>
            <a:off x="10227564" y="2276856"/>
            <a:ext cx="512064" cy="512064"/>
          </a:xfrm>
          <a:prstGeom prst="rect">
            <a:avLst/>
          </a:prstGeom>
        </p:spPr>
      </p:pic>
      <p:sp>
        <p:nvSpPr>
          <p:cNvPr id="26" name="Text 20"/>
          <p:cNvSpPr/>
          <p:nvPr/>
        </p:nvSpPr>
        <p:spPr>
          <a:xfrm>
            <a:off x="9363456" y="3108960"/>
            <a:ext cx="2240280" cy="365760"/>
          </a:xfrm>
          <a:prstGeom prst="rect">
            <a:avLst/>
          </a:prstGeom>
          <a:noFill/>
          <a:ln/>
        </p:spPr>
        <p:txBody>
          <a:bodyPr wrap="square" lIns="0" tIns="0" rIns="0" bIns="0" rtlCol="0" anchor="ctr"/>
          <a:lstStyle/>
          <a:p>
            <a:pPr algn="ctr" indent="0" marL="0">
              <a:buNone/>
            </a:pPr>
            <a:r>
              <a:rPr lang="en-US" sz="1700" b="1" dirty="0">
                <a:solidFill>
                  <a:srgbClr val="1B2A4A"/>
                </a:solidFill>
                <a:latin typeface="Georgia" pitchFamily="34" charset="0"/>
                <a:ea typeface="Georgia" pitchFamily="34" charset="-122"/>
                <a:cs typeface="Georgia" pitchFamily="34" charset="-120"/>
              </a:rPr>
              <a:t>4 · Paste back</a:t>
            </a:r>
            <a:endParaRPr lang="en-US" sz="1700" dirty="0"/>
          </a:p>
        </p:txBody>
      </p:sp>
      <p:sp>
        <p:nvSpPr>
          <p:cNvPr id="27" name="Text 21"/>
          <p:cNvSpPr/>
          <p:nvPr/>
        </p:nvSpPr>
        <p:spPr>
          <a:xfrm>
            <a:off x="9363456" y="3502152"/>
            <a:ext cx="2240280" cy="685800"/>
          </a:xfrm>
          <a:prstGeom prst="rect">
            <a:avLst/>
          </a:prstGeom>
          <a:noFill/>
          <a:ln/>
        </p:spPr>
        <p:txBody>
          <a:bodyPr wrap="square" lIns="0" tIns="0" rIns="0" bIns="0" rtlCol="0" anchor="ctr"/>
          <a:lstStyle/>
          <a:p>
            <a:pPr algn="ctr" indent="0" marL="0">
              <a:lnSpc>
                <a:spcPct val="108000"/>
              </a:lnSpc>
              <a:buNone/>
            </a:pPr>
            <a:r>
              <a:rPr lang="en-US" sz="1200" dirty="0">
                <a:solidFill>
                  <a:srgbClr val="3C4A63"/>
                </a:solidFill>
                <a:latin typeface="Calibri" pitchFamily="34" charset="0"/>
                <a:ea typeface="Calibri" pitchFamily="34" charset="-122"/>
                <a:cs typeface="Calibri" pitchFamily="34" charset="-120"/>
              </a:rPr>
              <a:t>Drop the polished result into your M365 app and finish.</a:t>
            </a:r>
            <a:endParaRPr lang="en-US" sz="1200" dirty="0"/>
          </a:p>
        </p:txBody>
      </p:sp>
      <p:sp>
        <p:nvSpPr>
          <p:cNvPr id="28" name="Text 22"/>
          <p:cNvSpPr/>
          <p:nvPr/>
        </p:nvSpPr>
        <p:spPr>
          <a:xfrm>
            <a:off x="457200" y="4572000"/>
            <a:ext cx="6400800" cy="36576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Works the same way across all four apps:</a:t>
            </a:r>
            <a:endParaRPr lang="en-US" sz="1400" dirty="0"/>
          </a:p>
        </p:txBody>
      </p:sp>
      <p:sp>
        <p:nvSpPr>
          <p:cNvPr id="29" name="Shape 23"/>
          <p:cNvSpPr/>
          <p:nvPr/>
        </p:nvSpPr>
        <p:spPr>
          <a:xfrm>
            <a:off x="457200" y="5029200"/>
            <a:ext cx="2697480" cy="914400"/>
          </a:xfrm>
          <a:prstGeom prst="roundRect">
            <a:avLst>
              <a:gd name="adj" fmla="val 8000"/>
            </a:avLst>
          </a:prstGeom>
          <a:solidFill>
            <a:srgbClr val="1B2A4A"/>
          </a:solidFill>
          <a:ln/>
        </p:spPr>
      </p:sp>
      <p:pic>
        <p:nvPicPr>
          <p:cNvPr id="30" name="Image 4" descr="preencoded.png">    </p:cNvPr>
          <p:cNvPicPr>
            <a:picLocks noChangeAspect="1"/>
          </p:cNvPicPr>
          <p:nvPr/>
        </p:nvPicPr>
        <p:blipFill>
          <a:blip r:embed="rId5"/>
          <a:stretch>
            <a:fillRect/>
          </a:stretch>
        </p:blipFill>
        <p:spPr>
          <a:xfrm>
            <a:off x="777240" y="5285232"/>
            <a:ext cx="411480" cy="411480"/>
          </a:xfrm>
          <a:prstGeom prst="rect">
            <a:avLst/>
          </a:prstGeom>
        </p:spPr>
      </p:pic>
      <p:sp>
        <p:nvSpPr>
          <p:cNvPr id="31" name="Text 24"/>
          <p:cNvSpPr/>
          <p:nvPr/>
        </p:nvSpPr>
        <p:spPr>
          <a:xfrm>
            <a:off x="1325880" y="5212080"/>
            <a:ext cx="173736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Outlook</a:t>
            </a:r>
            <a:endParaRPr lang="en-US" sz="1700" dirty="0"/>
          </a:p>
        </p:txBody>
      </p:sp>
      <p:sp>
        <p:nvSpPr>
          <p:cNvPr id="32" name="Shape 25"/>
          <p:cNvSpPr/>
          <p:nvPr/>
        </p:nvSpPr>
        <p:spPr>
          <a:xfrm>
            <a:off x="3364992" y="5029200"/>
            <a:ext cx="2697480" cy="914400"/>
          </a:xfrm>
          <a:prstGeom prst="roundRect">
            <a:avLst>
              <a:gd name="adj" fmla="val 8000"/>
            </a:avLst>
          </a:prstGeom>
          <a:solidFill>
            <a:srgbClr val="1B2A4A"/>
          </a:solidFill>
          <a:ln/>
        </p:spPr>
      </p:sp>
      <p:pic>
        <p:nvPicPr>
          <p:cNvPr id="33" name="Image 5" descr="preencoded.png">    </p:cNvPr>
          <p:cNvPicPr>
            <a:picLocks noChangeAspect="1"/>
          </p:cNvPicPr>
          <p:nvPr/>
        </p:nvPicPr>
        <p:blipFill>
          <a:blip r:embed="rId6"/>
          <a:stretch>
            <a:fillRect/>
          </a:stretch>
        </p:blipFill>
        <p:spPr>
          <a:xfrm>
            <a:off x="3685032" y="5285232"/>
            <a:ext cx="411480" cy="411480"/>
          </a:xfrm>
          <a:prstGeom prst="rect">
            <a:avLst/>
          </a:prstGeom>
        </p:spPr>
      </p:pic>
      <p:sp>
        <p:nvSpPr>
          <p:cNvPr id="34" name="Text 26"/>
          <p:cNvSpPr/>
          <p:nvPr/>
        </p:nvSpPr>
        <p:spPr>
          <a:xfrm>
            <a:off x="4233672" y="5212080"/>
            <a:ext cx="173736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Word</a:t>
            </a:r>
            <a:endParaRPr lang="en-US" sz="1700" dirty="0"/>
          </a:p>
        </p:txBody>
      </p:sp>
      <p:sp>
        <p:nvSpPr>
          <p:cNvPr id="35" name="Shape 27"/>
          <p:cNvSpPr/>
          <p:nvPr/>
        </p:nvSpPr>
        <p:spPr>
          <a:xfrm>
            <a:off x="6272784" y="5029200"/>
            <a:ext cx="2697480" cy="914400"/>
          </a:xfrm>
          <a:prstGeom prst="roundRect">
            <a:avLst>
              <a:gd name="adj" fmla="val 8000"/>
            </a:avLst>
          </a:prstGeom>
          <a:solidFill>
            <a:srgbClr val="1B2A4A"/>
          </a:solidFill>
          <a:ln/>
        </p:spPr>
      </p:sp>
      <p:pic>
        <p:nvPicPr>
          <p:cNvPr id="36" name="Image 6" descr="preencoded.png">    </p:cNvPr>
          <p:cNvPicPr>
            <a:picLocks noChangeAspect="1"/>
          </p:cNvPicPr>
          <p:nvPr/>
        </p:nvPicPr>
        <p:blipFill>
          <a:blip r:embed="rId7"/>
          <a:stretch>
            <a:fillRect/>
          </a:stretch>
        </p:blipFill>
        <p:spPr>
          <a:xfrm>
            <a:off x="6592824" y="5285232"/>
            <a:ext cx="411480" cy="411480"/>
          </a:xfrm>
          <a:prstGeom prst="rect">
            <a:avLst/>
          </a:prstGeom>
        </p:spPr>
      </p:pic>
      <p:sp>
        <p:nvSpPr>
          <p:cNvPr id="37" name="Text 28"/>
          <p:cNvSpPr/>
          <p:nvPr/>
        </p:nvSpPr>
        <p:spPr>
          <a:xfrm>
            <a:off x="7141464" y="5212080"/>
            <a:ext cx="173736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Excel</a:t>
            </a:r>
            <a:endParaRPr lang="en-US" sz="1700" dirty="0"/>
          </a:p>
        </p:txBody>
      </p:sp>
      <p:sp>
        <p:nvSpPr>
          <p:cNvPr id="38" name="Shape 29"/>
          <p:cNvSpPr/>
          <p:nvPr/>
        </p:nvSpPr>
        <p:spPr>
          <a:xfrm>
            <a:off x="9180576" y="5029200"/>
            <a:ext cx="2697480" cy="914400"/>
          </a:xfrm>
          <a:prstGeom prst="roundRect">
            <a:avLst>
              <a:gd name="adj" fmla="val 8000"/>
            </a:avLst>
          </a:prstGeom>
          <a:solidFill>
            <a:srgbClr val="1B2A4A"/>
          </a:solidFill>
          <a:ln/>
        </p:spPr>
      </p:sp>
      <p:pic>
        <p:nvPicPr>
          <p:cNvPr id="39" name="Image 7" descr="preencoded.png">    </p:cNvPr>
          <p:cNvPicPr>
            <a:picLocks noChangeAspect="1"/>
          </p:cNvPicPr>
          <p:nvPr/>
        </p:nvPicPr>
        <p:blipFill>
          <a:blip r:embed="rId8"/>
          <a:stretch>
            <a:fillRect/>
          </a:stretch>
        </p:blipFill>
        <p:spPr>
          <a:xfrm>
            <a:off x="9500616" y="5285232"/>
            <a:ext cx="411480" cy="411480"/>
          </a:xfrm>
          <a:prstGeom prst="rect">
            <a:avLst/>
          </a:prstGeom>
        </p:spPr>
      </p:pic>
      <p:sp>
        <p:nvSpPr>
          <p:cNvPr id="40" name="Text 30"/>
          <p:cNvSpPr/>
          <p:nvPr/>
        </p:nvSpPr>
        <p:spPr>
          <a:xfrm>
            <a:off x="10049256" y="5212080"/>
            <a:ext cx="173736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PowerPoint</a:t>
            </a:r>
            <a:endParaRPr lang="en-US" sz="1700" dirty="0"/>
          </a:p>
        </p:txBody>
      </p:sp>
      <p:sp>
        <p:nvSpPr>
          <p:cNvPr id="42" name="Text 31"/>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43" name="Text 32"/>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SETUP</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Getting started takes about two minutes</a:t>
            </a:r>
            <a:endParaRPr lang="en-US" sz="3000" dirty="0"/>
          </a:p>
        </p:txBody>
      </p:sp>
      <p:sp>
        <p:nvSpPr>
          <p:cNvPr id="5" name="Shape 3"/>
          <p:cNvSpPr/>
          <p:nvPr/>
        </p:nvSpPr>
        <p:spPr>
          <a:xfrm>
            <a:off x="548640" y="1828800"/>
            <a:ext cx="713232" cy="713232"/>
          </a:xfrm>
          <a:prstGeom prst="ellipse">
            <a:avLst/>
          </a:prstGeom>
          <a:solidFill>
            <a:srgbClr val="E8A33D"/>
          </a:solidFill>
          <a:ln/>
        </p:spPr>
      </p:sp>
      <p:sp>
        <p:nvSpPr>
          <p:cNvPr id="6" name="Text 4"/>
          <p:cNvSpPr/>
          <p:nvPr/>
        </p:nvSpPr>
        <p:spPr>
          <a:xfrm>
            <a:off x="548640" y="1828800"/>
            <a:ext cx="713232" cy="713232"/>
          </a:xfrm>
          <a:prstGeom prst="rect">
            <a:avLst/>
          </a:prstGeom>
          <a:noFill/>
          <a:ln/>
        </p:spPr>
        <p:txBody>
          <a:bodyPr wrap="square" lIns="0" tIns="0" rIns="0" bIns="0" rtlCol="0" anchor="ctr"/>
          <a:lstStyle/>
          <a:p>
            <a:pPr algn="ctr" indent="0" marL="0">
              <a:buNone/>
            </a:pPr>
            <a:r>
              <a:rPr lang="en-US" sz="3000" b="1" dirty="0">
                <a:solidFill>
                  <a:srgbClr val="1B2A4A"/>
                </a:solidFill>
                <a:latin typeface="Georgia" pitchFamily="34" charset="0"/>
                <a:ea typeface="Georgia" pitchFamily="34" charset="-122"/>
                <a:cs typeface="Georgia" pitchFamily="34" charset="-120"/>
              </a:rPr>
              <a:t>1</a:t>
            </a:r>
            <a:endParaRPr lang="en-US" sz="3000" dirty="0"/>
          </a:p>
        </p:txBody>
      </p:sp>
      <p:sp>
        <p:nvSpPr>
          <p:cNvPr id="7" name="Text 5"/>
          <p:cNvSpPr/>
          <p:nvPr/>
        </p:nvSpPr>
        <p:spPr>
          <a:xfrm>
            <a:off x="1463040" y="1783080"/>
            <a:ext cx="4572000" cy="457200"/>
          </a:xfrm>
          <a:prstGeom prst="rect">
            <a:avLst/>
          </a:prstGeom>
          <a:noFill/>
          <a:ln/>
        </p:spPr>
        <p:txBody>
          <a:bodyPr wrap="square" lIns="0" tIns="0" rIns="0" bIns="0" rtlCol="0" anchor="ctr"/>
          <a:lstStyle/>
          <a:p>
            <a:pPr indent="0" marL="0">
              <a:buNone/>
            </a:pPr>
            <a:r>
              <a:rPr lang="en-US" sz="1900" b="1" dirty="0">
                <a:solidFill>
                  <a:srgbClr val="1B2A4A"/>
                </a:solidFill>
                <a:latin typeface="Georgia" pitchFamily="34" charset="0"/>
                <a:ea typeface="Georgia" pitchFamily="34" charset="-122"/>
                <a:cs typeface="Georgia" pitchFamily="34" charset="-120"/>
              </a:rPr>
              <a:t>Go to claude.ai</a:t>
            </a:r>
            <a:endParaRPr lang="en-US" sz="1900" dirty="0"/>
          </a:p>
        </p:txBody>
      </p:sp>
      <p:sp>
        <p:nvSpPr>
          <p:cNvPr id="8" name="Text 6"/>
          <p:cNvSpPr/>
          <p:nvPr/>
        </p:nvSpPr>
        <p:spPr>
          <a:xfrm>
            <a:off x="1463040" y="2203704"/>
            <a:ext cx="4937760" cy="54864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Open it in any browser, or get the free desktop / mobile app. Nothing to install for the web version.</a:t>
            </a:r>
            <a:endParaRPr lang="en-US" sz="1250" dirty="0"/>
          </a:p>
        </p:txBody>
      </p:sp>
      <p:sp>
        <p:nvSpPr>
          <p:cNvPr id="9" name="Shape 7"/>
          <p:cNvSpPr/>
          <p:nvPr/>
        </p:nvSpPr>
        <p:spPr>
          <a:xfrm>
            <a:off x="548640" y="2898648"/>
            <a:ext cx="713232" cy="713232"/>
          </a:xfrm>
          <a:prstGeom prst="ellipse">
            <a:avLst/>
          </a:prstGeom>
          <a:solidFill>
            <a:srgbClr val="E8A33D"/>
          </a:solidFill>
          <a:ln/>
        </p:spPr>
      </p:sp>
      <p:sp>
        <p:nvSpPr>
          <p:cNvPr id="10" name="Text 8"/>
          <p:cNvSpPr/>
          <p:nvPr/>
        </p:nvSpPr>
        <p:spPr>
          <a:xfrm>
            <a:off x="548640" y="2898648"/>
            <a:ext cx="713232" cy="713232"/>
          </a:xfrm>
          <a:prstGeom prst="rect">
            <a:avLst/>
          </a:prstGeom>
          <a:noFill/>
          <a:ln/>
        </p:spPr>
        <p:txBody>
          <a:bodyPr wrap="square" lIns="0" tIns="0" rIns="0" bIns="0" rtlCol="0" anchor="ctr"/>
          <a:lstStyle/>
          <a:p>
            <a:pPr algn="ctr" indent="0" marL="0">
              <a:buNone/>
            </a:pPr>
            <a:r>
              <a:rPr lang="en-US" sz="3000" b="1" dirty="0">
                <a:solidFill>
                  <a:srgbClr val="1B2A4A"/>
                </a:solidFill>
                <a:latin typeface="Georgia" pitchFamily="34" charset="0"/>
                <a:ea typeface="Georgia" pitchFamily="34" charset="-122"/>
                <a:cs typeface="Georgia" pitchFamily="34" charset="-120"/>
              </a:rPr>
              <a:t>2</a:t>
            </a:r>
            <a:endParaRPr lang="en-US" sz="3000" dirty="0"/>
          </a:p>
        </p:txBody>
      </p:sp>
      <p:sp>
        <p:nvSpPr>
          <p:cNvPr id="11" name="Text 9"/>
          <p:cNvSpPr/>
          <p:nvPr/>
        </p:nvSpPr>
        <p:spPr>
          <a:xfrm>
            <a:off x="1463040" y="2852928"/>
            <a:ext cx="4572000" cy="457200"/>
          </a:xfrm>
          <a:prstGeom prst="rect">
            <a:avLst/>
          </a:prstGeom>
          <a:noFill/>
          <a:ln/>
        </p:spPr>
        <p:txBody>
          <a:bodyPr wrap="square" lIns="0" tIns="0" rIns="0" bIns="0" rtlCol="0" anchor="ctr"/>
          <a:lstStyle/>
          <a:p>
            <a:pPr indent="0" marL="0">
              <a:buNone/>
            </a:pPr>
            <a:r>
              <a:rPr lang="en-US" sz="1900" b="1" dirty="0">
                <a:solidFill>
                  <a:srgbClr val="1B2A4A"/>
                </a:solidFill>
                <a:latin typeface="Georgia" pitchFamily="34" charset="0"/>
                <a:ea typeface="Georgia" pitchFamily="34" charset="-122"/>
                <a:cs typeface="Georgia" pitchFamily="34" charset="-120"/>
              </a:rPr>
              <a:t>Create a free account</a:t>
            </a:r>
            <a:endParaRPr lang="en-US" sz="1900" dirty="0"/>
          </a:p>
        </p:txBody>
      </p:sp>
      <p:sp>
        <p:nvSpPr>
          <p:cNvPr id="12" name="Text 10"/>
          <p:cNvSpPr/>
          <p:nvPr/>
        </p:nvSpPr>
        <p:spPr>
          <a:xfrm>
            <a:off x="1463040" y="3273552"/>
            <a:ext cx="4937760" cy="54864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Sign up with your email. The Free plan is genuinely useful and costs nothing to try.</a:t>
            </a:r>
            <a:endParaRPr lang="en-US" sz="1250" dirty="0"/>
          </a:p>
        </p:txBody>
      </p:sp>
      <p:sp>
        <p:nvSpPr>
          <p:cNvPr id="13" name="Shape 11"/>
          <p:cNvSpPr/>
          <p:nvPr/>
        </p:nvSpPr>
        <p:spPr>
          <a:xfrm>
            <a:off x="548640" y="3968496"/>
            <a:ext cx="713232" cy="713232"/>
          </a:xfrm>
          <a:prstGeom prst="ellipse">
            <a:avLst/>
          </a:prstGeom>
          <a:solidFill>
            <a:srgbClr val="E8A33D"/>
          </a:solidFill>
          <a:ln/>
        </p:spPr>
      </p:sp>
      <p:sp>
        <p:nvSpPr>
          <p:cNvPr id="14" name="Text 12"/>
          <p:cNvSpPr/>
          <p:nvPr/>
        </p:nvSpPr>
        <p:spPr>
          <a:xfrm>
            <a:off x="548640" y="3968496"/>
            <a:ext cx="713232" cy="713232"/>
          </a:xfrm>
          <a:prstGeom prst="rect">
            <a:avLst/>
          </a:prstGeom>
          <a:noFill/>
          <a:ln/>
        </p:spPr>
        <p:txBody>
          <a:bodyPr wrap="square" lIns="0" tIns="0" rIns="0" bIns="0" rtlCol="0" anchor="ctr"/>
          <a:lstStyle/>
          <a:p>
            <a:pPr algn="ctr" indent="0" marL="0">
              <a:buNone/>
            </a:pPr>
            <a:r>
              <a:rPr lang="en-US" sz="3000" b="1" dirty="0">
                <a:solidFill>
                  <a:srgbClr val="1B2A4A"/>
                </a:solidFill>
                <a:latin typeface="Georgia" pitchFamily="34" charset="0"/>
                <a:ea typeface="Georgia" pitchFamily="34" charset="-122"/>
                <a:cs typeface="Georgia" pitchFamily="34" charset="-120"/>
              </a:rPr>
              <a:t>3</a:t>
            </a:r>
            <a:endParaRPr lang="en-US" sz="3000" dirty="0"/>
          </a:p>
        </p:txBody>
      </p:sp>
      <p:sp>
        <p:nvSpPr>
          <p:cNvPr id="15" name="Text 13"/>
          <p:cNvSpPr/>
          <p:nvPr/>
        </p:nvSpPr>
        <p:spPr>
          <a:xfrm>
            <a:off x="1463040" y="3922776"/>
            <a:ext cx="4572000" cy="457200"/>
          </a:xfrm>
          <a:prstGeom prst="rect">
            <a:avLst/>
          </a:prstGeom>
          <a:noFill/>
          <a:ln/>
        </p:spPr>
        <p:txBody>
          <a:bodyPr wrap="square" lIns="0" tIns="0" rIns="0" bIns="0" rtlCol="0" anchor="ctr"/>
          <a:lstStyle/>
          <a:p>
            <a:pPr indent="0" marL="0">
              <a:buNone/>
            </a:pPr>
            <a:r>
              <a:rPr lang="en-US" sz="1900" b="1" dirty="0">
                <a:solidFill>
                  <a:srgbClr val="1B2A4A"/>
                </a:solidFill>
                <a:latin typeface="Georgia" pitchFamily="34" charset="0"/>
                <a:ea typeface="Georgia" pitchFamily="34" charset="-122"/>
                <a:cs typeface="Georgia" pitchFamily="34" charset="-120"/>
              </a:rPr>
              <a:t>Start a new chat</a:t>
            </a:r>
            <a:endParaRPr lang="en-US" sz="1900" dirty="0"/>
          </a:p>
        </p:txBody>
      </p:sp>
      <p:sp>
        <p:nvSpPr>
          <p:cNvPr id="16" name="Text 14"/>
          <p:cNvSpPr/>
          <p:nvPr/>
        </p:nvSpPr>
        <p:spPr>
          <a:xfrm>
            <a:off x="1463040" y="4343400"/>
            <a:ext cx="4937760" cy="54864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Type a question or paste in your text. That blank box is the whole interface.</a:t>
            </a:r>
            <a:endParaRPr lang="en-US" sz="1250" dirty="0"/>
          </a:p>
        </p:txBody>
      </p:sp>
      <p:sp>
        <p:nvSpPr>
          <p:cNvPr id="17" name="Shape 15"/>
          <p:cNvSpPr/>
          <p:nvPr/>
        </p:nvSpPr>
        <p:spPr>
          <a:xfrm>
            <a:off x="548640" y="5038344"/>
            <a:ext cx="713232" cy="713232"/>
          </a:xfrm>
          <a:prstGeom prst="ellipse">
            <a:avLst/>
          </a:prstGeom>
          <a:solidFill>
            <a:srgbClr val="E8A33D"/>
          </a:solidFill>
          <a:ln/>
        </p:spPr>
      </p:sp>
      <p:sp>
        <p:nvSpPr>
          <p:cNvPr id="18" name="Text 16"/>
          <p:cNvSpPr/>
          <p:nvPr/>
        </p:nvSpPr>
        <p:spPr>
          <a:xfrm>
            <a:off x="548640" y="5038344"/>
            <a:ext cx="713232" cy="713232"/>
          </a:xfrm>
          <a:prstGeom prst="rect">
            <a:avLst/>
          </a:prstGeom>
          <a:noFill/>
          <a:ln/>
        </p:spPr>
        <p:txBody>
          <a:bodyPr wrap="square" lIns="0" tIns="0" rIns="0" bIns="0" rtlCol="0" anchor="ctr"/>
          <a:lstStyle/>
          <a:p>
            <a:pPr algn="ctr" indent="0" marL="0">
              <a:buNone/>
            </a:pPr>
            <a:r>
              <a:rPr lang="en-US" sz="3000" b="1" dirty="0">
                <a:solidFill>
                  <a:srgbClr val="1B2A4A"/>
                </a:solidFill>
                <a:latin typeface="Georgia" pitchFamily="34" charset="0"/>
                <a:ea typeface="Georgia" pitchFamily="34" charset="-122"/>
                <a:cs typeface="Georgia" pitchFamily="34" charset="-120"/>
              </a:rPr>
              <a:t>4</a:t>
            </a:r>
            <a:endParaRPr lang="en-US" sz="3000" dirty="0"/>
          </a:p>
        </p:txBody>
      </p:sp>
      <p:sp>
        <p:nvSpPr>
          <p:cNvPr id="19" name="Text 17"/>
          <p:cNvSpPr/>
          <p:nvPr/>
        </p:nvSpPr>
        <p:spPr>
          <a:xfrm>
            <a:off x="1463040" y="4992624"/>
            <a:ext cx="4572000" cy="457200"/>
          </a:xfrm>
          <a:prstGeom prst="rect">
            <a:avLst/>
          </a:prstGeom>
          <a:noFill/>
          <a:ln/>
        </p:spPr>
        <p:txBody>
          <a:bodyPr wrap="square" lIns="0" tIns="0" rIns="0" bIns="0" rtlCol="0" anchor="ctr"/>
          <a:lstStyle/>
          <a:p>
            <a:pPr indent="0" marL="0">
              <a:buNone/>
            </a:pPr>
            <a:r>
              <a:rPr lang="en-US" sz="1900" b="1" dirty="0">
                <a:solidFill>
                  <a:srgbClr val="1B2A4A"/>
                </a:solidFill>
                <a:latin typeface="Georgia" pitchFamily="34" charset="0"/>
                <a:ea typeface="Georgia" pitchFamily="34" charset="-122"/>
                <a:cs typeface="Georgia" pitchFamily="34" charset="-120"/>
              </a:rPr>
              <a:t>Upload files if you like</a:t>
            </a:r>
            <a:endParaRPr lang="en-US" sz="1900" dirty="0"/>
          </a:p>
        </p:txBody>
      </p:sp>
      <p:sp>
        <p:nvSpPr>
          <p:cNvPr id="20" name="Text 18"/>
          <p:cNvSpPr/>
          <p:nvPr/>
        </p:nvSpPr>
        <p:spPr>
          <a:xfrm>
            <a:off x="1463040" y="5413248"/>
            <a:ext cx="4937760" cy="54864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Drag in a Word doc, PDF, spreadsheet or image and ask Claude about it.</a:t>
            </a:r>
            <a:endParaRPr lang="en-US" sz="1250" dirty="0"/>
          </a:p>
        </p:txBody>
      </p:sp>
      <p:sp>
        <p:nvSpPr>
          <p:cNvPr id="21" name="Shape 19"/>
          <p:cNvSpPr/>
          <p:nvPr/>
        </p:nvSpPr>
        <p:spPr>
          <a:xfrm>
            <a:off x="6858000" y="1783080"/>
            <a:ext cx="4892040" cy="4160520"/>
          </a:xfrm>
          <a:prstGeom prst="roundRect">
            <a:avLst>
              <a:gd name="adj" fmla="val 1758"/>
            </a:avLst>
          </a:prstGeom>
          <a:solidFill>
            <a:srgbClr val="1B2A4A"/>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22" name="Text 20"/>
          <p:cNvSpPr/>
          <p:nvPr/>
        </p:nvSpPr>
        <p:spPr>
          <a:xfrm>
            <a:off x="7132320" y="2011680"/>
            <a:ext cx="4389120" cy="45720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Which plan do I need?</a:t>
            </a:r>
            <a:endParaRPr lang="en-US" sz="2000" dirty="0"/>
          </a:p>
        </p:txBody>
      </p:sp>
      <p:sp>
        <p:nvSpPr>
          <p:cNvPr id="23" name="Text 21"/>
          <p:cNvSpPr/>
          <p:nvPr/>
        </p:nvSpPr>
        <p:spPr>
          <a:xfrm>
            <a:off x="7132320" y="2514600"/>
            <a:ext cx="4389120" cy="2103120"/>
          </a:xfrm>
          <a:prstGeom prst="rect">
            <a:avLst/>
          </a:prstGeom>
          <a:noFill/>
          <a:ln/>
        </p:spPr>
        <p:txBody>
          <a:bodyPr wrap="square" lIns="0" tIns="0" rIns="0" bIns="0" rtlCol="0" anchor="t"/>
          <a:lstStyle/>
          <a:p>
            <a:pPr indent="0" marL="0">
              <a:lnSpc>
                <a:spcPct val="112000"/>
              </a:lnSpc>
              <a:buNone/>
            </a:pPr>
            <a:r>
              <a:rPr lang="en-US" sz="1350" b="1" dirty="0">
                <a:solidFill>
                  <a:srgbClr val="E8A33D"/>
                </a:solidFill>
                <a:latin typeface="Calibri" pitchFamily="34" charset="0"/>
                <a:ea typeface="Calibri" pitchFamily="34" charset="-122"/>
                <a:cs typeface="Calibri" pitchFamily="34" charset="-120"/>
              </a:rPr>
              <a:t>Free</a:t>
            </a:r>
            <a:pPr indent="0" marL="0">
              <a:lnSpc>
                <a:spcPct val="112000"/>
              </a:lnSpc>
              <a:buNone/>
            </a:pPr>
            <a:r>
              <a:rPr lang="en-US" sz="1350" dirty="0">
                <a:solidFill>
                  <a:srgbClr val="DCE4F0"/>
                </a:solidFill>
                <a:latin typeface="Calibri" pitchFamily="34" charset="0"/>
                <a:ea typeface="Calibri" pitchFamily="34" charset="-122"/>
                <a:cs typeface="Calibri" pitchFamily="34" charset="-120"/>
              </a:rPr>
              <a:t>, enough to follow everything today.</a:t>
            </a:r>
            <a:endParaRPr lang="en-US" sz="1350" dirty="0"/>
          </a:p>
          <a:p>
            <a:pPr indent="0" marL="0">
              <a:lnSpc>
                <a:spcPct val="112000"/>
              </a:lnSpc>
              <a:buNone/>
            </a:pPr>
            <a:r>
              <a:rPr lang="en-US" sz="1350" b="1" dirty="0">
                <a:solidFill>
                  <a:srgbClr val="E8A33D"/>
                </a:solidFill>
                <a:latin typeface="Calibri" pitchFamily="34" charset="0"/>
                <a:ea typeface="Calibri" pitchFamily="34" charset="-122"/>
                <a:cs typeface="Calibri" pitchFamily="34" charset="-120"/>
              </a:rPr>
              <a:t>Pro</a:t>
            </a:r>
            <a:pPr indent="0" marL="0">
              <a:lnSpc>
                <a:spcPct val="112000"/>
              </a:lnSpc>
              <a:buNone/>
            </a:pPr>
            <a:r>
              <a:rPr lang="en-US" sz="1350" dirty="0">
                <a:solidFill>
                  <a:srgbClr val="DCE4F0"/>
                </a:solidFill>
                <a:latin typeface="Calibri" pitchFamily="34" charset="0"/>
                <a:ea typeface="Calibri" pitchFamily="34" charset="-122"/>
                <a:cs typeface="Calibri" pitchFamily="34" charset="-120"/>
              </a:rPr>
              <a:t>, about $20/mo for heavier daily use,</a:t>
            </a:r>
            <a:endParaRPr lang="en-US" sz="1350" dirty="0"/>
          </a:p>
          <a:p>
            <a:pPr indent="0" marL="0">
              <a:lnSpc>
                <a:spcPct val="112000"/>
              </a:lnSpc>
              <a:buNone/>
            </a:pPr>
            <a:r>
              <a:rPr lang="en-US" sz="1350" dirty="0">
                <a:solidFill>
                  <a:srgbClr val="DCE4F0"/>
                </a:solidFill>
                <a:latin typeface="Calibri" pitchFamily="34" charset="0"/>
                <a:ea typeface="Calibri" pitchFamily="34" charset="-122"/>
                <a:cs typeface="Calibri" pitchFamily="34" charset="-120"/>
              </a:rPr>
              <a:t>    higher limits and longer documents.</a:t>
            </a:r>
            <a:endParaRPr lang="en-US" sz="1350" dirty="0"/>
          </a:p>
          <a:p>
            <a:pPr indent="0" marL="0">
              <a:lnSpc>
                <a:spcPct val="112000"/>
              </a:lnSpc>
              <a:buNone/>
            </a:pPr>
            <a:r>
              <a:rPr lang="en-US" sz="1350" b="1" dirty="0">
                <a:solidFill>
                  <a:srgbClr val="E8A33D"/>
                </a:solidFill>
                <a:latin typeface="Calibri" pitchFamily="34" charset="0"/>
                <a:ea typeface="Calibri" pitchFamily="34" charset="-122"/>
                <a:cs typeface="Calibri" pitchFamily="34" charset="-120"/>
              </a:rPr>
              <a:t>Team / Enterprise</a:t>
            </a:r>
            <a:pPr indent="0" marL="0">
              <a:lnSpc>
                <a:spcPct val="112000"/>
              </a:lnSpc>
              <a:buNone/>
            </a:pPr>
            <a:r>
              <a:rPr lang="en-US" sz="1350" dirty="0">
                <a:solidFill>
                  <a:srgbClr val="DCE4F0"/>
                </a:solidFill>
                <a:latin typeface="Calibri" pitchFamily="34" charset="0"/>
                <a:ea typeface="Calibri" pitchFamily="34" charset="-122"/>
                <a:cs typeface="Calibri" pitchFamily="34" charset="-120"/>
              </a:rPr>
              <a:t>, when your org rolls</a:t>
            </a:r>
            <a:endParaRPr lang="en-US" sz="1350" dirty="0"/>
          </a:p>
          <a:p>
            <a:pPr indent="0" marL="0">
              <a:lnSpc>
                <a:spcPct val="112000"/>
              </a:lnSpc>
              <a:buNone/>
            </a:pPr>
            <a:r>
              <a:rPr lang="en-US" sz="1350" dirty="0">
                <a:solidFill>
                  <a:srgbClr val="DCE4F0"/>
                </a:solidFill>
                <a:latin typeface="Calibri" pitchFamily="34" charset="0"/>
                <a:ea typeface="Calibri" pitchFamily="34" charset="-122"/>
                <a:cs typeface="Calibri" pitchFamily="34" charset="-120"/>
              </a:rPr>
              <a:t>    it out, with admin controls and the</a:t>
            </a:r>
            <a:endParaRPr lang="en-US" sz="1350" dirty="0"/>
          </a:p>
          <a:p>
            <a:pPr indent="0" marL="0">
              <a:lnSpc>
                <a:spcPct val="112000"/>
              </a:lnSpc>
              <a:buNone/>
            </a:pPr>
            <a:r>
              <a:rPr lang="en-US" sz="1350" dirty="0">
                <a:solidFill>
                  <a:srgbClr val="DCE4F0"/>
                </a:solidFill>
                <a:latin typeface="Calibri" pitchFamily="34" charset="0"/>
                <a:ea typeface="Calibri" pitchFamily="34" charset="-122"/>
                <a:cs typeface="Calibri" pitchFamily="34" charset="-120"/>
              </a:rPr>
              <a:t>    Microsoft 365 connector.</a:t>
            </a:r>
            <a:endParaRPr lang="en-US" sz="1350" dirty="0"/>
          </a:p>
        </p:txBody>
      </p:sp>
      <p:sp>
        <p:nvSpPr>
          <p:cNvPr id="24" name="Shape 22"/>
          <p:cNvSpPr/>
          <p:nvPr/>
        </p:nvSpPr>
        <p:spPr>
          <a:xfrm>
            <a:off x="7132320" y="4800600"/>
            <a:ext cx="4343400" cy="0"/>
          </a:xfrm>
          <a:prstGeom prst="line">
            <a:avLst/>
          </a:prstGeom>
          <a:noFill/>
          <a:ln w="12700">
            <a:solidFill>
              <a:srgbClr val="33476B"/>
            </a:solidFill>
            <a:prstDash val="solid"/>
          </a:ln>
        </p:spPr>
      </p:sp>
      <p:sp>
        <p:nvSpPr>
          <p:cNvPr id="25" name="Text 23"/>
          <p:cNvSpPr/>
          <p:nvPr/>
        </p:nvSpPr>
        <p:spPr>
          <a:xfrm>
            <a:off x="7132320" y="4937760"/>
            <a:ext cx="4389120" cy="822960"/>
          </a:xfrm>
          <a:prstGeom prst="rect">
            <a:avLst/>
          </a:prstGeom>
          <a:noFill/>
          <a:ln/>
        </p:spPr>
        <p:txBody>
          <a:bodyPr wrap="square" lIns="0" tIns="0" rIns="0" bIns="0" rtlCol="0" anchor="ctr"/>
          <a:lstStyle/>
          <a:p>
            <a:pPr indent="0" marL="0">
              <a:lnSpc>
                <a:spcPct val="110000"/>
              </a:lnSpc>
              <a:buNone/>
            </a:pPr>
            <a:r>
              <a:rPr lang="en-US" sz="1250" i="1" dirty="0">
                <a:solidFill>
                  <a:srgbClr val="9FB0C9"/>
                </a:solidFill>
                <a:latin typeface="Calibri" pitchFamily="34" charset="0"/>
                <a:ea typeface="Calibri" pitchFamily="34" charset="-122"/>
                <a:cs typeface="Calibri" pitchFamily="34" charset="-120"/>
              </a:rPr>
              <a:t>Full details are in your Download &amp; Licensing Guide handout.</a:t>
            </a:r>
            <a:endParaRPr lang="en-US" sz="1250" dirty="0"/>
          </a:p>
        </p:txBody>
      </p:sp>
      <p:sp>
        <p:nvSpPr>
          <p:cNvPr id="27" name="Text 2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8" name="Text 25"/>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CORE SKILL</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A good request has four parts</a:t>
            </a:r>
            <a:endParaRPr lang="en-US" sz="3000" dirty="0"/>
          </a:p>
        </p:txBody>
      </p:sp>
      <p:sp>
        <p:nvSpPr>
          <p:cNvPr id="5" name="Shape 3"/>
          <p:cNvSpPr/>
          <p:nvPr/>
        </p:nvSpPr>
        <p:spPr>
          <a:xfrm>
            <a:off x="457200" y="1737360"/>
            <a:ext cx="269748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457200" y="1737360"/>
            <a:ext cx="2697480" cy="109728"/>
          </a:xfrm>
          <a:prstGeom prst="rect">
            <a:avLst/>
          </a:prstGeom>
          <a:solidFill>
            <a:srgbClr val="E8A33D"/>
          </a:solidFill>
          <a:ln/>
        </p:spPr>
      </p:sp>
      <p:sp>
        <p:nvSpPr>
          <p:cNvPr id="7" name="Shape 5"/>
          <p:cNvSpPr/>
          <p:nvPr/>
        </p:nvSpPr>
        <p:spPr>
          <a:xfrm>
            <a:off x="685800" y="2057400"/>
            <a:ext cx="640080" cy="640080"/>
          </a:xfrm>
          <a:prstGeom prst="ellipse">
            <a:avLst/>
          </a:prstGeom>
          <a:solidFill>
            <a:srgbClr val="1B2A4A"/>
          </a:solidFill>
          <a:ln/>
        </p:spPr>
      </p:sp>
      <p:pic>
        <p:nvPicPr>
          <p:cNvPr id="8" name="Image 0" descr="preencoded.png">    </p:cNvPr>
          <p:cNvPicPr>
            <a:picLocks noChangeAspect="1"/>
          </p:cNvPicPr>
          <p:nvPr/>
        </p:nvPicPr>
        <p:blipFill>
          <a:blip r:embed="rId1"/>
          <a:stretch>
            <a:fillRect/>
          </a:stretch>
        </p:blipFill>
        <p:spPr>
          <a:xfrm>
            <a:off x="822960" y="2194560"/>
            <a:ext cx="365760" cy="365760"/>
          </a:xfrm>
          <a:prstGeom prst="rect">
            <a:avLst/>
          </a:prstGeom>
        </p:spPr>
      </p:pic>
      <p:sp>
        <p:nvSpPr>
          <p:cNvPr id="9" name="Text 6"/>
          <p:cNvSpPr/>
          <p:nvPr/>
        </p:nvSpPr>
        <p:spPr>
          <a:xfrm>
            <a:off x="1417320" y="2121408"/>
            <a:ext cx="1600200" cy="548640"/>
          </a:xfrm>
          <a:prstGeom prst="rect">
            <a:avLst/>
          </a:prstGeom>
          <a:noFill/>
          <a:ln/>
        </p:spPr>
        <p:txBody>
          <a:bodyPr wrap="square" lIns="0" tIns="0" rIns="0" bIns="0" rtlCol="0" anchor="ctr"/>
          <a:lstStyle/>
          <a:p>
            <a:pPr indent="0" marL="0">
              <a:buNone/>
            </a:pPr>
            <a:r>
              <a:rPr lang="en-US" sz="2100" b="1" dirty="0">
                <a:solidFill>
                  <a:srgbClr val="1B2A4A"/>
                </a:solidFill>
                <a:latin typeface="Georgia" pitchFamily="34" charset="0"/>
                <a:ea typeface="Georgia" pitchFamily="34" charset="-122"/>
                <a:cs typeface="Georgia" pitchFamily="34" charset="-120"/>
              </a:rPr>
              <a:t>Role</a:t>
            </a:r>
            <a:endParaRPr lang="en-US" sz="2100" dirty="0"/>
          </a:p>
        </p:txBody>
      </p:sp>
      <p:sp>
        <p:nvSpPr>
          <p:cNvPr id="10" name="Text 7"/>
          <p:cNvSpPr/>
          <p:nvPr/>
        </p:nvSpPr>
        <p:spPr>
          <a:xfrm>
            <a:off x="704088" y="2880360"/>
            <a:ext cx="2240280" cy="457200"/>
          </a:xfrm>
          <a:prstGeom prst="rect">
            <a:avLst/>
          </a:prstGeom>
          <a:noFill/>
          <a:ln/>
        </p:spPr>
        <p:txBody>
          <a:bodyPr wrap="square" lIns="0" tIns="0" rIns="0" bIns="0" rtlCol="0" anchor="ctr"/>
          <a:lstStyle/>
          <a:p>
            <a:pPr indent="0" marL="0">
              <a:buNone/>
            </a:pPr>
            <a:r>
              <a:rPr lang="en-US" sz="1300" b="1" dirty="0">
                <a:solidFill>
                  <a:srgbClr val="3C4A63"/>
                </a:solidFill>
                <a:latin typeface="Calibri" pitchFamily="34" charset="0"/>
                <a:ea typeface="Calibri" pitchFamily="34" charset="-122"/>
                <a:cs typeface="Calibri" pitchFamily="34" charset="-120"/>
              </a:rPr>
              <a:t>Who Claude should act as</a:t>
            </a:r>
            <a:endParaRPr lang="en-US" sz="1300" dirty="0"/>
          </a:p>
        </p:txBody>
      </p:sp>
      <p:sp>
        <p:nvSpPr>
          <p:cNvPr id="11" name="Text 8"/>
          <p:cNvSpPr/>
          <p:nvPr/>
        </p:nvSpPr>
        <p:spPr>
          <a:xfrm>
            <a:off x="704088" y="3310128"/>
            <a:ext cx="2240280" cy="777240"/>
          </a:xfrm>
          <a:prstGeom prst="rect">
            <a:avLst/>
          </a:prstGeom>
          <a:noFill/>
          <a:ln/>
        </p:spPr>
        <p:txBody>
          <a:bodyPr wrap="square" lIns="0" tIns="0" rIns="0" bIns="0" rtlCol="0" anchor="ctr"/>
          <a:lstStyle/>
          <a:p>
            <a:pPr indent="0" marL="0">
              <a:lnSpc>
                <a:spcPct val="108000"/>
              </a:lnSpc>
              <a:buNone/>
            </a:pPr>
            <a:r>
              <a:rPr lang="en-US" sz="1250" i="1" dirty="0">
                <a:solidFill>
                  <a:srgbClr val="2C8C8C"/>
                </a:solidFill>
                <a:latin typeface="Calibri" pitchFamily="34" charset="0"/>
                <a:ea typeface="Calibri" pitchFamily="34" charset="-122"/>
                <a:cs typeface="Calibri" pitchFamily="34" charset="-120"/>
              </a:rPr>
              <a:t>“You’re my executive assistant…”</a:t>
            </a:r>
            <a:endParaRPr lang="en-US" sz="1250" dirty="0"/>
          </a:p>
        </p:txBody>
      </p:sp>
      <p:sp>
        <p:nvSpPr>
          <p:cNvPr id="12" name="Shape 9"/>
          <p:cNvSpPr/>
          <p:nvPr/>
        </p:nvSpPr>
        <p:spPr>
          <a:xfrm>
            <a:off x="3273552" y="1737360"/>
            <a:ext cx="269748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3" name="Shape 10"/>
          <p:cNvSpPr/>
          <p:nvPr/>
        </p:nvSpPr>
        <p:spPr>
          <a:xfrm>
            <a:off x="3273552" y="1737360"/>
            <a:ext cx="2697480" cy="109728"/>
          </a:xfrm>
          <a:prstGeom prst="rect">
            <a:avLst/>
          </a:prstGeom>
          <a:solidFill>
            <a:srgbClr val="2C8C8C"/>
          </a:solidFill>
          <a:ln/>
        </p:spPr>
      </p:sp>
      <p:sp>
        <p:nvSpPr>
          <p:cNvPr id="14" name="Shape 11"/>
          <p:cNvSpPr/>
          <p:nvPr/>
        </p:nvSpPr>
        <p:spPr>
          <a:xfrm>
            <a:off x="3502152" y="2057400"/>
            <a:ext cx="640080" cy="640080"/>
          </a:xfrm>
          <a:prstGeom prst="ellipse">
            <a:avLst/>
          </a:prstGeom>
          <a:solidFill>
            <a:srgbClr val="1B2A4A"/>
          </a:solidFill>
          <a:ln/>
        </p:spPr>
      </p:sp>
      <p:pic>
        <p:nvPicPr>
          <p:cNvPr id="15" name="Image 1" descr="preencoded.png">    </p:cNvPr>
          <p:cNvPicPr>
            <a:picLocks noChangeAspect="1"/>
          </p:cNvPicPr>
          <p:nvPr/>
        </p:nvPicPr>
        <p:blipFill>
          <a:blip r:embed="rId2"/>
          <a:stretch>
            <a:fillRect/>
          </a:stretch>
        </p:blipFill>
        <p:spPr>
          <a:xfrm>
            <a:off x="3639312" y="2194560"/>
            <a:ext cx="365760" cy="365760"/>
          </a:xfrm>
          <a:prstGeom prst="rect">
            <a:avLst/>
          </a:prstGeom>
        </p:spPr>
      </p:pic>
      <p:sp>
        <p:nvSpPr>
          <p:cNvPr id="16" name="Text 12"/>
          <p:cNvSpPr/>
          <p:nvPr/>
        </p:nvSpPr>
        <p:spPr>
          <a:xfrm>
            <a:off x="4233672" y="2121408"/>
            <a:ext cx="1600200" cy="548640"/>
          </a:xfrm>
          <a:prstGeom prst="rect">
            <a:avLst/>
          </a:prstGeom>
          <a:noFill/>
          <a:ln/>
        </p:spPr>
        <p:txBody>
          <a:bodyPr wrap="square" lIns="0" tIns="0" rIns="0" bIns="0" rtlCol="0" anchor="ctr"/>
          <a:lstStyle/>
          <a:p>
            <a:pPr indent="0" marL="0">
              <a:buNone/>
            </a:pPr>
            <a:r>
              <a:rPr lang="en-US" sz="2100" b="1" dirty="0">
                <a:solidFill>
                  <a:srgbClr val="1B2A4A"/>
                </a:solidFill>
                <a:latin typeface="Georgia" pitchFamily="34" charset="0"/>
                <a:ea typeface="Georgia" pitchFamily="34" charset="-122"/>
                <a:cs typeface="Georgia" pitchFamily="34" charset="-120"/>
              </a:rPr>
              <a:t>Task</a:t>
            </a:r>
            <a:endParaRPr lang="en-US" sz="2100" dirty="0"/>
          </a:p>
        </p:txBody>
      </p:sp>
      <p:sp>
        <p:nvSpPr>
          <p:cNvPr id="17" name="Text 13"/>
          <p:cNvSpPr/>
          <p:nvPr/>
        </p:nvSpPr>
        <p:spPr>
          <a:xfrm>
            <a:off x="3520440" y="2880360"/>
            <a:ext cx="2240280" cy="457200"/>
          </a:xfrm>
          <a:prstGeom prst="rect">
            <a:avLst/>
          </a:prstGeom>
          <a:noFill/>
          <a:ln/>
        </p:spPr>
        <p:txBody>
          <a:bodyPr wrap="square" lIns="0" tIns="0" rIns="0" bIns="0" rtlCol="0" anchor="ctr"/>
          <a:lstStyle/>
          <a:p>
            <a:pPr indent="0" marL="0">
              <a:buNone/>
            </a:pPr>
            <a:r>
              <a:rPr lang="en-US" sz="1300" b="1" dirty="0">
                <a:solidFill>
                  <a:srgbClr val="3C4A63"/>
                </a:solidFill>
                <a:latin typeface="Calibri" pitchFamily="34" charset="0"/>
                <a:ea typeface="Calibri" pitchFamily="34" charset="-122"/>
                <a:cs typeface="Calibri" pitchFamily="34" charset="-120"/>
              </a:rPr>
              <a:t>What you want done</a:t>
            </a:r>
            <a:endParaRPr lang="en-US" sz="1300" dirty="0"/>
          </a:p>
        </p:txBody>
      </p:sp>
      <p:sp>
        <p:nvSpPr>
          <p:cNvPr id="18" name="Text 14"/>
          <p:cNvSpPr/>
          <p:nvPr/>
        </p:nvSpPr>
        <p:spPr>
          <a:xfrm>
            <a:off x="3520440" y="3310128"/>
            <a:ext cx="2240280" cy="777240"/>
          </a:xfrm>
          <a:prstGeom prst="rect">
            <a:avLst/>
          </a:prstGeom>
          <a:noFill/>
          <a:ln/>
        </p:spPr>
        <p:txBody>
          <a:bodyPr wrap="square" lIns="0" tIns="0" rIns="0" bIns="0" rtlCol="0" anchor="ctr"/>
          <a:lstStyle/>
          <a:p>
            <a:pPr indent="0" marL="0">
              <a:lnSpc>
                <a:spcPct val="108000"/>
              </a:lnSpc>
              <a:buNone/>
            </a:pPr>
            <a:r>
              <a:rPr lang="en-US" sz="1250" i="1" dirty="0">
                <a:solidFill>
                  <a:srgbClr val="2C8C8C"/>
                </a:solidFill>
                <a:latin typeface="Calibri" pitchFamily="34" charset="0"/>
                <a:ea typeface="Calibri" pitchFamily="34" charset="-122"/>
                <a:cs typeface="Calibri" pitchFamily="34" charset="-120"/>
              </a:rPr>
              <a:t>“Write a status update from this thread.”</a:t>
            </a:r>
            <a:endParaRPr lang="en-US" sz="1250" dirty="0"/>
          </a:p>
        </p:txBody>
      </p:sp>
      <p:sp>
        <p:nvSpPr>
          <p:cNvPr id="19" name="Shape 15"/>
          <p:cNvSpPr/>
          <p:nvPr/>
        </p:nvSpPr>
        <p:spPr>
          <a:xfrm>
            <a:off x="6089904" y="1737360"/>
            <a:ext cx="269748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20" name="Shape 16"/>
          <p:cNvSpPr/>
          <p:nvPr/>
        </p:nvSpPr>
        <p:spPr>
          <a:xfrm>
            <a:off x="6089904" y="1737360"/>
            <a:ext cx="2697480" cy="109728"/>
          </a:xfrm>
          <a:prstGeom prst="rect">
            <a:avLst/>
          </a:prstGeom>
          <a:solidFill>
            <a:srgbClr val="E8A33D"/>
          </a:solidFill>
          <a:ln/>
        </p:spPr>
      </p:sp>
      <p:sp>
        <p:nvSpPr>
          <p:cNvPr id="21" name="Shape 17"/>
          <p:cNvSpPr/>
          <p:nvPr/>
        </p:nvSpPr>
        <p:spPr>
          <a:xfrm>
            <a:off x="6318504" y="2057400"/>
            <a:ext cx="640080" cy="640080"/>
          </a:xfrm>
          <a:prstGeom prst="ellipse">
            <a:avLst/>
          </a:prstGeom>
          <a:solidFill>
            <a:srgbClr val="1B2A4A"/>
          </a:solidFill>
          <a:ln/>
        </p:spPr>
      </p:sp>
      <p:pic>
        <p:nvPicPr>
          <p:cNvPr id="22" name="Image 2" descr="preencoded.png">    </p:cNvPr>
          <p:cNvPicPr>
            <a:picLocks noChangeAspect="1"/>
          </p:cNvPicPr>
          <p:nvPr/>
        </p:nvPicPr>
        <p:blipFill>
          <a:blip r:embed="rId3"/>
          <a:stretch>
            <a:fillRect/>
          </a:stretch>
        </p:blipFill>
        <p:spPr>
          <a:xfrm>
            <a:off x="6455664" y="2194560"/>
            <a:ext cx="365760" cy="365760"/>
          </a:xfrm>
          <a:prstGeom prst="rect">
            <a:avLst/>
          </a:prstGeom>
        </p:spPr>
      </p:pic>
      <p:sp>
        <p:nvSpPr>
          <p:cNvPr id="23" name="Text 18"/>
          <p:cNvSpPr/>
          <p:nvPr/>
        </p:nvSpPr>
        <p:spPr>
          <a:xfrm>
            <a:off x="7050024" y="2121408"/>
            <a:ext cx="1600200" cy="548640"/>
          </a:xfrm>
          <a:prstGeom prst="rect">
            <a:avLst/>
          </a:prstGeom>
          <a:noFill/>
          <a:ln/>
        </p:spPr>
        <p:txBody>
          <a:bodyPr wrap="square" lIns="0" tIns="0" rIns="0" bIns="0" rtlCol="0" anchor="ctr"/>
          <a:lstStyle/>
          <a:p>
            <a:pPr indent="0" marL="0">
              <a:buNone/>
            </a:pPr>
            <a:r>
              <a:rPr lang="en-US" sz="2100" b="1" dirty="0">
                <a:solidFill>
                  <a:srgbClr val="1B2A4A"/>
                </a:solidFill>
                <a:latin typeface="Georgia" pitchFamily="34" charset="0"/>
                <a:ea typeface="Georgia" pitchFamily="34" charset="-122"/>
                <a:cs typeface="Georgia" pitchFamily="34" charset="-120"/>
              </a:rPr>
              <a:t>Context</a:t>
            </a:r>
            <a:endParaRPr lang="en-US" sz="2100" dirty="0"/>
          </a:p>
        </p:txBody>
      </p:sp>
      <p:sp>
        <p:nvSpPr>
          <p:cNvPr id="24" name="Text 19"/>
          <p:cNvSpPr/>
          <p:nvPr/>
        </p:nvSpPr>
        <p:spPr>
          <a:xfrm>
            <a:off x="6336792" y="2880360"/>
            <a:ext cx="2240280" cy="457200"/>
          </a:xfrm>
          <a:prstGeom prst="rect">
            <a:avLst/>
          </a:prstGeom>
          <a:noFill/>
          <a:ln/>
        </p:spPr>
        <p:txBody>
          <a:bodyPr wrap="square" lIns="0" tIns="0" rIns="0" bIns="0" rtlCol="0" anchor="ctr"/>
          <a:lstStyle/>
          <a:p>
            <a:pPr indent="0" marL="0">
              <a:buNone/>
            </a:pPr>
            <a:r>
              <a:rPr lang="en-US" sz="1300" b="1" dirty="0">
                <a:solidFill>
                  <a:srgbClr val="3C4A63"/>
                </a:solidFill>
                <a:latin typeface="Calibri" pitchFamily="34" charset="0"/>
                <a:ea typeface="Calibri" pitchFamily="34" charset="-122"/>
                <a:cs typeface="Calibri" pitchFamily="34" charset="-120"/>
              </a:rPr>
              <a:t>The material + key facts</a:t>
            </a:r>
            <a:endParaRPr lang="en-US" sz="1300" dirty="0"/>
          </a:p>
        </p:txBody>
      </p:sp>
      <p:sp>
        <p:nvSpPr>
          <p:cNvPr id="25" name="Text 20"/>
          <p:cNvSpPr/>
          <p:nvPr/>
        </p:nvSpPr>
        <p:spPr>
          <a:xfrm>
            <a:off x="6336792" y="3310128"/>
            <a:ext cx="2240280" cy="777240"/>
          </a:xfrm>
          <a:prstGeom prst="rect">
            <a:avLst/>
          </a:prstGeom>
          <a:noFill/>
          <a:ln/>
        </p:spPr>
        <p:txBody>
          <a:bodyPr wrap="square" lIns="0" tIns="0" rIns="0" bIns="0" rtlCol="0" anchor="ctr"/>
          <a:lstStyle/>
          <a:p>
            <a:pPr indent="0" marL="0">
              <a:lnSpc>
                <a:spcPct val="108000"/>
              </a:lnSpc>
              <a:buNone/>
            </a:pPr>
            <a:r>
              <a:rPr lang="en-US" sz="1250" i="1" dirty="0">
                <a:solidFill>
                  <a:srgbClr val="2C8C8C"/>
                </a:solidFill>
                <a:latin typeface="Calibri" pitchFamily="34" charset="0"/>
                <a:ea typeface="Calibri" pitchFamily="34" charset="-122"/>
                <a:cs typeface="Calibri" pitchFamily="34" charset="-120"/>
              </a:rPr>
              <a:t>“Audience is my VP. Keep it factual.”</a:t>
            </a:r>
            <a:endParaRPr lang="en-US" sz="1250" dirty="0"/>
          </a:p>
        </p:txBody>
      </p:sp>
      <p:sp>
        <p:nvSpPr>
          <p:cNvPr id="26" name="Shape 21"/>
          <p:cNvSpPr/>
          <p:nvPr/>
        </p:nvSpPr>
        <p:spPr>
          <a:xfrm>
            <a:off x="8906256" y="1737360"/>
            <a:ext cx="2697480" cy="2468880"/>
          </a:xfrm>
          <a:prstGeom prst="roundRect">
            <a:avLst>
              <a:gd name="adj" fmla="val 2963"/>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27" name="Shape 22"/>
          <p:cNvSpPr/>
          <p:nvPr/>
        </p:nvSpPr>
        <p:spPr>
          <a:xfrm>
            <a:off x="8906256" y="1737360"/>
            <a:ext cx="2697480" cy="109728"/>
          </a:xfrm>
          <a:prstGeom prst="rect">
            <a:avLst/>
          </a:prstGeom>
          <a:solidFill>
            <a:srgbClr val="2C8C8C"/>
          </a:solidFill>
          <a:ln/>
        </p:spPr>
      </p:sp>
      <p:sp>
        <p:nvSpPr>
          <p:cNvPr id="28" name="Shape 23"/>
          <p:cNvSpPr/>
          <p:nvPr/>
        </p:nvSpPr>
        <p:spPr>
          <a:xfrm>
            <a:off x="9134856" y="2057400"/>
            <a:ext cx="640080" cy="640080"/>
          </a:xfrm>
          <a:prstGeom prst="ellipse">
            <a:avLst/>
          </a:prstGeom>
          <a:solidFill>
            <a:srgbClr val="1B2A4A"/>
          </a:solidFill>
          <a:ln/>
        </p:spPr>
      </p:sp>
      <p:pic>
        <p:nvPicPr>
          <p:cNvPr id="29" name="Image 3" descr="preencoded.png">    </p:cNvPr>
          <p:cNvPicPr>
            <a:picLocks noChangeAspect="1"/>
          </p:cNvPicPr>
          <p:nvPr/>
        </p:nvPicPr>
        <p:blipFill>
          <a:blip r:embed="rId4"/>
          <a:stretch>
            <a:fillRect/>
          </a:stretch>
        </p:blipFill>
        <p:spPr>
          <a:xfrm>
            <a:off x="9272016" y="2194560"/>
            <a:ext cx="365760" cy="365760"/>
          </a:xfrm>
          <a:prstGeom prst="rect">
            <a:avLst/>
          </a:prstGeom>
        </p:spPr>
      </p:pic>
      <p:sp>
        <p:nvSpPr>
          <p:cNvPr id="30" name="Text 24"/>
          <p:cNvSpPr/>
          <p:nvPr/>
        </p:nvSpPr>
        <p:spPr>
          <a:xfrm>
            <a:off x="9866376" y="2121408"/>
            <a:ext cx="1600200" cy="548640"/>
          </a:xfrm>
          <a:prstGeom prst="rect">
            <a:avLst/>
          </a:prstGeom>
          <a:noFill/>
          <a:ln/>
        </p:spPr>
        <p:txBody>
          <a:bodyPr wrap="square" lIns="0" tIns="0" rIns="0" bIns="0" rtlCol="0" anchor="ctr"/>
          <a:lstStyle/>
          <a:p>
            <a:pPr indent="0" marL="0">
              <a:buNone/>
            </a:pPr>
            <a:r>
              <a:rPr lang="en-US" sz="2100" b="1" dirty="0">
                <a:solidFill>
                  <a:srgbClr val="1B2A4A"/>
                </a:solidFill>
                <a:latin typeface="Georgia" pitchFamily="34" charset="0"/>
                <a:ea typeface="Georgia" pitchFamily="34" charset="-122"/>
                <a:cs typeface="Georgia" pitchFamily="34" charset="-120"/>
              </a:rPr>
              <a:t>Format</a:t>
            </a:r>
            <a:endParaRPr lang="en-US" sz="2100" dirty="0"/>
          </a:p>
        </p:txBody>
      </p:sp>
      <p:sp>
        <p:nvSpPr>
          <p:cNvPr id="31" name="Text 25"/>
          <p:cNvSpPr/>
          <p:nvPr/>
        </p:nvSpPr>
        <p:spPr>
          <a:xfrm>
            <a:off x="9153144" y="2880360"/>
            <a:ext cx="2240280" cy="457200"/>
          </a:xfrm>
          <a:prstGeom prst="rect">
            <a:avLst/>
          </a:prstGeom>
          <a:noFill/>
          <a:ln/>
        </p:spPr>
        <p:txBody>
          <a:bodyPr wrap="square" lIns="0" tIns="0" rIns="0" bIns="0" rtlCol="0" anchor="ctr"/>
          <a:lstStyle/>
          <a:p>
            <a:pPr indent="0" marL="0">
              <a:buNone/>
            </a:pPr>
            <a:r>
              <a:rPr lang="en-US" sz="1300" b="1" dirty="0">
                <a:solidFill>
                  <a:srgbClr val="3C4A63"/>
                </a:solidFill>
                <a:latin typeface="Calibri" pitchFamily="34" charset="0"/>
                <a:ea typeface="Calibri" pitchFamily="34" charset="-122"/>
                <a:cs typeface="Calibri" pitchFamily="34" charset="-120"/>
              </a:rPr>
              <a:t>How the answer should look</a:t>
            </a:r>
            <a:endParaRPr lang="en-US" sz="1300" dirty="0"/>
          </a:p>
        </p:txBody>
      </p:sp>
      <p:sp>
        <p:nvSpPr>
          <p:cNvPr id="32" name="Text 26"/>
          <p:cNvSpPr/>
          <p:nvPr/>
        </p:nvSpPr>
        <p:spPr>
          <a:xfrm>
            <a:off x="9153144" y="3310128"/>
            <a:ext cx="2240280" cy="777240"/>
          </a:xfrm>
          <a:prstGeom prst="rect">
            <a:avLst/>
          </a:prstGeom>
          <a:noFill/>
          <a:ln/>
        </p:spPr>
        <p:txBody>
          <a:bodyPr wrap="square" lIns="0" tIns="0" rIns="0" bIns="0" rtlCol="0" anchor="ctr"/>
          <a:lstStyle/>
          <a:p>
            <a:pPr indent="0" marL="0">
              <a:lnSpc>
                <a:spcPct val="108000"/>
              </a:lnSpc>
              <a:buNone/>
            </a:pPr>
            <a:r>
              <a:rPr lang="en-US" sz="1250" i="1" dirty="0">
                <a:solidFill>
                  <a:srgbClr val="2C8C8C"/>
                </a:solidFill>
                <a:latin typeface="Calibri" pitchFamily="34" charset="0"/>
                <a:ea typeface="Calibri" pitchFamily="34" charset="-122"/>
                <a:cs typeface="Calibri" pitchFamily="34" charset="-120"/>
              </a:rPr>
              <a:t>“Five bullets, under 150 words.”</a:t>
            </a:r>
            <a:endParaRPr lang="en-US" sz="1250" dirty="0"/>
          </a:p>
        </p:txBody>
      </p:sp>
      <p:sp>
        <p:nvSpPr>
          <p:cNvPr id="33" name="Text 27"/>
          <p:cNvSpPr/>
          <p:nvPr/>
        </p:nvSpPr>
        <p:spPr>
          <a:xfrm>
            <a:off x="457200" y="4526280"/>
            <a:ext cx="11247120" cy="548640"/>
          </a:xfrm>
          <a:prstGeom prst="rect">
            <a:avLst/>
          </a:prstGeom>
          <a:noFill/>
          <a:ln/>
        </p:spPr>
        <p:txBody>
          <a:bodyPr wrap="square" lIns="0" tIns="0" rIns="0" bIns="0" rtlCol="0" anchor="ctr"/>
          <a:lstStyle/>
          <a:p>
            <a:pPr indent="0" marL="0">
              <a:lnSpc>
                <a:spcPct val="110000"/>
              </a:lnSpc>
              <a:buNone/>
            </a:pPr>
            <a:r>
              <a:rPr lang="en-US" sz="1500" b="1" dirty="0">
                <a:solidFill>
                  <a:srgbClr val="1B2A4A"/>
                </a:solidFill>
                <a:latin typeface="Calibri" pitchFamily="34" charset="0"/>
                <a:ea typeface="Calibri" pitchFamily="34" charset="-122"/>
                <a:cs typeface="Calibri" pitchFamily="34" charset="-120"/>
              </a:rPr>
              <a:t>Rule of thumb: </a:t>
            </a:r>
            <a:pPr indent="0" marL="0">
              <a:lnSpc>
                <a:spcPct val="110000"/>
              </a:lnSpc>
              <a:buNone/>
            </a:pPr>
            <a:r>
              <a:rPr lang="en-US" sz="1500" dirty="0">
                <a:solidFill>
                  <a:srgbClr val="3C4A63"/>
                </a:solidFill>
                <a:latin typeface="Calibri" pitchFamily="34" charset="0"/>
                <a:ea typeface="Calibri" pitchFamily="34" charset="-122"/>
                <a:cs typeface="Calibri" pitchFamily="34" charset="-120"/>
              </a:rPr>
              <a:t>you don't need all four every time, but the more specific you are, the less back-and-forth you'll do. Vague in, vague out.</a:t>
            </a:r>
            <a:endParaRPr lang="en-US" sz="1500" dirty="0"/>
          </a:p>
        </p:txBody>
      </p:sp>
      <p:sp>
        <p:nvSpPr>
          <p:cNvPr id="34" name="Shape 28"/>
          <p:cNvSpPr/>
          <p:nvPr/>
        </p:nvSpPr>
        <p:spPr>
          <a:xfrm>
            <a:off x="457200" y="5166360"/>
            <a:ext cx="11274552" cy="822960"/>
          </a:xfrm>
          <a:prstGeom prst="roundRect">
            <a:avLst>
              <a:gd name="adj" fmla="val 6667"/>
            </a:avLst>
          </a:prstGeom>
          <a:solidFill>
            <a:srgbClr val="FBF1DD"/>
          </a:solidFill>
          <a:ln w="12700">
            <a:solidFill>
              <a:srgbClr val="E8A33D"/>
            </a:solidFill>
            <a:prstDash val="solid"/>
          </a:ln>
        </p:spPr>
      </p:sp>
      <p:pic>
        <p:nvPicPr>
          <p:cNvPr id="35" name="Image 4" descr="preencoded.png">    </p:cNvPr>
          <p:cNvPicPr>
            <a:picLocks noChangeAspect="1"/>
          </p:cNvPicPr>
          <p:nvPr/>
        </p:nvPicPr>
        <p:blipFill>
          <a:blip r:embed="rId5"/>
          <a:stretch>
            <a:fillRect/>
          </a:stretch>
        </p:blipFill>
        <p:spPr>
          <a:xfrm>
            <a:off x="731520" y="5394960"/>
            <a:ext cx="384048" cy="384048"/>
          </a:xfrm>
          <a:prstGeom prst="rect">
            <a:avLst/>
          </a:prstGeom>
        </p:spPr>
      </p:pic>
      <p:sp>
        <p:nvSpPr>
          <p:cNvPr id="36" name="Text 29"/>
          <p:cNvSpPr/>
          <p:nvPr/>
        </p:nvSpPr>
        <p:spPr>
          <a:xfrm>
            <a:off x="1280160" y="5285232"/>
            <a:ext cx="10241280" cy="594360"/>
          </a:xfrm>
          <a:prstGeom prst="rect">
            <a:avLst/>
          </a:prstGeom>
          <a:noFill/>
          <a:ln/>
        </p:spPr>
        <p:txBody>
          <a:bodyPr wrap="square" lIns="0" tIns="0" rIns="0" bIns="0" rtlCol="0" anchor="ctr"/>
          <a:lstStyle/>
          <a:p>
            <a:pPr indent="0" marL="0">
              <a:lnSpc>
                <a:spcPct val="105000"/>
              </a:lnSpc>
              <a:buNone/>
            </a:pPr>
            <a:r>
              <a:rPr lang="en-US" sz="1350" b="1" dirty="0">
                <a:solidFill>
                  <a:srgbClr val="1B2A4A"/>
                </a:solidFill>
                <a:latin typeface="Calibri" pitchFamily="34" charset="0"/>
                <a:ea typeface="Calibri" pitchFamily="34" charset="-122"/>
                <a:cs typeface="Calibri" pitchFamily="34" charset="-120"/>
              </a:rPr>
              <a:t>Don't aim for the perfect prompt. </a:t>
            </a:r>
            <a:pPr indent="0" marL="0">
              <a:lnSpc>
                <a:spcPct val="105000"/>
              </a:lnSpc>
              <a:buNone/>
            </a:pPr>
            <a:r>
              <a:rPr lang="en-US" sz="1350" dirty="0">
                <a:solidFill>
                  <a:srgbClr val="3C4A63"/>
                </a:solidFill>
                <a:latin typeface="Calibri" pitchFamily="34" charset="0"/>
                <a:ea typeface="Calibri" pitchFamily="34" charset="-122"/>
                <a:cs typeface="Calibri" pitchFamily="34" charset="-120"/>
              </a:rPr>
              <a:t>Get a rough draft, then steer: “make it shorter,” “more formal,” “add a deadline line.” Conversation beats perfection.</a:t>
            </a:r>
            <a:endParaRPr lang="en-US" sz="1350" dirty="0"/>
          </a:p>
        </p:txBody>
      </p:sp>
      <p:sp>
        <p:nvSpPr>
          <p:cNvPr id="38" name="Text 30"/>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39" name="Text 31"/>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8A33D"/>
          </a:solidFill>
          <a:ln/>
        </p:spPr>
      </p:sp>
      <p:sp>
        <p:nvSpPr>
          <p:cNvPr id="3" name="Shape 1"/>
          <p:cNvSpPr/>
          <p:nvPr/>
        </p:nvSpPr>
        <p:spPr>
          <a:xfrm>
            <a:off x="0" y="6711696"/>
            <a:ext cx="12188952" cy="146304"/>
          </a:xfrm>
          <a:prstGeom prst="rect">
            <a:avLst/>
          </a:prstGeom>
          <a:solidFill>
            <a:srgbClr val="E8A33D"/>
          </a:solidFill>
          <a:ln/>
        </p:spPr>
      </p:sp>
      <p:sp>
        <p:nvSpPr>
          <p:cNvPr id="4" name="Shape 2"/>
          <p:cNvSpPr/>
          <p:nvPr/>
        </p:nvSpPr>
        <p:spPr>
          <a:xfrm>
            <a:off x="7955280" y="1554480"/>
            <a:ext cx="3749040" cy="3749040"/>
          </a:xfrm>
          <a:prstGeom prst="ellipse">
            <a:avLst/>
          </a:prstGeom>
          <a:solidFill>
            <a:srgbClr val="24385F"/>
          </a:solidFill>
          <a:ln/>
        </p:spPr>
      </p:sp>
      <p:pic>
        <p:nvPicPr>
          <p:cNvPr id="5" name="Image 0" descr="preencoded.png">    </p:cNvPr>
          <p:cNvPicPr>
            <a:picLocks noChangeAspect="1"/>
          </p:cNvPicPr>
          <p:nvPr/>
        </p:nvPicPr>
        <p:blipFill>
          <a:blip r:embed="rId1"/>
          <a:stretch>
            <a:fillRect/>
          </a:stretch>
        </p:blipFill>
        <p:spPr>
          <a:xfrm>
            <a:off x="9052560" y="2651760"/>
            <a:ext cx="1554480" cy="1554480"/>
          </a:xfrm>
          <a:prstGeom prst="rect">
            <a:avLst/>
          </a:prstGeom>
        </p:spPr>
      </p:pic>
      <p:sp>
        <p:nvSpPr>
          <p:cNvPr id="6" name="Text 3"/>
          <p:cNvSpPr/>
          <p:nvPr/>
        </p:nvSpPr>
        <p:spPr>
          <a:xfrm>
            <a:off x="822960" y="2331720"/>
            <a:ext cx="6400800" cy="365760"/>
          </a:xfrm>
          <a:prstGeom prst="rect">
            <a:avLst/>
          </a:prstGeom>
          <a:noFill/>
          <a:ln/>
        </p:spPr>
        <p:txBody>
          <a:bodyPr wrap="square" lIns="0" tIns="0" rIns="0" bIns="0" rtlCol="0" anchor="ctr"/>
          <a:lstStyle/>
          <a:p>
            <a:pPr indent="0" marL="0">
              <a:buNone/>
            </a:pPr>
            <a:r>
              <a:rPr lang="en-US" sz="1500" b="1" spc="200" kern="0" dirty="0">
                <a:solidFill>
                  <a:srgbClr val="5FB3B3"/>
                </a:solidFill>
                <a:latin typeface="Calibri" pitchFamily="34" charset="0"/>
                <a:ea typeface="Calibri" pitchFamily="34" charset="-122"/>
                <a:cs typeface="Calibri" pitchFamily="34" charset="-120"/>
              </a:rPr>
              <a:t>DEMO · OUTLOOK</a:t>
            </a:r>
            <a:endParaRPr lang="en-US" sz="1500" dirty="0"/>
          </a:p>
        </p:txBody>
      </p:sp>
      <p:sp>
        <p:nvSpPr>
          <p:cNvPr id="7" name="Text 4"/>
          <p:cNvSpPr/>
          <p:nvPr/>
        </p:nvSpPr>
        <p:spPr>
          <a:xfrm>
            <a:off x="777240" y="2743200"/>
            <a:ext cx="6949440" cy="109728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Georgia" pitchFamily="34" charset="0"/>
                <a:ea typeface="Georgia" pitchFamily="34" charset="-122"/>
                <a:cs typeface="Georgia" pitchFamily="34" charset="-120"/>
              </a:rPr>
              <a:t>Email, faster</a:t>
            </a:r>
            <a:endParaRPr lang="en-US" sz="4000" dirty="0"/>
          </a:p>
        </p:txBody>
      </p:sp>
      <p:sp>
        <p:nvSpPr>
          <p:cNvPr id="8" name="Text 5"/>
          <p:cNvSpPr/>
          <p:nvPr/>
        </p:nvSpPr>
        <p:spPr>
          <a:xfrm>
            <a:off x="822960" y="3931920"/>
            <a:ext cx="6675120" cy="914400"/>
          </a:xfrm>
          <a:prstGeom prst="rect">
            <a:avLst/>
          </a:prstGeom>
          <a:noFill/>
          <a:ln/>
        </p:spPr>
        <p:txBody>
          <a:bodyPr wrap="square" lIns="0" tIns="0" rIns="0" bIns="0" rtlCol="0" anchor="ctr"/>
          <a:lstStyle/>
          <a:p>
            <a:pPr indent="0" marL="0">
              <a:lnSpc>
                <a:spcPct val="115000"/>
              </a:lnSpc>
              <a:buNone/>
            </a:pPr>
            <a:r>
              <a:rPr lang="en-US" sz="1600" dirty="0">
                <a:solidFill>
                  <a:srgbClr val="C7D2E2"/>
                </a:solidFill>
                <a:latin typeface="Calibri" pitchFamily="34" charset="0"/>
                <a:ea typeface="Calibri" pitchFamily="34" charset="-122"/>
                <a:cs typeface="Calibri" pitchFamily="34" charset="-120"/>
              </a:rPr>
              <a:t>Drafting from scratch, summarizing a tangled thread, and adjusting tone before you hit send.</a:t>
            </a:r>
            <a:endParaRPr lang="en-US" sz="1600" dirty="0"/>
          </a:p>
        </p:txBody>
      </p:sp>
      <p:sp>
        <p:nvSpPr>
          <p:cNvPr id="10" name="Text 6"/>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1" name="Text 7"/>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OUTLOOK DEMO · DEMO PACK §1</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Messy thread → clear status update</a:t>
            </a:r>
            <a:endParaRPr lang="en-US" sz="3000" dirty="0"/>
          </a:p>
        </p:txBody>
      </p:sp>
      <p:sp>
        <p:nvSpPr>
          <p:cNvPr id="5" name="Shape 3"/>
          <p:cNvSpPr/>
          <p:nvPr/>
        </p:nvSpPr>
        <p:spPr>
          <a:xfrm>
            <a:off x="457200" y="1783080"/>
            <a:ext cx="5486400" cy="4160520"/>
          </a:xfrm>
          <a:prstGeom prst="roundRect">
            <a:avLst>
              <a:gd name="adj" fmla="val 1319"/>
            </a:avLst>
          </a:prstGeom>
          <a:solidFill>
            <a:srgbClr val="1B2A4A"/>
          </a:solidFill>
          <a:ln/>
          <a:effectLst>
            <a:outerShdw sx="100000" sy="100000" kx="0" ky="0" algn="bl" rotWithShape="0" blurRad="88900" dist="38100" dir="8100000">
              <a:srgbClr val="000000">
                <a:alpha val="16000"/>
              </a:srgbClr>
            </a:outerShdw>
          </a:effectLst>
        </p:spPr>
      </p:sp>
      <p:sp>
        <p:nvSpPr>
          <p:cNvPr id="6" name="Text 4"/>
          <p:cNvSpPr/>
          <p:nvPr/>
        </p:nvSpPr>
        <p:spPr>
          <a:xfrm>
            <a:off x="685800" y="1911096"/>
            <a:ext cx="5029200"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WHAT YOU PASTE INTO CLAUDE</a:t>
            </a:r>
            <a:endParaRPr lang="en-US" sz="1000" dirty="0"/>
          </a:p>
        </p:txBody>
      </p:sp>
      <p:sp>
        <p:nvSpPr>
          <p:cNvPr id="7" name="Text 5"/>
          <p:cNvSpPr/>
          <p:nvPr/>
        </p:nvSpPr>
        <p:spPr>
          <a:xfrm>
            <a:off x="685800" y="2203704"/>
            <a:ext cx="5029200" cy="361188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You're my chief of staff.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Below is a long email thread about the
Website Redesign project. Write a status
update I can send to leadership.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Use four short sections: Status, What’s
done, What’s next, Risks. Plain language,
under 150 words. Flag anything that needs
a decision.
</a:t>
            </a:r>
            <a:endParaRPr lang="en-US" sz="1250" dirty="0"/>
          </a:p>
          <a:p>
            <a:pPr indent="0" marL="0">
              <a:lnSpc>
                <a:spcPct val="108000"/>
              </a:lnSpc>
              <a:buNone/>
            </a:pPr>
            <a:r>
              <a:rPr lang="en-US" sz="1250" dirty="0">
                <a:solidFill>
                  <a:srgbClr val="9FB0C9"/>
                </a:solidFill>
                <a:latin typeface="Consolas" pitchFamily="34" charset="0"/>
                <a:ea typeface="Consolas" pitchFamily="34" charset="-122"/>
                <a:cs typeface="Consolas" pitchFamily="34" charset="-120"/>
              </a:rPr>
              <a:t>[paste the whole email thread here]</a:t>
            </a:r>
            <a:endParaRPr lang="en-US" sz="1250" dirty="0"/>
          </a:p>
        </p:txBody>
      </p:sp>
      <p:sp>
        <p:nvSpPr>
          <p:cNvPr id="8" name="Shape 6"/>
          <p:cNvSpPr/>
          <p:nvPr/>
        </p:nvSpPr>
        <p:spPr>
          <a:xfrm>
            <a:off x="6217920" y="1783080"/>
            <a:ext cx="553212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9" name="Text 7"/>
          <p:cNvSpPr/>
          <p:nvPr/>
        </p:nvSpPr>
        <p:spPr>
          <a:xfrm>
            <a:off x="6446520" y="1938528"/>
            <a:ext cx="5029200" cy="320040"/>
          </a:xfrm>
          <a:prstGeom prst="rect">
            <a:avLst/>
          </a:prstGeom>
          <a:noFill/>
          <a:ln/>
        </p:spPr>
        <p:txBody>
          <a:bodyPr wrap="square" lIns="0" tIns="0" rIns="0" bIns="0" rtlCol="0" anchor="ctr"/>
          <a:lstStyle/>
          <a:p>
            <a:pPr indent="0" marL="0">
              <a:buNone/>
            </a:pPr>
            <a:r>
              <a:rPr lang="en-US" sz="1100" b="1" spc="150" kern="0" dirty="0">
                <a:solidFill>
                  <a:srgbClr val="2C8C8C"/>
                </a:solidFill>
                <a:latin typeface="Calibri" pitchFamily="34" charset="0"/>
                <a:ea typeface="Calibri" pitchFamily="34" charset="-122"/>
                <a:cs typeface="Calibri" pitchFamily="34" charset="-120"/>
              </a:rPr>
              <a:t>What comes back</a:t>
            </a:r>
            <a:endParaRPr lang="en-US" sz="1100" dirty="0"/>
          </a:p>
        </p:txBody>
      </p:sp>
      <p:sp>
        <p:nvSpPr>
          <p:cNvPr id="10" name="Text 8"/>
          <p:cNvSpPr/>
          <p:nvPr/>
        </p:nvSpPr>
        <p:spPr>
          <a:xfrm>
            <a:off x="6446520" y="2286000"/>
            <a:ext cx="5074920" cy="3520440"/>
          </a:xfrm>
          <a:prstGeom prst="rect">
            <a:avLst/>
          </a:prstGeom>
          <a:noFill/>
          <a:ln/>
        </p:spPr>
        <p:txBody>
          <a:bodyPr wrap="square" lIns="0" tIns="0" rIns="0" bIns="0" rtlCol="0" anchor="t"/>
          <a:lstStyle/>
          <a:p>
            <a:pPr indent="0" marL="0">
              <a:lnSpc>
                <a:spcPct val="106000"/>
              </a:lnSpc>
              <a:buNone/>
            </a:pPr>
            <a:r>
              <a:rPr lang="en-US" sz="1300" b="1" dirty="0">
                <a:solidFill>
                  <a:srgbClr val="1B2533"/>
                </a:solidFill>
                <a:latin typeface="Calibri" pitchFamily="34" charset="0"/>
                <a:ea typeface="Calibri" pitchFamily="34" charset="-122"/>
                <a:cs typeface="Calibri" pitchFamily="34" charset="-120"/>
              </a:rPr>
              <a:t>Status: On track for the June 30 launch.
</a:t>
            </a:r>
            <a:endParaRPr lang="en-US" sz="1300" dirty="0"/>
          </a:p>
          <a:p>
            <a:pPr indent="0" marL="0">
              <a:lnSpc>
                <a:spcPct val="106000"/>
              </a:lnSpc>
              <a:buNone/>
            </a:pPr>
            <a:r>
              <a:rPr lang="en-US" sz="1300" b="1" dirty="0">
                <a:solidFill>
                  <a:srgbClr val="1B2A4A"/>
                </a:solidFill>
                <a:latin typeface="Calibri" pitchFamily="34" charset="0"/>
                <a:ea typeface="Calibri" pitchFamily="34" charset="-122"/>
                <a:cs typeface="Calibri" pitchFamily="34" charset="-120"/>
              </a:rPr>
              <a:t>What's done
</a:t>
            </a:r>
            <a:endParaRPr lang="en-US" sz="1300" dirty="0"/>
          </a:p>
          <a:p>
            <a:pPr indent="0" marL="0">
              <a:lnSpc>
                <a:spcPct val="106000"/>
              </a:lnSpc>
              <a:buNone/>
            </a:pPr>
            <a:r>
              <a:rPr lang="en-US" sz="1300" dirty="0">
                <a:solidFill>
                  <a:srgbClr val="1B2533"/>
                </a:solidFill>
                <a:latin typeface="Calibri" pitchFamily="34" charset="0"/>
                <a:ea typeface="Calibri" pitchFamily="34" charset="-122"/>
                <a:cs typeface="Calibri" pitchFamily="34" charset="-120"/>
              </a:rPr>
              <a:t>Homepage and nav approved; content migrated for 8 of 10 pages.
</a:t>
            </a:r>
            <a:endParaRPr lang="en-US" sz="1300" dirty="0"/>
          </a:p>
          <a:p>
            <a:pPr indent="0" marL="0">
              <a:lnSpc>
                <a:spcPct val="106000"/>
              </a:lnSpc>
              <a:buNone/>
            </a:pPr>
            <a:r>
              <a:rPr lang="en-US" sz="1300" b="1" dirty="0">
                <a:solidFill>
                  <a:srgbClr val="1B2A4A"/>
                </a:solidFill>
                <a:latin typeface="Calibri" pitchFamily="34" charset="0"/>
                <a:ea typeface="Calibri" pitchFamily="34" charset="-122"/>
                <a:cs typeface="Calibri" pitchFamily="34" charset="-120"/>
              </a:rPr>
              <a:t>What's next
</a:t>
            </a:r>
            <a:endParaRPr lang="en-US" sz="1300" dirty="0"/>
          </a:p>
          <a:p>
            <a:pPr indent="0" marL="0">
              <a:lnSpc>
                <a:spcPct val="106000"/>
              </a:lnSpc>
              <a:buNone/>
            </a:pPr>
            <a:r>
              <a:rPr lang="en-US" sz="1300" dirty="0">
                <a:solidFill>
                  <a:srgbClr val="1B2533"/>
                </a:solidFill>
                <a:latin typeface="Calibri" pitchFamily="34" charset="0"/>
                <a:ea typeface="Calibri" pitchFamily="34" charset="-122"/>
                <a:cs typeface="Calibri" pitchFamily="34" charset="-120"/>
              </a:rPr>
              <a:t>Final review of product pages this week; accessibility check Friday.
</a:t>
            </a:r>
            <a:endParaRPr lang="en-US" sz="1300" dirty="0"/>
          </a:p>
          <a:p>
            <a:pPr indent="0" marL="0">
              <a:lnSpc>
                <a:spcPct val="106000"/>
              </a:lnSpc>
              <a:buNone/>
            </a:pPr>
            <a:r>
              <a:rPr lang="en-US" sz="1300" b="1" dirty="0">
                <a:solidFill>
                  <a:srgbClr val="B5532E"/>
                </a:solidFill>
                <a:latin typeface="Calibri" pitchFamily="34" charset="0"/>
                <a:ea typeface="Calibri" pitchFamily="34" charset="-122"/>
                <a:cs typeface="Calibri" pitchFamily="34" charset="-120"/>
              </a:rPr>
              <a:t>Risks / decisions needed
</a:t>
            </a:r>
            <a:endParaRPr lang="en-US" sz="1300" dirty="0"/>
          </a:p>
          <a:p>
            <a:pPr indent="0" marL="0">
              <a:lnSpc>
                <a:spcPct val="106000"/>
              </a:lnSpc>
              <a:buNone/>
            </a:pPr>
            <a:r>
              <a:rPr lang="en-US" sz="1300" dirty="0">
                <a:solidFill>
                  <a:srgbClr val="1B2533"/>
                </a:solidFill>
                <a:latin typeface="Calibri" pitchFamily="34" charset="0"/>
                <a:ea typeface="Calibri" pitchFamily="34" charset="-122"/>
                <a:cs typeface="Calibri" pitchFamily="34" charset="-120"/>
              </a:rPr>
              <a:t>Photography is 3 days late, need a go/no-go on a stock placeholder by Wed.</a:t>
            </a:r>
            <a:endParaRPr lang="en-US" sz="1300" dirty="0"/>
          </a:p>
        </p:txBody>
      </p:sp>
      <p:sp>
        <p:nvSpPr>
          <p:cNvPr id="12" name="Text 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3" name="Text 1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OUTLOOK DEMO · DEMO PACK §2</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Adjust tone, and draft the reply for you</a:t>
            </a:r>
            <a:endParaRPr lang="en-US" sz="3000" dirty="0"/>
          </a:p>
        </p:txBody>
      </p:sp>
      <p:sp>
        <p:nvSpPr>
          <p:cNvPr id="5" name="Shape 3"/>
          <p:cNvSpPr/>
          <p:nvPr/>
        </p:nvSpPr>
        <p:spPr>
          <a:xfrm>
            <a:off x="457200" y="1783080"/>
            <a:ext cx="548640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Text 4"/>
          <p:cNvSpPr/>
          <p:nvPr/>
        </p:nvSpPr>
        <p:spPr>
          <a:xfrm>
            <a:off x="685800" y="1984248"/>
            <a:ext cx="5029200" cy="365760"/>
          </a:xfrm>
          <a:prstGeom prst="rect">
            <a:avLst/>
          </a:prstGeom>
          <a:noFill/>
          <a:ln/>
        </p:spPr>
        <p:txBody>
          <a:bodyPr wrap="square" lIns="0" tIns="0" rIns="0" bIns="0" rtlCol="0" anchor="ctr"/>
          <a:lstStyle/>
          <a:p>
            <a:pPr indent="0" marL="0">
              <a:buNone/>
            </a:pPr>
            <a:r>
              <a:rPr lang="en-US" sz="1700" b="1" dirty="0">
                <a:solidFill>
                  <a:srgbClr val="1B2A4A"/>
                </a:solidFill>
                <a:latin typeface="Georgia" pitchFamily="34" charset="0"/>
                <a:ea typeface="Georgia" pitchFamily="34" charset="-122"/>
                <a:cs typeface="Georgia" pitchFamily="34" charset="-120"/>
              </a:rPr>
              <a:t>Fix the tone of something you wrote</a:t>
            </a:r>
            <a:endParaRPr lang="en-US" sz="1700" dirty="0"/>
          </a:p>
        </p:txBody>
      </p:sp>
      <p:sp>
        <p:nvSpPr>
          <p:cNvPr id="7" name="Shape 5"/>
          <p:cNvSpPr/>
          <p:nvPr/>
        </p:nvSpPr>
        <p:spPr>
          <a:xfrm>
            <a:off x="658368" y="2496312"/>
            <a:ext cx="5084064" cy="1417320"/>
          </a:xfrm>
          <a:prstGeom prst="roundRect">
            <a:avLst>
              <a:gd name="adj" fmla="val 3871"/>
            </a:avLst>
          </a:prstGeom>
          <a:solidFill>
            <a:srgbClr val="1B2A4A"/>
          </a:solidFill>
          <a:ln/>
          <a:effectLst>
            <a:outerShdw sx="100000" sy="100000" kx="0" ky="0" algn="bl" rotWithShape="0" blurRad="88900" dist="38100" dir="8100000">
              <a:srgbClr val="000000">
                <a:alpha val="16000"/>
              </a:srgbClr>
            </a:outerShdw>
          </a:effectLst>
        </p:spPr>
      </p:sp>
      <p:sp>
        <p:nvSpPr>
          <p:cNvPr id="8" name="Text 6"/>
          <p:cNvSpPr/>
          <p:nvPr/>
        </p:nvSpPr>
        <p:spPr>
          <a:xfrm>
            <a:off x="886968" y="2624328"/>
            <a:ext cx="4626864"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PROMPT</a:t>
            </a:r>
            <a:endParaRPr lang="en-US" sz="1000" dirty="0"/>
          </a:p>
        </p:txBody>
      </p:sp>
      <p:sp>
        <p:nvSpPr>
          <p:cNvPr id="9" name="Text 7"/>
          <p:cNvSpPr/>
          <p:nvPr/>
        </p:nvSpPr>
        <p:spPr>
          <a:xfrm>
            <a:off x="886968" y="2916936"/>
            <a:ext cx="4626864" cy="86868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Here's a reply I drafted while annoyed.</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Rewrite it to stay firm but professional</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and calm. Keep it short.</a:t>
            </a:r>
            <a:endParaRPr lang="en-US" sz="1250" dirty="0"/>
          </a:p>
          <a:p>
            <a:pPr indent="0" marL="0">
              <a:lnSpc>
                <a:spcPct val="108000"/>
              </a:lnSpc>
              <a:buNone/>
            </a:pP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[paste your draft]</a:t>
            </a:r>
            <a:endParaRPr lang="en-US" sz="1250" dirty="0"/>
          </a:p>
        </p:txBody>
      </p:sp>
      <p:sp>
        <p:nvSpPr>
          <p:cNvPr id="10" name="Text 8"/>
          <p:cNvSpPr/>
          <p:nvPr/>
        </p:nvSpPr>
        <p:spPr>
          <a:xfrm>
            <a:off x="685800" y="4114800"/>
            <a:ext cx="5029200" cy="1554480"/>
          </a:xfrm>
          <a:prstGeom prst="rect">
            <a:avLst/>
          </a:prstGeom>
          <a:noFill/>
          <a:ln/>
        </p:spPr>
        <p:txBody>
          <a:bodyPr wrap="square" lIns="0" tIns="0" rIns="0" bIns="0" rtlCol="0" anchor="t"/>
          <a:lstStyle/>
          <a:p>
            <a:pPr indent="0" marL="0">
              <a:lnSpc>
                <a:spcPct val="112000"/>
              </a:lnSpc>
              <a:buNone/>
            </a:pPr>
            <a:r>
              <a:rPr lang="en-US" sz="1350" b="1" dirty="0">
                <a:solidFill>
                  <a:srgbClr val="2C8C8C"/>
                </a:solidFill>
                <a:latin typeface="Calibri" pitchFamily="34" charset="0"/>
                <a:ea typeface="Calibri" pitchFamily="34" charset="-122"/>
                <a:cs typeface="Calibri" pitchFamily="34" charset="-120"/>
              </a:rPr>
              <a:t>Also try: </a:t>
            </a:r>
            <a:pPr indent="0" marL="0">
              <a:lnSpc>
                <a:spcPct val="112000"/>
              </a:lnSpc>
              <a:buNone/>
            </a:pPr>
            <a:r>
              <a:rPr lang="en-US" sz="1350" dirty="0">
                <a:solidFill>
                  <a:srgbClr val="3C4A63"/>
                </a:solidFill>
                <a:latin typeface="Calibri" pitchFamily="34" charset="0"/>
                <a:ea typeface="Calibri" pitchFamily="34" charset="-122"/>
                <a:cs typeface="Calibri" pitchFamily="34" charset="-120"/>
              </a:rPr>
              <a:t>“more formal,” “warmer,” “more concise,” “sound less robotic,” “match the tone of the email I'm replying to.”</a:t>
            </a:r>
            <a:endParaRPr lang="en-US" sz="1350" dirty="0"/>
          </a:p>
        </p:txBody>
      </p:sp>
      <p:sp>
        <p:nvSpPr>
          <p:cNvPr id="11" name="Shape 9"/>
          <p:cNvSpPr/>
          <p:nvPr/>
        </p:nvSpPr>
        <p:spPr>
          <a:xfrm>
            <a:off x="6217920" y="1783080"/>
            <a:ext cx="553212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Text 10"/>
          <p:cNvSpPr/>
          <p:nvPr/>
        </p:nvSpPr>
        <p:spPr>
          <a:xfrm>
            <a:off x="6446520" y="1984248"/>
            <a:ext cx="5029200" cy="365760"/>
          </a:xfrm>
          <a:prstGeom prst="rect">
            <a:avLst/>
          </a:prstGeom>
          <a:noFill/>
          <a:ln/>
        </p:spPr>
        <p:txBody>
          <a:bodyPr wrap="square" lIns="0" tIns="0" rIns="0" bIns="0" rtlCol="0" anchor="ctr"/>
          <a:lstStyle/>
          <a:p>
            <a:pPr indent="0" marL="0">
              <a:buNone/>
            </a:pPr>
            <a:r>
              <a:rPr lang="en-US" sz="1700" b="1" dirty="0">
                <a:solidFill>
                  <a:srgbClr val="1B2A4A"/>
                </a:solidFill>
                <a:latin typeface="Georgia" pitchFamily="34" charset="0"/>
                <a:ea typeface="Georgia" pitchFamily="34" charset="-122"/>
                <a:cs typeface="Georgia" pitchFamily="34" charset="-120"/>
              </a:rPr>
              <a:t>Reply from a few bullet points</a:t>
            </a:r>
            <a:endParaRPr lang="en-US" sz="1700" dirty="0"/>
          </a:p>
        </p:txBody>
      </p:sp>
      <p:sp>
        <p:nvSpPr>
          <p:cNvPr id="13" name="Shape 11"/>
          <p:cNvSpPr/>
          <p:nvPr/>
        </p:nvSpPr>
        <p:spPr>
          <a:xfrm>
            <a:off x="6419088" y="2496312"/>
            <a:ext cx="5129784" cy="1783080"/>
          </a:xfrm>
          <a:prstGeom prst="roundRect">
            <a:avLst>
              <a:gd name="adj" fmla="val 3077"/>
            </a:avLst>
          </a:prstGeom>
          <a:solidFill>
            <a:srgbClr val="1B2A4A"/>
          </a:solidFill>
          <a:ln/>
          <a:effectLst>
            <a:outerShdw sx="100000" sy="100000" kx="0" ky="0" algn="bl" rotWithShape="0" blurRad="88900" dist="38100" dir="8100000">
              <a:srgbClr val="000000">
                <a:alpha val="16000"/>
              </a:srgbClr>
            </a:outerShdw>
          </a:effectLst>
        </p:spPr>
      </p:sp>
      <p:sp>
        <p:nvSpPr>
          <p:cNvPr id="14" name="Text 12"/>
          <p:cNvSpPr/>
          <p:nvPr/>
        </p:nvSpPr>
        <p:spPr>
          <a:xfrm>
            <a:off x="6647688" y="2624328"/>
            <a:ext cx="4672584"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PROMPT</a:t>
            </a:r>
            <a:endParaRPr lang="en-US" sz="1000" dirty="0"/>
          </a:p>
        </p:txBody>
      </p:sp>
      <p:sp>
        <p:nvSpPr>
          <p:cNvPr id="15" name="Text 13"/>
          <p:cNvSpPr/>
          <p:nvPr/>
        </p:nvSpPr>
        <p:spPr>
          <a:xfrm>
            <a:off x="6647688" y="2916936"/>
            <a:ext cx="4672584" cy="123444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Draft a reply to this email. I want to say:</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 yes to the Tuesday meeting</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 push the budget talk to next week</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 ask them to send the deck first</a:t>
            </a:r>
            <a:endParaRPr lang="en-US" sz="1250" dirty="0"/>
          </a:p>
          <a:p>
            <a:pPr indent="0" marL="0">
              <a:lnSpc>
                <a:spcPct val="108000"/>
              </a:lnSpc>
              <a:buNone/>
            </a:pP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Friendly, three short paragraphs.</a:t>
            </a:r>
            <a:endParaRPr lang="en-US" sz="1250" dirty="0"/>
          </a:p>
          <a:p>
            <a:pPr indent="0" marL="0">
              <a:lnSpc>
                <a:spcPct val="108000"/>
              </a:lnSpc>
              <a:buNone/>
            </a:pP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[paste the email]</a:t>
            </a:r>
            <a:endParaRPr lang="en-US" sz="1250" dirty="0"/>
          </a:p>
        </p:txBody>
      </p:sp>
      <p:sp>
        <p:nvSpPr>
          <p:cNvPr id="16" name="Text 14"/>
          <p:cNvSpPr/>
          <p:nvPr/>
        </p:nvSpPr>
        <p:spPr>
          <a:xfrm>
            <a:off x="6446520" y="4480560"/>
            <a:ext cx="5029200" cy="1280160"/>
          </a:xfrm>
          <a:prstGeom prst="rect">
            <a:avLst/>
          </a:prstGeom>
          <a:noFill/>
          <a:ln/>
        </p:spPr>
        <p:txBody>
          <a:bodyPr wrap="square" lIns="0" tIns="0" rIns="0" bIns="0" rtlCol="0" anchor="t"/>
          <a:lstStyle/>
          <a:p>
            <a:pPr indent="0" marL="0">
              <a:lnSpc>
                <a:spcPct val="112000"/>
              </a:lnSpc>
              <a:buNone/>
            </a:pPr>
            <a:r>
              <a:rPr lang="en-US" sz="1350" dirty="0">
                <a:solidFill>
                  <a:srgbClr val="3C4A63"/>
                </a:solidFill>
                <a:latin typeface="Calibri" pitchFamily="34" charset="0"/>
                <a:ea typeface="Calibri" pitchFamily="34" charset="-122"/>
                <a:cs typeface="Calibri" pitchFamily="34" charset="-120"/>
              </a:rPr>
              <a:t>You give the gist in bullets; </a:t>
            </a:r>
            <a:pPr indent="0" marL="0">
              <a:lnSpc>
                <a:spcPct val="112000"/>
              </a:lnSpc>
              <a:buNone/>
            </a:pPr>
            <a:r>
              <a:rPr lang="en-US" sz="1350" b="1" dirty="0">
                <a:solidFill>
                  <a:srgbClr val="1B2A4A"/>
                </a:solidFill>
                <a:latin typeface="Calibri" pitchFamily="34" charset="0"/>
                <a:ea typeface="Calibri" pitchFamily="34" charset="-122"/>
                <a:cs typeface="Calibri" pitchFamily="34" charset="-120"/>
              </a:rPr>
              <a:t>Claude writes the polished prose.</a:t>
            </a:r>
            <a:endParaRPr lang="en-US" sz="1350" dirty="0"/>
          </a:p>
        </p:txBody>
      </p:sp>
      <p:sp>
        <p:nvSpPr>
          <p:cNvPr id="18" name="Text 15"/>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9" name="Text 16"/>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2C8C8C"/>
          </a:solidFill>
          <a:ln/>
        </p:spPr>
      </p:sp>
      <p:sp>
        <p:nvSpPr>
          <p:cNvPr id="3" name="Shape 1"/>
          <p:cNvSpPr/>
          <p:nvPr/>
        </p:nvSpPr>
        <p:spPr>
          <a:xfrm>
            <a:off x="0" y="6711696"/>
            <a:ext cx="12188952" cy="146304"/>
          </a:xfrm>
          <a:prstGeom prst="rect">
            <a:avLst/>
          </a:prstGeom>
          <a:solidFill>
            <a:srgbClr val="2C8C8C"/>
          </a:solidFill>
          <a:ln/>
        </p:spPr>
      </p:sp>
      <p:sp>
        <p:nvSpPr>
          <p:cNvPr id="4" name="Shape 2"/>
          <p:cNvSpPr/>
          <p:nvPr/>
        </p:nvSpPr>
        <p:spPr>
          <a:xfrm>
            <a:off x="7955280" y="1554480"/>
            <a:ext cx="3749040" cy="3749040"/>
          </a:xfrm>
          <a:prstGeom prst="ellipse">
            <a:avLst/>
          </a:prstGeom>
          <a:solidFill>
            <a:srgbClr val="24385F"/>
          </a:solidFill>
          <a:ln/>
        </p:spPr>
      </p:sp>
      <p:pic>
        <p:nvPicPr>
          <p:cNvPr id="5" name="Image 0" descr="preencoded.png">    </p:cNvPr>
          <p:cNvPicPr>
            <a:picLocks noChangeAspect="1"/>
          </p:cNvPicPr>
          <p:nvPr/>
        </p:nvPicPr>
        <p:blipFill>
          <a:blip r:embed="rId1"/>
          <a:stretch>
            <a:fillRect/>
          </a:stretch>
        </p:blipFill>
        <p:spPr>
          <a:xfrm>
            <a:off x="9052560" y="2651760"/>
            <a:ext cx="1554480" cy="1554480"/>
          </a:xfrm>
          <a:prstGeom prst="rect">
            <a:avLst/>
          </a:prstGeom>
        </p:spPr>
      </p:pic>
      <p:sp>
        <p:nvSpPr>
          <p:cNvPr id="6" name="Text 3"/>
          <p:cNvSpPr/>
          <p:nvPr/>
        </p:nvSpPr>
        <p:spPr>
          <a:xfrm>
            <a:off x="822960" y="2331720"/>
            <a:ext cx="6400800" cy="365760"/>
          </a:xfrm>
          <a:prstGeom prst="rect">
            <a:avLst/>
          </a:prstGeom>
          <a:noFill/>
          <a:ln/>
        </p:spPr>
        <p:txBody>
          <a:bodyPr wrap="square" lIns="0" tIns="0" rIns="0" bIns="0" rtlCol="0" anchor="ctr"/>
          <a:lstStyle/>
          <a:p>
            <a:pPr indent="0" marL="0">
              <a:buNone/>
            </a:pPr>
            <a:r>
              <a:rPr lang="en-US" sz="1500" b="1" spc="200" kern="0" dirty="0">
                <a:solidFill>
                  <a:srgbClr val="5FB3B3"/>
                </a:solidFill>
                <a:latin typeface="Calibri" pitchFamily="34" charset="0"/>
                <a:ea typeface="Calibri" pitchFamily="34" charset="-122"/>
                <a:cs typeface="Calibri" pitchFamily="34" charset="-120"/>
              </a:rPr>
              <a:t>DEMO · WORD</a:t>
            </a:r>
            <a:endParaRPr lang="en-US" sz="1500" dirty="0"/>
          </a:p>
        </p:txBody>
      </p:sp>
      <p:sp>
        <p:nvSpPr>
          <p:cNvPr id="7" name="Text 4"/>
          <p:cNvSpPr/>
          <p:nvPr/>
        </p:nvSpPr>
        <p:spPr>
          <a:xfrm>
            <a:off x="777240" y="2743200"/>
            <a:ext cx="6949440" cy="109728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Georgia" pitchFamily="34" charset="0"/>
                <a:ea typeface="Georgia" pitchFamily="34" charset="-122"/>
                <a:cs typeface="Georgia" pitchFamily="34" charset="-120"/>
              </a:rPr>
              <a:t>Notes → clean documents</a:t>
            </a:r>
            <a:endParaRPr lang="en-US" sz="4000" dirty="0"/>
          </a:p>
        </p:txBody>
      </p:sp>
      <p:sp>
        <p:nvSpPr>
          <p:cNvPr id="8" name="Text 5"/>
          <p:cNvSpPr/>
          <p:nvPr/>
        </p:nvSpPr>
        <p:spPr>
          <a:xfrm>
            <a:off x="822960" y="3931920"/>
            <a:ext cx="6675120" cy="914400"/>
          </a:xfrm>
          <a:prstGeom prst="rect">
            <a:avLst/>
          </a:prstGeom>
          <a:noFill/>
          <a:ln/>
        </p:spPr>
        <p:txBody>
          <a:bodyPr wrap="square" lIns="0" tIns="0" rIns="0" bIns="0" rtlCol="0" anchor="ctr"/>
          <a:lstStyle/>
          <a:p>
            <a:pPr indent="0" marL="0">
              <a:lnSpc>
                <a:spcPct val="115000"/>
              </a:lnSpc>
              <a:buNone/>
            </a:pPr>
            <a:r>
              <a:rPr lang="en-US" sz="1600" dirty="0">
                <a:solidFill>
                  <a:srgbClr val="C7D2E2"/>
                </a:solidFill>
                <a:latin typeface="Calibri" pitchFamily="34" charset="0"/>
                <a:ea typeface="Calibri" pitchFamily="34" charset="-122"/>
                <a:cs typeface="Calibri" pitchFamily="34" charset="-120"/>
              </a:rPr>
              <a:t>Turn raw meeting notes and rough text into a structured, formatted document you can hand off.</a:t>
            </a:r>
            <a:endParaRPr lang="en-US" sz="1600" dirty="0"/>
          </a:p>
        </p:txBody>
      </p:sp>
      <p:sp>
        <p:nvSpPr>
          <p:cNvPr id="10" name="Text 6"/>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1" name="Text 7"/>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WORD DEMO · DEMO PACK §3</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Raw meeting notes → a structured one-pager</a:t>
            </a:r>
            <a:endParaRPr lang="en-US" sz="3000" dirty="0"/>
          </a:p>
        </p:txBody>
      </p:sp>
      <p:sp>
        <p:nvSpPr>
          <p:cNvPr id="5" name="Shape 3"/>
          <p:cNvSpPr/>
          <p:nvPr/>
        </p:nvSpPr>
        <p:spPr>
          <a:xfrm>
            <a:off x="457200" y="1783080"/>
            <a:ext cx="5486400" cy="4160520"/>
          </a:xfrm>
          <a:prstGeom prst="roundRect">
            <a:avLst>
              <a:gd name="adj" fmla="val 1319"/>
            </a:avLst>
          </a:prstGeom>
          <a:solidFill>
            <a:srgbClr val="1B2A4A"/>
          </a:solidFill>
          <a:ln/>
          <a:effectLst>
            <a:outerShdw sx="100000" sy="100000" kx="0" ky="0" algn="bl" rotWithShape="0" blurRad="88900" dist="38100" dir="8100000">
              <a:srgbClr val="000000">
                <a:alpha val="16000"/>
              </a:srgbClr>
            </a:outerShdw>
          </a:effectLst>
        </p:spPr>
      </p:sp>
      <p:sp>
        <p:nvSpPr>
          <p:cNvPr id="6" name="Text 4"/>
          <p:cNvSpPr/>
          <p:nvPr/>
        </p:nvSpPr>
        <p:spPr>
          <a:xfrm>
            <a:off x="685800" y="1911096"/>
            <a:ext cx="5029200"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WHAT YOU PASTE INTO CLAUDE</a:t>
            </a:r>
            <a:endParaRPr lang="en-US" sz="1000" dirty="0"/>
          </a:p>
        </p:txBody>
      </p:sp>
      <p:sp>
        <p:nvSpPr>
          <p:cNvPr id="7" name="Text 5"/>
          <p:cNvSpPr/>
          <p:nvPr/>
        </p:nvSpPr>
        <p:spPr>
          <a:xfrm>
            <a:off x="685800" y="2203704"/>
            <a:ext cx="5029200" cy="361188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Turn these rough meeting notes into a
clean one-page summary for people who
weren't there.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Structure it as: Decisions, Action items
(with owners), Open questions.
Use headings and bullet points.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Keep my facts, don't invent anything.
If something's unclear, list it under
Open questions instead of guessing.
</a:t>
            </a:r>
            <a:endParaRPr lang="en-US" sz="1250" dirty="0"/>
          </a:p>
          <a:p>
            <a:pPr indent="0" marL="0">
              <a:lnSpc>
                <a:spcPct val="108000"/>
              </a:lnSpc>
              <a:buNone/>
            </a:pPr>
            <a:r>
              <a:rPr lang="en-US" sz="1250" dirty="0">
                <a:solidFill>
                  <a:srgbClr val="9FB0C9"/>
                </a:solidFill>
                <a:latin typeface="Consolas" pitchFamily="34" charset="0"/>
                <a:ea typeface="Consolas" pitchFamily="34" charset="-122"/>
                <a:cs typeface="Consolas" pitchFamily="34" charset="-120"/>
              </a:rPr>
              <a:t>[paste your raw notes]</a:t>
            </a:r>
            <a:endParaRPr lang="en-US" sz="1250" dirty="0"/>
          </a:p>
        </p:txBody>
      </p:sp>
      <p:sp>
        <p:nvSpPr>
          <p:cNvPr id="8" name="Shape 6"/>
          <p:cNvSpPr/>
          <p:nvPr/>
        </p:nvSpPr>
        <p:spPr>
          <a:xfrm>
            <a:off x="6217920" y="1783080"/>
            <a:ext cx="553212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9" name="Text 7"/>
          <p:cNvSpPr/>
          <p:nvPr/>
        </p:nvSpPr>
        <p:spPr>
          <a:xfrm>
            <a:off x="6446520" y="1938528"/>
            <a:ext cx="5029200" cy="320040"/>
          </a:xfrm>
          <a:prstGeom prst="rect">
            <a:avLst/>
          </a:prstGeom>
          <a:noFill/>
          <a:ln/>
        </p:spPr>
        <p:txBody>
          <a:bodyPr wrap="square" lIns="0" tIns="0" rIns="0" bIns="0" rtlCol="0" anchor="ctr"/>
          <a:lstStyle/>
          <a:p>
            <a:pPr indent="0" marL="0">
              <a:buNone/>
            </a:pPr>
            <a:r>
              <a:rPr lang="en-US" sz="1100" b="1" spc="150" kern="0" dirty="0">
                <a:solidFill>
                  <a:srgbClr val="2C8C8C"/>
                </a:solidFill>
                <a:latin typeface="Calibri" pitchFamily="34" charset="0"/>
                <a:ea typeface="Calibri" pitchFamily="34" charset="-122"/>
                <a:cs typeface="Calibri" pitchFamily="34" charset="-120"/>
              </a:rPr>
              <a:t>What comes back</a:t>
            </a:r>
            <a:endParaRPr lang="en-US" sz="1100" dirty="0"/>
          </a:p>
        </p:txBody>
      </p:sp>
      <p:sp>
        <p:nvSpPr>
          <p:cNvPr id="10" name="Text 8"/>
          <p:cNvSpPr/>
          <p:nvPr/>
        </p:nvSpPr>
        <p:spPr>
          <a:xfrm>
            <a:off x="6446520" y="2286000"/>
            <a:ext cx="5074920" cy="3520440"/>
          </a:xfrm>
          <a:prstGeom prst="rect">
            <a:avLst/>
          </a:prstGeom>
          <a:noFill/>
          <a:ln/>
        </p:spPr>
        <p:txBody>
          <a:bodyPr wrap="square" lIns="0" tIns="0" rIns="0" bIns="0" rtlCol="0" anchor="t"/>
          <a:lstStyle/>
          <a:p>
            <a:pPr indent="0" marL="0">
              <a:lnSpc>
                <a:spcPct val="108000"/>
              </a:lnSpc>
              <a:buNone/>
            </a:pPr>
            <a:r>
              <a:rPr lang="en-US" sz="1300" b="1" dirty="0">
                <a:solidFill>
                  <a:srgbClr val="1B2A4A"/>
                </a:solidFill>
                <a:latin typeface="Calibri" pitchFamily="34" charset="0"/>
                <a:ea typeface="Calibri" pitchFamily="34" charset="-122"/>
                <a:cs typeface="Calibri" pitchFamily="34" charset="-120"/>
              </a:rPr>
              <a:t>Decisions
</a:t>
            </a:r>
            <a:endParaRPr lang="en-US" sz="1300" dirty="0"/>
          </a:p>
          <a:p>
            <a:pPr indent="0" marL="0">
              <a:lnSpc>
                <a:spcPct val="108000"/>
              </a:lnSpc>
              <a:buNone/>
            </a:pPr>
            <a:r>
              <a:rPr lang="en-US" sz="1300" dirty="0">
                <a:solidFill>
                  <a:srgbClr val="1B2533"/>
                </a:solidFill>
                <a:latin typeface="Calibri" pitchFamily="34" charset="0"/>
                <a:ea typeface="Calibri" pitchFamily="34" charset="-122"/>
                <a:cs typeface="Calibri" pitchFamily="34" charset="-120"/>
              </a:rPr>
              <a:t>• Moving the vendor demo to July 9
• Budget capped at $40k for phase 1
</a:t>
            </a:r>
            <a:endParaRPr lang="en-US" sz="1300" dirty="0"/>
          </a:p>
          <a:p>
            <a:pPr indent="0" marL="0">
              <a:lnSpc>
                <a:spcPct val="108000"/>
              </a:lnSpc>
              <a:buNone/>
            </a:pPr>
            <a:r>
              <a:rPr lang="en-US" sz="1300" b="1" dirty="0">
                <a:solidFill>
                  <a:srgbClr val="1B2A4A"/>
                </a:solidFill>
                <a:latin typeface="Calibri" pitchFamily="34" charset="0"/>
                <a:ea typeface="Calibri" pitchFamily="34" charset="-122"/>
                <a:cs typeface="Calibri" pitchFamily="34" charset="-120"/>
              </a:rPr>
              <a:t>Action items
</a:t>
            </a:r>
            <a:endParaRPr lang="en-US" sz="1300" dirty="0"/>
          </a:p>
          <a:p>
            <a:pPr indent="0" marL="0">
              <a:lnSpc>
                <a:spcPct val="108000"/>
              </a:lnSpc>
              <a:buNone/>
            </a:pPr>
            <a:r>
              <a:rPr lang="en-US" sz="1300" dirty="0">
                <a:solidFill>
                  <a:srgbClr val="1B2533"/>
                </a:solidFill>
                <a:latin typeface="Calibri" pitchFamily="34" charset="0"/>
                <a:ea typeface="Calibri" pitchFamily="34" charset="-122"/>
                <a:cs typeface="Calibri" pitchFamily="34" charset="-120"/>
              </a:rPr>
              <a:t>• Maria, send revised quote (Fri)
• Dev, book the demo room
• Priya, circulate the agenda
</a:t>
            </a:r>
            <a:endParaRPr lang="en-US" sz="1300" dirty="0"/>
          </a:p>
          <a:p>
            <a:pPr indent="0" marL="0">
              <a:lnSpc>
                <a:spcPct val="108000"/>
              </a:lnSpc>
              <a:buNone/>
            </a:pPr>
            <a:r>
              <a:rPr lang="en-US" sz="1300" b="1" dirty="0">
                <a:solidFill>
                  <a:srgbClr val="B5532E"/>
                </a:solidFill>
                <a:latin typeface="Calibri" pitchFamily="34" charset="0"/>
                <a:ea typeface="Calibri" pitchFamily="34" charset="-122"/>
                <a:cs typeface="Calibri" pitchFamily="34" charset="-120"/>
              </a:rPr>
              <a:t>Open questions
</a:t>
            </a:r>
            <a:endParaRPr lang="en-US" sz="1300" dirty="0"/>
          </a:p>
          <a:p>
            <a:pPr indent="0" marL="0">
              <a:lnSpc>
                <a:spcPct val="108000"/>
              </a:lnSpc>
              <a:buNone/>
            </a:pPr>
            <a:r>
              <a:rPr lang="en-US" sz="1300" dirty="0">
                <a:solidFill>
                  <a:srgbClr val="1B2533"/>
                </a:solidFill>
                <a:latin typeface="Calibri" pitchFamily="34" charset="0"/>
                <a:ea typeface="Calibri" pitchFamily="34" charset="-122"/>
                <a:cs typeface="Calibri" pitchFamily="34" charset="-120"/>
              </a:rPr>
              <a:t>• Who signs off on phase 2 scope?</a:t>
            </a:r>
            <a:endParaRPr lang="en-US" sz="1300" dirty="0"/>
          </a:p>
        </p:txBody>
      </p:sp>
      <p:sp>
        <p:nvSpPr>
          <p:cNvPr id="12" name="Text 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3" name="Text 1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WORD DEMO · DEMO PACK §4</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Summarize a long document, your way</a:t>
            </a:r>
            <a:endParaRPr lang="en-US" sz="3000" dirty="0"/>
          </a:p>
        </p:txBody>
      </p:sp>
      <p:sp>
        <p:nvSpPr>
          <p:cNvPr id="5" name="Shape 3"/>
          <p:cNvSpPr/>
          <p:nvPr/>
        </p:nvSpPr>
        <p:spPr>
          <a:xfrm>
            <a:off x="457200" y="1783080"/>
            <a:ext cx="4754880" cy="4160520"/>
          </a:xfrm>
          <a:prstGeom prst="roundRect">
            <a:avLst>
              <a:gd name="adj" fmla="val 1758"/>
            </a:avLst>
          </a:prstGeom>
          <a:solidFill>
            <a:srgbClr val="1B2A4A"/>
          </a:solidFill>
          <a:ln w="12700">
            <a:solidFill>
              <a:srgbClr val="E2E7EF"/>
            </a:solidFill>
            <a:prstDash val="solid"/>
          </a:ln>
          <a:effectLst>
            <a:outerShdw sx="100000" sy="100000" kx="0" ky="0" algn="bl" rotWithShape="0" blurRad="88900" dist="38100" dir="8100000">
              <a:srgbClr val="000000">
                <a:alpha val="16000"/>
              </a:srgbClr>
            </a:outerShdw>
          </a:effectLst>
        </p:spPr>
      </p:sp>
      <p:pic>
        <p:nvPicPr>
          <p:cNvPr id="6" name="Image 0" descr="preencoded.png">    </p:cNvPr>
          <p:cNvPicPr>
            <a:picLocks noChangeAspect="1"/>
          </p:cNvPicPr>
          <p:nvPr/>
        </p:nvPicPr>
        <p:blipFill>
          <a:blip r:embed="rId1"/>
          <a:stretch>
            <a:fillRect/>
          </a:stretch>
        </p:blipFill>
        <p:spPr>
          <a:xfrm>
            <a:off x="777240" y="2057400"/>
            <a:ext cx="640080" cy="640080"/>
          </a:xfrm>
          <a:prstGeom prst="rect">
            <a:avLst/>
          </a:prstGeom>
        </p:spPr>
      </p:pic>
      <p:sp>
        <p:nvSpPr>
          <p:cNvPr id="7" name="Text 4"/>
          <p:cNvSpPr/>
          <p:nvPr/>
        </p:nvSpPr>
        <p:spPr>
          <a:xfrm>
            <a:off x="1554480" y="2121408"/>
            <a:ext cx="3474720" cy="54864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Upload the file, then ask</a:t>
            </a:r>
            <a:endParaRPr lang="en-US" sz="1800" dirty="0"/>
          </a:p>
        </p:txBody>
      </p:sp>
      <p:sp>
        <p:nvSpPr>
          <p:cNvPr id="8" name="Text 5"/>
          <p:cNvSpPr/>
          <p:nvPr/>
        </p:nvSpPr>
        <p:spPr>
          <a:xfrm>
            <a:off x="777240" y="2880360"/>
            <a:ext cx="4206240" cy="731520"/>
          </a:xfrm>
          <a:prstGeom prst="rect">
            <a:avLst/>
          </a:prstGeom>
          <a:noFill/>
          <a:ln/>
        </p:spPr>
        <p:txBody>
          <a:bodyPr wrap="square" lIns="0" tIns="0" rIns="0" bIns="0" rtlCol="0" anchor="ctr"/>
          <a:lstStyle/>
          <a:p>
            <a:pPr indent="0" marL="0">
              <a:lnSpc>
                <a:spcPct val="112000"/>
              </a:lnSpc>
              <a:buNone/>
            </a:pPr>
            <a:r>
              <a:rPr lang="en-US" sz="1350" dirty="0">
                <a:solidFill>
                  <a:srgbClr val="C7D2E2"/>
                </a:solidFill>
                <a:latin typeface="Calibri" pitchFamily="34" charset="0"/>
                <a:ea typeface="Calibri" pitchFamily="34" charset="-122"/>
                <a:cs typeface="Calibri" pitchFamily="34" charset="-120"/>
              </a:rPr>
              <a:t>Drag a Word doc, PDF or report into the chat, then ask anything about it:</a:t>
            </a:r>
            <a:endParaRPr lang="en-US" sz="1350" dirty="0"/>
          </a:p>
        </p:txBody>
      </p:sp>
      <p:sp>
        <p:nvSpPr>
          <p:cNvPr id="9" name="Text 6"/>
          <p:cNvSpPr/>
          <p:nvPr/>
        </p:nvSpPr>
        <p:spPr>
          <a:xfrm>
            <a:off x="777240" y="3611880"/>
            <a:ext cx="4206240" cy="2194560"/>
          </a:xfrm>
          <a:prstGeom prst="rect">
            <a:avLst/>
          </a:prstGeom>
          <a:noFill/>
          <a:ln/>
        </p:spPr>
        <p:txBody>
          <a:bodyPr wrap="square" lIns="0" tIns="0" rIns="0" bIns="0" rtlCol="0" anchor="t"/>
          <a:lstStyle/>
          <a:p>
            <a:pPr indent="0" marL="0">
              <a:lnSpc>
                <a:spcPct val="125000"/>
              </a:lnSpc>
              <a:buNone/>
            </a:pPr>
            <a:r>
              <a:rPr lang="en-US" sz="1300" dirty="0">
                <a:solidFill>
                  <a:srgbClr val="EAF0F7"/>
                </a:solidFill>
                <a:latin typeface="Consolas" pitchFamily="34" charset="0"/>
                <a:ea typeface="Consolas" pitchFamily="34" charset="-122"/>
                <a:cs typeface="Consolas" pitchFamily="34" charset="-120"/>
              </a:rPr>
              <a:t>“Give me the 5 key takeaways.”
</a:t>
            </a:r>
            <a:endParaRPr lang="en-US" sz="1300" dirty="0"/>
          </a:p>
          <a:p>
            <a:pPr indent="0" marL="0">
              <a:lnSpc>
                <a:spcPct val="125000"/>
              </a:lnSpc>
              <a:buNone/>
            </a:pPr>
            <a:r>
              <a:rPr lang="en-US" sz="1300" dirty="0">
                <a:solidFill>
                  <a:srgbClr val="EAF0F7"/>
                </a:solidFill>
                <a:latin typeface="Consolas" pitchFamily="34" charset="0"/>
                <a:ea typeface="Consolas" pitchFamily="34" charset="-122"/>
                <a:cs typeface="Consolas" pitchFamily="34" charset="-120"/>
              </a:rPr>
              <a:t>“What does this mean for my team?”
</a:t>
            </a:r>
            <a:endParaRPr lang="en-US" sz="1300" dirty="0"/>
          </a:p>
          <a:p>
            <a:pPr indent="0" marL="0">
              <a:lnSpc>
                <a:spcPct val="125000"/>
              </a:lnSpc>
              <a:buNone/>
            </a:pPr>
            <a:r>
              <a:rPr lang="en-US" sz="1300" dirty="0">
                <a:solidFill>
                  <a:srgbClr val="EAF0F7"/>
                </a:solidFill>
                <a:latin typeface="Consolas" pitchFamily="34" charset="0"/>
                <a:ea typeface="Consolas" pitchFamily="34" charset="-122"/>
                <a:cs typeface="Consolas" pitchFamily="34" charset="-120"/>
              </a:rPr>
              <a:t>“Pull out every deadline and number.”
</a:t>
            </a:r>
            <a:endParaRPr lang="en-US" sz="1300" dirty="0"/>
          </a:p>
          <a:p>
            <a:pPr indent="0" marL="0">
              <a:lnSpc>
                <a:spcPct val="125000"/>
              </a:lnSpc>
              <a:buNone/>
            </a:pPr>
            <a:r>
              <a:rPr lang="en-US" sz="1300" dirty="0">
                <a:solidFill>
                  <a:srgbClr val="EAF0F7"/>
                </a:solidFill>
                <a:latin typeface="Consolas" pitchFamily="34" charset="0"/>
                <a:ea typeface="Consolas" pitchFamily="34" charset="-122"/>
                <a:cs typeface="Consolas" pitchFamily="34" charset="-120"/>
              </a:rPr>
              <a:t>“Explain section 3 in plain English.”</a:t>
            </a:r>
            <a:endParaRPr lang="en-US" sz="1300" dirty="0"/>
          </a:p>
        </p:txBody>
      </p:sp>
      <p:sp>
        <p:nvSpPr>
          <p:cNvPr id="10" name="Shape 7"/>
          <p:cNvSpPr/>
          <p:nvPr/>
        </p:nvSpPr>
        <p:spPr>
          <a:xfrm>
            <a:off x="5440680" y="1783080"/>
            <a:ext cx="6309360" cy="1298448"/>
          </a:xfrm>
          <a:prstGeom prst="roundRect">
            <a:avLst>
              <a:gd name="adj" fmla="val 5634"/>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1" name="Shape 8"/>
          <p:cNvSpPr/>
          <p:nvPr/>
        </p:nvSpPr>
        <p:spPr>
          <a:xfrm>
            <a:off x="5696712" y="2112264"/>
            <a:ext cx="640080" cy="640080"/>
          </a:xfrm>
          <a:prstGeom prst="ellipse">
            <a:avLst/>
          </a:prstGeom>
          <a:solidFill>
            <a:srgbClr val="2C8C8C"/>
          </a:solidFill>
          <a:ln/>
        </p:spPr>
      </p:sp>
      <p:pic>
        <p:nvPicPr>
          <p:cNvPr id="12" name="Image 1" descr="preencoded.png">    </p:cNvPr>
          <p:cNvPicPr>
            <a:picLocks noChangeAspect="1"/>
          </p:cNvPicPr>
          <p:nvPr/>
        </p:nvPicPr>
        <p:blipFill>
          <a:blip r:embed="rId2"/>
          <a:stretch>
            <a:fillRect/>
          </a:stretch>
        </p:blipFill>
        <p:spPr>
          <a:xfrm>
            <a:off x="5833872" y="2249424"/>
            <a:ext cx="365760" cy="365760"/>
          </a:xfrm>
          <a:prstGeom prst="rect">
            <a:avLst/>
          </a:prstGeom>
        </p:spPr>
      </p:pic>
      <p:sp>
        <p:nvSpPr>
          <p:cNvPr id="13" name="Text 9"/>
          <p:cNvSpPr/>
          <p:nvPr/>
        </p:nvSpPr>
        <p:spPr>
          <a:xfrm>
            <a:off x="6537960" y="1965960"/>
            <a:ext cx="5029200" cy="411480"/>
          </a:xfrm>
          <a:prstGeom prst="rect">
            <a:avLst/>
          </a:prstGeom>
          <a:noFill/>
          <a:ln/>
        </p:spPr>
        <p:txBody>
          <a:bodyPr wrap="square" lIns="0" tIns="0" rIns="0" bIns="0" rtlCol="0" anchor="ctr"/>
          <a:lstStyle/>
          <a:p>
            <a:pPr indent="0" marL="0">
              <a:buNone/>
            </a:pPr>
            <a:r>
              <a:rPr lang="en-US" sz="1650" b="1" dirty="0">
                <a:solidFill>
                  <a:srgbClr val="1B2A4A"/>
                </a:solidFill>
                <a:latin typeface="Georgia" pitchFamily="34" charset="0"/>
                <a:ea typeface="Georgia" pitchFamily="34" charset="-122"/>
                <a:cs typeface="Georgia" pitchFamily="34" charset="-120"/>
              </a:rPr>
              <a:t>Set the length</a:t>
            </a:r>
            <a:endParaRPr lang="en-US" sz="1650" dirty="0"/>
          </a:p>
        </p:txBody>
      </p:sp>
      <p:sp>
        <p:nvSpPr>
          <p:cNvPr id="14" name="Text 10"/>
          <p:cNvSpPr/>
          <p:nvPr/>
        </p:nvSpPr>
        <p:spPr>
          <a:xfrm>
            <a:off x="6537960" y="2350008"/>
            <a:ext cx="4983480" cy="64008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“In 5 bullets,” “one paragraph,” “a tweet-length version.” You control how much detail.</a:t>
            </a:r>
            <a:endParaRPr lang="en-US" sz="1250" dirty="0"/>
          </a:p>
        </p:txBody>
      </p:sp>
      <p:sp>
        <p:nvSpPr>
          <p:cNvPr id="15" name="Shape 11"/>
          <p:cNvSpPr/>
          <p:nvPr/>
        </p:nvSpPr>
        <p:spPr>
          <a:xfrm>
            <a:off x="5440680" y="3209544"/>
            <a:ext cx="6309360" cy="1298448"/>
          </a:xfrm>
          <a:prstGeom prst="roundRect">
            <a:avLst>
              <a:gd name="adj" fmla="val 5634"/>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6" name="Shape 12"/>
          <p:cNvSpPr/>
          <p:nvPr/>
        </p:nvSpPr>
        <p:spPr>
          <a:xfrm>
            <a:off x="5696712" y="3538728"/>
            <a:ext cx="640080" cy="640080"/>
          </a:xfrm>
          <a:prstGeom prst="ellipse">
            <a:avLst/>
          </a:prstGeom>
          <a:solidFill>
            <a:srgbClr val="2C8C8C"/>
          </a:solidFill>
          <a:ln/>
        </p:spPr>
      </p:sp>
      <p:pic>
        <p:nvPicPr>
          <p:cNvPr id="17" name="Image 2" descr="preencoded.png">    </p:cNvPr>
          <p:cNvPicPr>
            <a:picLocks noChangeAspect="1"/>
          </p:cNvPicPr>
          <p:nvPr/>
        </p:nvPicPr>
        <p:blipFill>
          <a:blip r:embed="rId3"/>
          <a:stretch>
            <a:fillRect/>
          </a:stretch>
        </p:blipFill>
        <p:spPr>
          <a:xfrm>
            <a:off x="5833872" y="3675888"/>
            <a:ext cx="365760" cy="365760"/>
          </a:xfrm>
          <a:prstGeom prst="rect">
            <a:avLst/>
          </a:prstGeom>
        </p:spPr>
      </p:pic>
      <p:sp>
        <p:nvSpPr>
          <p:cNvPr id="18" name="Text 13"/>
          <p:cNvSpPr/>
          <p:nvPr/>
        </p:nvSpPr>
        <p:spPr>
          <a:xfrm>
            <a:off x="6537960" y="3392424"/>
            <a:ext cx="5029200" cy="411480"/>
          </a:xfrm>
          <a:prstGeom prst="rect">
            <a:avLst/>
          </a:prstGeom>
          <a:noFill/>
          <a:ln/>
        </p:spPr>
        <p:txBody>
          <a:bodyPr wrap="square" lIns="0" tIns="0" rIns="0" bIns="0" rtlCol="0" anchor="ctr"/>
          <a:lstStyle/>
          <a:p>
            <a:pPr indent="0" marL="0">
              <a:buNone/>
            </a:pPr>
            <a:r>
              <a:rPr lang="en-US" sz="1650" b="1" dirty="0">
                <a:solidFill>
                  <a:srgbClr val="1B2A4A"/>
                </a:solidFill>
                <a:latin typeface="Georgia" pitchFamily="34" charset="0"/>
                <a:ea typeface="Georgia" pitchFamily="34" charset="-122"/>
                <a:cs typeface="Georgia" pitchFamily="34" charset="-120"/>
              </a:rPr>
              <a:t>Aim it at an audience</a:t>
            </a:r>
            <a:endParaRPr lang="en-US" sz="1650" dirty="0"/>
          </a:p>
        </p:txBody>
      </p:sp>
      <p:sp>
        <p:nvSpPr>
          <p:cNvPr id="19" name="Text 14"/>
          <p:cNvSpPr/>
          <p:nvPr/>
        </p:nvSpPr>
        <p:spPr>
          <a:xfrm>
            <a:off x="6537960" y="3776472"/>
            <a:ext cx="4983480" cy="64008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“for my CEO,” “for a new hire”, same doc, different summary.</a:t>
            </a:r>
            <a:endParaRPr lang="en-US" sz="1250" dirty="0"/>
          </a:p>
        </p:txBody>
      </p:sp>
      <p:sp>
        <p:nvSpPr>
          <p:cNvPr id="20" name="Shape 15"/>
          <p:cNvSpPr/>
          <p:nvPr/>
        </p:nvSpPr>
        <p:spPr>
          <a:xfrm>
            <a:off x="5440680" y="4636008"/>
            <a:ext cx="6309360" cy="1298448"/>
          </a:xfrm>
          <a:prstGeom prst="roundRect">
            <a:avLst>
              <a:gd name="adj" fmla="val 5634"/>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21" name="Shape 16"/>
          <p:cNvSpPr/>
          <p:nvPr/>
        </p:nvSpPr>
        <p:spPr>
          <a:xfrm>
            <a:off x="5696712" y="4965192"/>
            <a:ext cx="640080" cy="640080"/>
          </a:xfrm>
          <a:prstGeom prst="ellipse">
            <a:avLst/>
          </a:prstGeom>
          <a:solidFill>
            <a:srgbClr val="2C8C8C"/>
          </a:solidFill>
          <a:ln/>
        </p:spPr>
      </p:sp>
      <p:pic>
        <p:nvPicPr>
          <p:cNvPr id="22" name="Image 3" descr="preencoded.png">    </p:cNvPr>
          <p:cNvPicPr>
            <a:picLocks noChangeAspect="1"/>
          </p:cNvPicPr>
          <p:nvPr/>
        </p:nvPicPr>
        <p:blipFill>
          <a:blip r:embed="rId4"/>
          <a:stretch>
            <a:fillRect/>
          </a:stretch>
        </p:blipFill>
        <p:spPr>
          <a:xfrm>
            <a:off x="5833872" y="5102352"/>
            <a:ext cx="365760" cy="365760"/>
          </a:xfrm>
          <a:prstGeom prst="rect">
            <a:avLst/>
          </a:prstGeom>
        </p:spPr>
      </p:pic>
      <p:sp>
        <p:nvSpPr>
          <p:cNvPr id="23" name="Text 17"/>
          <p:cNvSpPr/>
          <p:nvPr/>
        </p:nvSpPr>
        <p:spPr>
          <a:xfrm>
            <a:off x="6537960" y="4818888"/>
            <a:ext cx="5029200" cy="411480"/>
          </a:xfrm>
          <a:prstGeom prst="rect">
            <a:avLst/>
          </a:prstGeom>
          <a:noFill/>
          <a:ln/>
        </p:spPr>
        <p:txBody>
          <a:bodyPr wrap="square" lIns="0" tIns="0" rIns="0" bIns="0" rtlCol="0" anchor="ctr"/>
          <a:lstStyle/>
          <a:p>
            <a:pPr indent="0" marL="0">
              <a:buNone/>
            </a:pPr>
            <a:r>
              <a:rPr lang="en-US" sz="1650" b="1" dirty="0">
                <a:solidFill>
                  <a:srgbClr val="1B2A4A"/>
                </a:solidFill>
                <a:latin typeface="Georgia" pitchFamily="34" charset="0"/>
                <a:ea typeface="Georgia" pitchFamily="34" charset="-122"/>
                <a:cs typeface="Georgia" pitchFamily="34" charset="-120"/>
              </a:rPr>
              <a:t>Ask it to quote, not paraphrase</a:t>
            </a:r>
            <a:endParaRPr lang="en-US" sz="1650" dirty="0"/>
          </a:p>
        </p:txBody>
      </p:sp>
      <p:sp>
        <p:nvSpPr>
          <p:cNvPr id="24" name="Text 18"/>
          <p:cNvSpPr/>
          <p:nvPr/>
        </p:nvSpPr>
        <p:spPr>
          <a:xfrm>
            <a:off x="6537960" y="5202936"/>
            <a:ext cx="4983480" cy="640080"/>
          </a:xfrm>
          <a:prstGeom prst="rect">
            <a:avLst/>
          </a:prstGeom>
          <a:noFill/>
          <a:ln/>
        </p:spPr>
        <p:txBody>
          <a:bodyPr wrap="square" lIns="0" tIns="0" rIns="0" bIns="0" rtlCol="0" anchor="ctr"/>
          <a:lstStyle/>
          <a:p>
            <a:pPr indent="0" marL="0">
              <a:lnSpc>
                <a:spcPct val="105000"/>
              </a:lnSpc>
              <a:buNone/>
            </a:pPr>
            <a:r>
              <a:rPr lang="en-US" sz="1250" dirty="0">
                <a:solidFill>
                  <a:srgbClr val="3C4A63"/>
                </a:solidFill>
                <a:latin typeface="Calibri" pitchFamily="34" charset="0"/>
                <a:ea typeface="Calibri" pitchFamily="34" charset="-122"/>
                <a:cs typeface="Calibri" pitchFamily="34" charset="-120"/>
              </a:rPr>
              <a:t>“Quote the exact sentence where it says that” keeps you honest about what's really in the text.</a:t>
            </a:r>
            <a:endParaRPr lang="en-US" sz="1250" dirty="0"/>
          </a:p>
        </p:txBody>
      </p:sp>
      <p:sp>
        <p:nvSpPr>
          <p:cNvPr id="26" name="Text 1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7" name="Text 2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8A33D"/>
          </a:solidFill>
          <a:ln/>
        </p:spPr>
      </p:sp>
      <p:sp>
        <p:nvSpPr>
          <p:cNvPr id="3" name="Shape 1"/>
          <p:cNvSpPr/>
          <p:nvPr/>
        </p:nvSpPr>
        <p:spPr>
          <a:xfrm>
            <a:off x="0" y="6711696"/>
            <a:ext cx="12188952" cy="146304"/>
          </a:xfrm>
          <a:prstGeom prst="rect">
            <a:avLst/>
          </a:prstGeom>
          <a:solidFill>
            <a:srgbClr val="E8A33D"/>
          </a:solidFill>
          <a:ln/>
        </p:spPr>
      </p:sp>
      <p:sp>
        <p:nvSpPr>
          <p:cNvPr id="4" name="Shape 2"/>
          <p:cNvSpPr/>
          <p:nvPr/>
        </p:nvSpPr>
        <p:spPr>
          <a:xfrm>
            <a:off x="7955280" y="1554480"/>
            <a:ext cx="3749040" cy="3749040"/>
          </a:xfrm>
          <a:prstGeom prst="ellipse">
            <a:avLst/>
          </a:prstGeom>
          <a:solidFill>
            <a:srgbClr val="24385F"/>
          </a:solidFill>
          <a:ln/>
        </p:spPr>
      </p:sp>
      <p:pic>
        <p:nvPicPr>
          <p:cNvPr id="5" name="Image 0" descr="preencoded.png">    </p:cNvPr>
          <p:cNvPicPr>
            <a:picLocks noChangeAspect="1"/>
          </p:cNvPicPr>
          <p:nvPr/>
        </p:nvPicPr>
        <p:blipFill>
          <a:blip r:embed="rId1"/>
          <a:stretch>
            <a:fillRect/>
          </a:stretch>
        </p:blipFill>
        <p:spPr>
          <a:xfrm>
            <a:off x="9052560" y="2651760"/>
            <a:ext cx="1554480" cy="1554480"/>
          </a:xfrm>
          <a:prstGeom prst="rect">
            <a:avLst/>
          </a:prstGeom>
        </p:spPr>
      </p:pic>
      <p:sp>
        <p:nvSpPr>
          <p:cNvPr id="6" name="Text 3"/>
          <p:cNvSpPr/>
          <p:nvPr/>
        </p:nvSpPr>
        <p:spPr>
          <a:xfrm>
            <a:off x="822960" y="2331720"/>
            <a:ext cx="6400800" cy="365760"/>
          </a:xfrm>
          <a:prstGeom prst="rect">
            <a:avLst/>
          </a:prstGeom>
          <a:noFill/>
          <a:ln/>
        </p:spPr>
        <p:txBody>
          <a:bodyPr wrap="square" lIns="0" tIns="0" rIns="0" bIns="0" rtlCol="0" anchor="ctr"/>
          <a:lstStyle/>
          <a:p>
            <a:pPr indent="0" marL="0">
              <a:buNone/>
            </a:pPr>
            <a:r>
              <a:rPr lang="en-US" sz="1500" b="1" spc="200" kern="0" dirty="0">
                <a:solidFill>
                  <a:srgbClr val="5FB3B3"/>
                </a:solidFill>
                <a:latin typeface="Calibri" pitchFamily="34" charset="0"/>
                <a:ea typeface="Calibri" pitchFamily="34" charset="-122"/>
                <a:cs typeface="Calibri" pitchFamily="34" charset="-120"/>
              </a:rPr>
              <a:t>DEMO · POWERPOINT</a:t>
            </a:r>
            <a:endParaRPr lang="en-US" sz="1500" dirty="0"/>
          </a:p>
        </p:txBody>
      </p:sp>
      <p:sp>
        <p:nvSpPr>
          <p:cNvPr id="7" name="Text 4"/>
          <p:cNvSpPr/>
          <p:nvPr/>
        </p:nvSpPr>
        <p:spPr>
          <a:xfrm>
            <a:off x="777240" y="2743200"/>
            <a:ext cx="6949440" cy="109728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Georgia" pitchFamily="34" charset="0"/>
                <a:ea typeface="Georgia" pitchFamily="34" charset="-122"/>
                <a:cs typeface="Georgia" pitchFamily="34" charset="-120"/>
              </a:rPr>
              <a:t>Slide outlines &amp; speaker notes</a:t>
            </a:r>
            <a:endParaRPr lang="en-US" sz="4000" dirty="0"/>
          </a:p>
        </p:txBody>
      </p:sp>
      <p:sp>
        <p:nvSpPr>
          <p:cNvPr id="8" name="Text 5"/>
          <p:cNvSpPr/>
          <p:nvPr/>
        </p:nvSpPr>
        <p:spPr>
          <a:xfrm>
            <a:off x="822960" y="3931920"/>
            <a:ext cx="6675120" cy="914400"/>
          </a:xfrm>
          <a:prstGeom prst="rect">
            <a:avLst/>
          </a:prstGeom>
          <a:noFill/>
          <a:ln/>
        </p:spPr>
        <p:txBody>
          <a:bodyPr wrap="square" lIns="0" tIns="0" rIns="0" bIns="0" rtlCol="0" anchor="ctr"/>
          <a:lstStyle/>
          <a:p>
            <a:pPr indent="0" marL="0">
              <a:lnSpc>
                <a:spcPct val="115000"/>
              </a:lnSpc>
              <a:buNone/>
            </a:pPr>
            <a:r>
              <a:rPr lang="en-US" sz="1600" dirty="0">
                <a:solidFill>
                  <a:srgbClr val="C7D2E2"/>
                </a:solidFill>
                <a:latin typeface="Calibri" pitchFamily="34" charset="0"/>
                <a:ea typeface="Calibri" pitchFamily="34" charset="-122"/>
                <a:cs typeface="Calibri" pitchFamily="34" charset="-120"/>
              </a:rPr>
              <a:t>Go from a Word document or a few rough ideas to a clean slide structure, with talking points written for you.</a:t>
            </a:r>
            <a:endParaRPr lang="en-US" sz="1600" dirty="0"/>
          </a:p>
        </p:txBody>
      </p:sp>
      <p:sp>
        <p:nvSpPr>
          <p:cNvPr id="10" name="Text 6"/>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1" name="Text 7"/>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POWERPOINT DEMO · DEMO PACK §5</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Word document → slide outline + speaker notes</a:t>
            </a:r>
            <a:endParaRPr lang="en-US" sz="3000" dirty="0"/>
          </a:p>
        </p:txBody>
      </p:sp>
      <p:sp>
        <p:nvSpPr>
          <p:cNvPr id="5" name="Shape 3"/>
          <p:cNvSpPr/>
          <p:nvPr/>
        </p:nvSpPr>
        <p:spPr>
          <a:xfrm>
            <a:off x="457200" y="1783080"/>
            <a:ext cx="5486400" cy="4160520"/>
          </a:xfrm>
          <a:prstGeom prst="roundRect">
            <a:avLst>
              <a:gd name="adj" fmla="val 1319"/>
            </a:avLst>
          </a:prstGeom>
          <a:solidFill>
            <a:srgbClr val="1B2A4A"/>
          </a:solidFill>
          <a:ln/>
          <a:effectLst>
            <a:outerShdw sx="100000" sy="100000" kx="0" ky="0" algn="bl" rotWithShape="0" blurRad="88900" dist="38100" dir="8100000">
              <a:srgbClr val="000000">
                <a:alpha val="16000"/>
              </a:srgbClr>
            </a:outerShdw>
          </a:effectLst>
        </p:spPr>
      </p:sp>
      <p:sp>
        <p:nvSpPr>
          <p:cNvPr id="6" name="Text 4"/>
          <p:cNvSpPr/>
          <p:nvPr/>
        </p:nvSpPr>
        <p:spPr>
          <a:xfrm>
            <a:off x="685800" y="1911096"/>
            <a:ext cx="5029200"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WHAT YOU PASTE INTO CLAUDE</a:t>
            </a:r>
            <a:endParaRPr lang="en-US" sz="1000" dirty="0"/>
          </a:p>
        </p:txBody>
      </p:sp>
      <p:sp>
        <p:nvSpPr>
          <p:cNvPr id="7" name="Text 5"/>
          <p:cNvSpPr/>
          <p:nvPr/>
        </p:nvSpPr>
        <p:spPr>
          <a:xfrm>
            <a:off x="685800" y="2203704"/>
            <a:ext cx="5029200" cy="361188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Turn this document into a slide outline
for a 10-minute talk to my team.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For each slide give me:
 – a short title
 – 3 to 4 bullet points
 – a couple of lines of speaker notes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Aim for about 8 slides, including a
title slide and a closing slide.
</a:t>
            </a:r>
            <a:endParaRPr lang="en-US" sz="1250" dirty="0"/>
          </a:p>
          <a:p>
            <a:pPr indent="0" marL="0">
              <a:lnSpc>
                <a:spcPct val="108000"/>
              </a:lnSpc>
              <a:buNone/>
            </a:pPr>
            <a:r>
              <a:rPr lang="en-US" sz="1250" dirty="0">
                <a:solidFill>
                  <a:srgbClr val="9FB0C9"/>
                </a:solidFill>
                <a:latin typeface="Consolas" pitchFamily="34" charset="0"/>
                <a:ea typeface="Consolas" pitchFamily="34" charset="-122"/>
                <a:cs typeface="Consolas" pitchFamily="34" charset="-120"/>
              </a:rPr>
              <a:t>[paste or upload the document]</a:t>
            </a:r>
            <a:endParaRPr lang="en-US" sz="1250" dirty="0"/>
          </a:p>
        </p:txBody>
      </p:sp>
      <p:sp>
        <p:nvSpPr>
          <p:cNvPr id="8" name="Shape 6"/>
          <p:cNvSpPr/>
          <p:nvPr/>
        </p:nvSpPr>
        <p:spPr>
          <a:xfrm>
            <a:off x="6217920" y="1783080"/>
            <a:ext cx="553212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9" name="Text 7"/>
          <p:cNvSpPr/>
          <p:nvPr/>
        </p:nvSpPr>
        <p:spPr>
          <a:xfrm>
            <a:off x="6446520" y="1938528"/>
            <a:ext cx="5029200" cy="320040"/>
          </a:xfrm>
          <a:prstGeom prst="rect">
            <a:avLst/>
          </a:prstGeom>
          <a:noFill/>
          <a:ln/>
        </p:spPr>
        <p:txBody>
          <a:bodyPr wrap="square" lIns="0" tIns="0" rIns="0" bIns="0" rtlCol="0" anchor="ctr"/>
          <a:lstStyle/>
          <a:p>
            <a:pPr indent="0" marL="0">
              <a:buNone/>
            </a:pPr>
            <a:r>
              <a:rPr lang="en-US" sz="1100" b="1" spc="150" kern="0" dirty="0">
                <a:solidFill>
                  <a:srgbClr val="2C8C8C"/>
                </a:solidFill>
                <a:latin typeface="Calibri" pitchFamily="34" charset="0"/>
                <a:ea typeface="Calibri" pitchFamily="34" charset="-122"/>
                <a:cs typeface="Calibri" pitchFamily="34" charset="-120"/>
              </a:rPr>
              <a:t>What comes back (per slide)</a:t>
            </a:r>
            <a:endParaRPr lang="en-US" sz="1100" dirty="0"/>
          </a:p>
        </p:txBody>
      </p:sp>
      <p:sp>
        <p:nvSpPr>
          <p:cNvPr id="10" name="Text 8"/>
          <p:cNvSpPr/>
          <p:nvPr/>
        </p:nvSpPr>
        <p:spPr>
          <a:xfrm>
            <a:off x="6446520" y="2286000"/>
            <a:ext cx="5074920" cy="3520440"/>
          </a:xfrm>
          <a:prstGeom prst="rect">
            <a:avLst/>
          </a:prstGeom>
          <a:noFill/>
          <a:ln/>
        </p:spPr>
        <p:txBody>
          <a:bodyPr wrap="square" lIns="0" tIns="0" rIns="0" bIns="0" rtlCol="0" anchor="t"/>
          <a:lstStyle/>
          <a:p>
            <a:pPr indent="0" marL="0">
              <a:lnSpc>
                <a:spcPct val="110000"/>
              </a:lnSpc>
              <a:buNone/>
            </a:pPr>
            <a:r>
              <a:rPr lang="en-US" sz="1400" b="1" dirty="0">
                <a:solidFill>
                  <a:srgbClr val="1B2A4A"/>
                </a:solidFill>
                <a:latin typeface="Calibri" pitchFamily="34" charset="0"/>
                <a:ea typeface="Calibri" pitchFamily="34" charset="-122"/>
                <a:cs typeface="Calibri" pitchFamily="34" charset="-120"/>
              </a:rPr>
              <a:t>Slide 3, Why it matters
</a:t>
            </a:r>
            <a:endParaRPr lang="en-US" sz="1300" dirty="0"/>
          </a:p>
          <a:p>
            <a:pPr indent="0" marL="0">
              <a:lnSpc>
                <a:spcPct val="110000"/>
              </a:lnSpc>
              <a:buNone/>
            </a:pPr>
            <a:r>
              <a:rPr lang="en-US" sz="1300" dirty="0">
                <a:solidFill>
                  <a:srgbClr val="1B2533"/>
                </a:solidFill>
                <a:latin typeface="Calibri" pitchFamily="34" charset="0"/>
                <a:ea typeface="Calibri" pitchFamily="34" charset="-122"/>
                <a:cs typeface="Calibri" pitchFamily="34" charset="-120"/>
              </a:rPr>
              <a:t>• Costs rose 12% last quarter
• Two manual steps cause most delays
• Fixable without new headcount
</a:t>
            </a:r>
            <a:endParaRPr lang="en-US" sz="1300" dirty="0"/>
          </a:p>
          <a:p>
            <a:pPr indent="0" marL="0">
              <a:lnSpc>
                <a:spcPct val="110000"/>
              </a:lnSpc>
              <a:buNone/>
            </a:pPr>
            <a:r>
              <a:rPr lang="en-US" sz="1300" b="1" dirty="0">
                <a:solidFill>
                  <a:srgbClr val="2C8C8C"/>
                </a:solidFill>
                <a:latin typeface="Calibri" pitchFamily="34" charset="0"/>
                <a:ea typeface="Calibri" pitchFamily="34" charset="-122"/>
                <a:cs typeface="Calibri" pitchFamily="34" charset="-120"/>
              </a:rPr>
              <a:t>Speaker notes:
</a:t>
            </a:r>
            <a:endParaRPr lang="en-US" sz="1300" dirty="0"/>
          </a:p>
          <a:p>
            <a:pPr indent="0" marL="0">
              <a:lnSpc>
                <a:spcPct val="110000"/>
              </a:lnSpc>
              <a:buNone/>
            </a:pPr>
            <a:r>
              <a:rPr lang="en-US" sz="1300" i="1" dirty="0">
                <a:solidFill>
                  <a:srgbClr val="3C4A63"/>
                </a:solidFill>
                <a:latin typeface="Calibri" pitchFamily="34" charset="0"/>
                <a:ea typeface="Calibri" pitchFamily="34" charset="-122"/>
                <a:cs typeface="Calibri" pitchFamily="34" charset="-120"/>
              </a:rPr>
              <a:t>“Anchor on the 12%, that's the number leadership remembers. Then pivot to the two bottlenecks before the solution on the next slide.”</a:t>
            </a:r>
            <a:endParaRPr lang="en-US" sz="1300" dirty="0"/>
          </a:p>
        </p:txBody>
      </p:sp>
      <p:sp>
        <p:nvSpPr>
          <p:cNvPr id="12" name="Text 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3" name="Text 1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2C8C8C"/>
          </a:solidFill>
          <a:ln/>
        </p:spPr>
      </p:sp>
      <p:sp>
        <p:nvSpPr>
          <p:cNvPr id="3" name="Shape 1"/>
          <p:cNvSpPr/>
          <p:nvPr/>
        </p:nvSpPr>
        <p:spPr>
          <a:xfrm>
            <a:off x="0" y="6711696"/>
            <a:ext cx="12188952" cy="146304"/>
          </a:xfrm>
          <a:prstGeom prst="rect">
            <a:avLst/>
          </a:prstGeom>
          <a:solidFill>
            <a:srgbClr val="2C8C8C"/>
          </a:solidFill>
          <a:ln/>
        </p:spPr>
      </p:sp>
      <p:sp>
        <p:nvSpPr>
          <p:cNvPr id="4" name="Shape 2"/>
          <p:cNvSpPr/>
          <p:nvPr/>
        </p:nvSpPr>
        <p:spPr>
          <a:xfrm>
            <a:off x="7955280" y="1554480"/>
            <a:ext cx="3749040" cy="3749040"/>
          </a:xfrm>
          <a:prstGeom prst="ellipse">
            <a:avLst/>
          </a:prstGeom>
          <a:solidFill>
            <a:srgbClr val="24385F"/>
          </a:solidFill>
          <a:ln/>
        </p:spPr>
      </p:sp>
      <p:pic>
        <p:nvPicPr>
          <p:cNvPr id="5" name="Image 0" descr="preencoded.png">    </p:cNvPr>
          <p:cNvPicPr>
            <a:picLocks noChangeAspect="1"/>
          </p:cNvPicPr>
          <p:nvPr/>
        </p:nvPicPr>
        <p:blipFill>
          <a:blip r:embed="rId1"/>
          <a:stretch>
            <a:fillRect/>
          </a:stretch>
        </p:blipFill>
        <p:spPr>
          <a:xfrm>
            <a:off x="9052560" y="2651760"/>
            <a:ext cx="1554480" cy="1554480"/>
          </a:xfrm>
          <a:prstGeom prst="rect">
            <a:avLst/>
          </a:prstGeom>
        </p:spPr>
      </p:pic>
      <p:sp>
        <p:nvSpPr>
          <p:cNvPr id="6" name="Text 3"/>
          <p:cNvSpPr/>
          <p:nvPr/>
        </p:nvSpPr>
        <p:spPr>
          <a:xfrm>
            <a:off x="822960" y="2331720"/>
            <a:ext cx="6400800" cy="365760"/>
          </a:xfrm>
          <a:prstGeom prst="rect">
            <a:avLst/>
          </a:prstGeom>
          <a:noFill/>
          <a:ln/>
        </p:spPr>
        <p:txBody>
          <a:bodyPr wrap="square" lIns="0" tIns="0" rIns="0" bIns="0" rtlCol="0" anchor="ctr"/>
          <a:lstStyle/>
          <a:p>
            <a:pPr indent="0" marL="0">
              <a:buNone/>
            </a:pPr>
            <a:r>
              <a:rPr lang="en-US" sz="1500" b="1" spc="200" kern="0" dirty="0">
                <a:solidFill>
                  <a:srgbClr val="5FB3B3"/>
                </a:solidFill>
                <a:latin typeface="Calibri" pitchFamily="34" charset="0"/>
                <a:ea typeface="Calibri" pitchFamily="34" charset="-122"/>
                <a:cs typeface="Calibri" pitchFamily="34" charset="-120"/>
              </a:rPr>
              <a:t>DEMO · EXCEL</a:t>
            </a:r>
            <a:endParaRPr lang="en-US" sz="1500" dirty="0"/>
          </a:p>
        </p:txBody>
      </p:sp>
      <p:sp>
        <p:nvSpPr>
          <p:cNvPr id="7" name="Text 4"/>
          <p:cNvSpPr/>
          <p:nvPr/>
        </p:nvSpPr>
        <p:spPr>
          <a:xfrm>
            <a:off x="777240" y="2743200"/>
            <a:ext cx="6949440" cy="109728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Georgia" pitchFamily="34" charset="0"/>
                <a:ea typeface="Georgia" pitchFamily="34" charset="-122"/>
                <a:cs typeface="Georgia" pitchFamily="34" charset="-120"/>
              </a:rPr>
              <a:t>Formulas without the headache</a:t>
            </a:r>
            <a:endParaRPr lang="en-US" sz="4000" dirty="0"/>
          </a:p>
        </p:txBody>
      </p:sp>
      <p:sp>
        <p:nvSpPr>
          <p:cNvPr id="8" name="Text 5"/>
          <p:cNvSpPr/>
          <p:nvPr/>
        </p:nvSpPr>
        <p:spPr>
          <a:xfrm>
            <a:off x="822960" y="3931920"/>
            <a:ext cx="6675120" cy="914400"/>
          </a:xfrm>
          <a:prstGeom prst="rect">
            <a:avLst/>
          </a:prstGeom>
          <a:noFill/>
          <a:ln/>
        </p:spPr>
        <p:txBody>
          <a:bodyPr wrap="square" lIns="0" tIns="0" rIns="0" bIns="0" rtlCol="0" anchor="ctr"/>
          <a:lstStyle/>
          <a:p>
            <a:pPr indent="0" marL="0">
              <a:lnSpc>
                <a:spcPct val="115000"/>
              </a:lnSpc>
              <a:buNone/>
            </a:pPr>
            <a:r>
              <a:rPr lang="en-US" sz="1600" dirty="0">
                <a:solidFill>
                  <a:srgbClr val="C7D2E2"/>
                </a:solidFill>
                <a:latin typeface="Calibri" pitchFamily="34" charset="0"/>
                <a:ea typeface="Calibri" pitchFamily="34" charset="-122"/>
                <a:cs typeface="Calibri" pitchFamily="34" charset="-120"/>
              </a:rPr>
              <a:t>Describe what you want in plain English and get the formula, plus a fix-it and explain-it helper for formulas you didn't write.</a:t>
            </a:r>
            <a:endParaRPr lang="en-US" sz="1600" dirty="0"/>
          </a:p>
        </p:txBody>
      </p:sp>
      <p:sp>
        <p:nvSpPr>
          <p:cNvPr id="10" name="Text 6"/>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1" name="Text 7"/>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EXCEL DEMO · DEMO PACK §6</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Describe it in plain English → get the formula</a:t>
            </a:r>
            <a:endParaRPr lang="en-US" sz="3000" dirty="0"/>
          </a:p>
        </p:txBody>
      </p:sp>
      <p:sp>
        <p:nvSpPr>
          <p:cNvPr id="5" name="Shape 3"/>
          <p:cNvSpPr/>
          <p:nvPr/>
        </p:nvSpPr>
        <p:spPr>
          <a:xfrm>
            <a:off x="457200" y="1783080"/>
            <a:ext cx="5486400" cy="2651760"/>
          </a:xfrm>
          <a:prstGeom prst="roundRect">
            <a:avLst>
              <a:gd name="adj" fmla="val 2069"/>
            </a:avLst>
          </a:prstGeom>
          <a:solidFill>
            <a:srgbClr val="1B2A4A"/>
          </a:solidFill>
          <a:ln/>
          <a:effectLst>
            <a:outerShdw sx="100000" sy="100000" kx="0" ky="0" algn="bl" rotWithShape="0" blurRad="88900" dist="38100" dir="8100000">
              <a:srgbClr val="000000">
                <a:alpha val="16000"/>
              </a:srgbClr>
            </a:outerShdw>
          </a:effectLst>
        </p:spPr>
      </p:sp>
      <p:sp>
        <p:nvSpPr>
          <p:cNvPr id="6" name="Text 4"/>
          <p:cNvSpPr/>
          <p:nvPr/>
        </p:nvSpPr>
        <p:spPr>
          <a:xfrm>
            <a:off x="685800" y="1911096"/>
            <a:ext cx="5029200"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WHAT YOU ASK</a:t>
            </a:r>
            <a:endParaRPr lang="en-US" sz="1000" dirty="0"/>
          </a:p>
        </p:txBody>
      </p:sp>
      <p:sp>
        <p:nvSpPr>
          <p:cNvPr id="7" name="Text 5"/>
          <p:cNvSpPr/>
          <p:nvPr/>
        </p:nvSpPr>
        <p:spPr>
          <a:xfrm>
            <a:off x="685800" y="2203704"/>
            <a:ext cx="5029200" cy="210312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In Excel, my data is in columns A to D.
Column B is Region, column D is Sales.
</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Write a formula that totals Sales for</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just the “West” region. Tell me which</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cell to put it in, and explain it simply.</a:t>
            </a:r>
            <a:endParaRPr lang="en-US" sz="1250" dirty="0"/>
          </a:p>
        </p:txBody>
      </p:sp>
      <p:sp>
        <p:nvSpPr>
          <p:cNvPr id="8" name="Shape 6"/>
          <p:cNvSpPr/>
          <p:nvPr/>
        </p:nvSpPr>
        <p:spPr>
          <a:xfrm>
            <a:off x="457200" y="4526280"/>
            <a:ext cx="5486400" cy="1417320"/>
          </a:xfrm>
          <a:prstGeom prst="roundRect">
            <a:avLst>
              <a:gd name="adj" fmla="val 3871"/>
            </a:avLst>
          </a:prstGeom>
          <a:solidFill>
            <a:srgbClr val="1B2A4A"/>
          </a:solidFill>
          <a:ln/>
          <a:effectLst>
            <a:outerShdw sx="100000" sy="100000" kx="0" ky="0" algn="bl" rotWithShape="0" blurRad="88900" dist="38100" dir="8100000">
              <a:srgbClr val="000000">
                <a:alpha val="16000"/>
              </a:srgbClr>
            </a:outerShdw>
          </a:effectLst>
        </p:spPr>
      </p:sp>
      <p:sp>
        <p:nvSpPr>
          <p:cNvPr id="9" name="Text 7"/>
          <p:cNvSpPr/>
          <p:nvPr/>
        </p:nvSpPr>
        <p:spPr>
          <a:xfrm>
            <a:off x="685800" y="4654296"/>
            <a:ext cx="5029200"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WHAT COMES BACK</a:t>
            </a:r>
            <a:endParaRPr lang="en-US" sz="1000" dirty="0"/>
          </a:p>
        </p:txBody>
      </p:sp>
      <p:sp>
        <p:nvSpPr>
          <p:cNvPr id="10" name="Text 8"/>
          <p:cNvSpPr/>
          <p:nvPr/>
        </p:nvSpPr>
        <p:spPr>
          <a:xfrm>
            <a:off x="685800" y="4946904"/>
            <a:ext cx="5029200" cy="868680"/>
          </a:xfrm>
          <a:prstGeom prst="rect">
            <a:avLst/>
          </a:prstGeom>
          <a:noFill/>
          <a:ln/>
        </p:spPr>
        <p:txBody>
          <a:bodyPr wrap="square" lIns="0" tIns="0" rIns="0" bIns="0" rtlCol="0" anchor="t"/>
          <a:lstStyle/>
          <a:p>
            <a:pPr indent="0" marL="0">
              <a:lnSpc>
                <a:spcPct val="108000"/>
              </a:lnSpc>
              <a:buNone/>
            </a:pPr>
            <a:r>
              <a:rPr lang="en-US" sz="1250" dirty="0">
                <a:solidFill>
                  <a:srgbClr val="8FE3C5"/>
                </a:solidFill>
                <a:latin typeface="Consolas" pitchFamily="34" charset="0"/>
                <a:ea typeface="Consolas" pitchFamily="34" charset="-122"/>
                <a:cs typeface="Consolas" pitchFamily="34" charset="-120"/>
              </a:rPr>
              <a:t>=SUMIF(B:B, "West", D:D)
</a:t>
            </a:r>
            <a:endParaRPr lang="en-US" sz="1250" dirty="0"/>
          </a:p>
          <a:p>
            <a:pPr indent="0" marL="0">
              <a:lnSpc>
                <a:spcPct val="108000"/>
              </a:lnSpc>
              <a:buNone/>
            </a:pPr>
            <a:r>
              <a:rPr lang="en-US" sz="1250" i="1" dirty="0">
                <a:solidFill>
                  <a:srgbClr val="EAF0F7"/>
                </a:solidFill>
                <a:latin typeface="Consolas" pitchFamily="34" charset="0"/>
                <a:ea typeface="Consolas" pitchFamily="34" charset="-122"/>
                <a:cs typeface="Consolas" pitchFamily="34" charset="-120"/>
              </a:rPr>
              <a:t>“SUMIF adds up the Sales in column D wherever column B equals West.”</a:t>
            </a:r>
            <a:endParaRPr lang="en-US" sz="1250" dirty="0"/>
          </a:p>
        </p:txBody>
      </p:sp>
      <p:sp>
        <p:nvSpPr>
          <p:cNvPr id="11" name="Shape 9"/>
          <p:cNvSpPr/>
          <p:nvPr/>
        </p:nvSpPr>
        <p:spPr>
          <a:xfrm>
            <a:off x="6217920" y="1783080"/>
            <a:ext cx="5532120" cy="4160520"/>
          </a:xfrm>
          <a:prstGeom prst="roundRect">
            <a:avLst>
              <a:gd name="adj" fmla="val 1758"/>
            </a:avLst>
          </a:prstGeom>
          <a:solidFill>
            <a:srgbClr val="1B2A4A"/>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Text 10"/>
          <p:cNvSpPr/>
          <p:nvPr/>
        </p:nvSpPr>
        <p:spPr>
          <a:xfrm>
            <a:off x="6492240" y="2011680"/>
            <a:ext cx="502920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Why this works so well</a:t>
            </a:r>
            <a:endParaRPr lang="en-US" sz="1900" dirty="0"/>
          </a:p>
        </p:txBody>
      </p:sp>
      <p:sp>
        <p:nvSpPr>
          <p:cNvPr id="13" name="Shape 11"/>
          <p:cNvSpPr/>
          <p:nvPr/>
        </p:nvSpPr>
        <p:spPr>
          <a:xfrm>
            <a:off x="6492240" y="2651760"/>
            <a:ext cx="310896" cy="310896"/>
          </a:xfrm>
          <a:prstGeom prst="ellipse">
            <a:avLst/>
          </a:prstGeom>
          <a:solidFill>
            <a:srgbClr val="E8A33D"/>
          </a:solidFill>
          <a:ln/>
        </p:spPr>
      </p:sp>
      <p:sp>
        <p:nvSpPr>
          <p:cNvPr id="14" name="Text 12"/>
          <p:cNvSpPr/>
          <p:nvPr/>
        </p:nvSpPr>
        <p:spPr>
          <a:xfrm>
            <a:off x="6949440" y="2560320"/>
            <a:ext cx="45720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Describe the goal, not the syntax</a:t>
            </a:r>
            <a:endParaRPr lang="en-US" sz="1450" dirty="0"/>
          </a:p>
        </p:txBody>
      </p:sp>
      <p:sp>
        <p:nvSpPr>
          <p:cNvPr id="15" name="Text 13"/>
          <p:cNvSpPr/>
          <p:nvPr/>
        </p:nvSpPr>
        <p:spPr>
          <a:xfrm>
            <a:off x="6949440" y="2926080"/>
            <a:ext cx="4572000" cy="731520"/>
          </a:xfrm>
          <a:prstGeom prst="rect">
            <a:avLst/>
          </a:prstGeom>
          <a:noFill/>
          <a:ln/>
        </p:spPr>
        <p:txBody>
          <a:bodyPr wrap="square" lIns="0" tIns="0" rIns="0" bIns="0" rtlCol="0" anchor="ctr"/>
          <a:lstStyle/>
          <a:p>
            <a:pPr indent="0" marL="0">
              <a:lnSpc>
                <a:spcPct val="108000"/>
              </a:lnSpc>
              <a:buNone/>
            </a:pPr>
            <a:r>
              <a:rPr lang="en-US" sz="1250" dirty="0">
                <a:solidFill>
                  <a:srgbClr val="C7D2E2"/>
                </a:solidFill>
                <a:latin typeface="Calibri" pitchFamily="34" charset="0"/>
                <a:ea typeface="Calibri" pitchFamily="34" charset="-122"/>
                <a:cs typeface="Calibri" pitchFamily="34" charset="-120"/>
              </a:rPr>
              <a:t>You don't need to remember SUMIF vs SUMIFS. Say what you want; Claude picks the function.</a:t>
            </a:r>
            <a:endParaRPr lang="en-US" sz="1250" dirty="0"/>
          </a:p>
        </p:txBody>
      </p:sp>
      <p:sp>
        <p:nvSpPr>
          <p:cNvPr id="16" name="Shape 14"/>
          <p:cNvSpPr/>
          <p:nvPr/>
        </p:nvSpPr>
        <p:spPr>
          <a:xfrm>
            <a:off x="6492240" y="3794760"/>
            <a:ext cx="310896" cy="310896"/>
          </a:xfrm>
          <a:prstGeom prst="ellipse">
            <a:avLst/>
          </a:prstGeom>
          <a:solidFill>
            <a:srgbClr val="E8A33D"/>
          </a:solidFill>
          <a:ln/>
        </p:spPr>
      </p:sp>
      <p:sp>
        <p:nvSpPr>
          <p:cNvPr id="17" name="Text 15"/>
          <p:cNvSpPr/>
          <p:nvPr/>
        </p:nvSpPr>
        <p:spPr>
          <a:xfrm>
            <a:off x="6949440" y="3703320"/>
            <a:ext cx="45720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Tell it your columns</a:t>
            </a:r>
            <a:endParaRPr lang="en-US" sz="1450" dirty="0"/>
          </a:p>
        </p:txBody>
      </p:sp>
      <p:sp>
        <p:nvSpPr>
          <p:cNvPr id="18" name="Text 16"/>
          <p:cNvSpPr/>
          <p:nvPr/>
        </p:nvSpPr>
        <p:spPr>
          <a:xfrm>
            <a:off x="6949440" y="4069080"/>
            <a:ext cx="4572000" cy="731520"/>
          </a:xfrm>
          <a:prstGeom prst="rect">
            <a:avLst/>
          </a:prstGeom>
          <a:noFill/>
          <a:ln/>
        </p:spPr>
        <p:txBody>
          <a:bodyPr wrap="square" lIns="0" tIns="0" rIns="0" bIns="0" rtlCol="0" anchor="ctr"/>
          <a:lstStyle/>
          <a:p>
            <a:pPr indent="0" marL="0">
              <a:lnSpc>
                <a:spcPct val="108000"/>
              </a:lnSpc>
              <a:buNone/>
            </a:pPr>
            <a:r>
              <a:rPr lang="en-US" sz="1250" dirty="0">
                <a:solidFill>
                  <a:srgbClr val="C7D2E2"/>
                </a:solidFill>
                <a:latin typeface="Calibri" pitchFamily="34" charset="0"/>
                <a:ea typeface="Calibri" pitchFamily="34" charset="-122"/>
                <a:cs typeface="Calibri" pitchFamily="34" charset="-120"/>
              </a:rPr>
              <a:t>Naming the columns (“B is Region, D is Sales”) gets you a formula that actually fits your sheet.</a:t>
            </a:r>
            <a:endParaRPr lang="en-US" sz="1250" dirty="0"/>
          </a:p>
        </p:txBody>
      </p:sp>
      <p:sp>
        <p:nvSpPr>
          <p:cNvPr id="19" name="Shape 17"/>
          <p:cNvSpPr/>
          <p:nvPr/>
        </p:nvSpPr>
        <p:spPr>
          <a:xfrm>
            <a:off x="6492240" y="4937760"/>
            <a:ext cx="310896" cy="310896"/>
          </a:xfrm>
          <a:prstGeom prst="ellipse">
            <a:avLst/>
          </a:prstGeom>
          <a:solidFill>
            <a:srgbClr val="E8A33D"/>
          </a:solidFill>
          <a:ln/>
        </p:spPr>
      </p:sp>
      <p:sp>
        <p:nvSpPr>
          <p:cNvPr id="20" name="Text 18"/>
          <p:cNvSpPr/>
          <p:nvPr/>
        </p:nvSpPr>
        <p:spPr>
          <a:xfrm>
            <a:off x="6949440" y="4846320"/>
            <a:ext cx="45720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Always ask it to explain</a:t>
            </a:r>
            <a:endParaRPr lang="en-US" sz="1450" dirty="0"/>
          </a:p>
        </p:txBody>
      </p:sp>
      <p:sp>
        <p:nvSpPr>
          <p:cNvPr id="21" name="Text 19"/>
          <p:cNvSpPr/>
          <p:nvPr/>
        </p:nvSpPr>
        <p:spPr>
          <a:xfrm>
            <a:off x="6949440" y="5212080"/>
            <a:ext cx="4572000" cy="731520"/>
          </a:xfrm>
          <a:prstGeom prst="rect">
            <a:avLst/>
          </a:prstGeom>
          <a:noFill/>
          <a:ln/>
        </p:spPr>
        <p:txBody>
          <a:bodyPr wrap="square" lIns="0" tIns="0" rIns="0" bIns="0" rtlCol="0" anchor="ctr"/>
          <a:lstStyle/>
          <a:p>
            <a:pPr indent="0" marL="0">
              <a:lnSpc>
                <a:spcPct val="108000"/>
              </a:lnSpc>
              <a:buNone/>
            </a:pPr>
            <a:r>
              <a:rPr lang="en-US" sz="1250" dirty="0">
                <a:solidFill>
                  <a:srgbClr val="C7D2E2"/>
                </a:solidFill>
                <a:latin typeface="Calibri" pitchFamily="34" charset="0"/>
                <a:ea typeface="Calibri" pitchFamily="34" charset="-122"/>
                <a:cs typeface="Calibri" pitchFamily="34" charset="-120"/>
              </a:rPr>
              <a:t>So you learn it, and so you can sanity-check that the logic matches what you meant.</a:t>
            </a:r>
            <a:endParaRPr lang="en-US" sz="1250" dirty="0"/>
          </a:p>
        </p:txBody>
      </p:sp>
      <p:sp>
        <p:nvSpPr>
          <p:cNvPr id="23" name="Text 20"/>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4" name="Text 21"/>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EXCEL DEMO · DEMO PACK §7</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Fix a broken formula &amp; explain an inherited one</a:t>
            </a:r>
            <a:endParaRPr lang="en-US" sz="3000" dirty="0"/>
          </a:p>
        </p:txBody>
      </p:sp>
      <p:sp>
        <p:nvSpPr>
          <p:cNvPr id="5" name="Shape 3"/>
          <p:cNvSpPr/>
          <p:nvPr/>
        </p:nvSpPr>
        <p:spPr>
          <a:xfrm>
            <a:off x="457200" y="1783080"/>
            <a:ext cx="548640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685800" y="2011680"/>
            <a:ext cx="548640" cy="548640"/>
          </a:xfrm>
          <a:prstGeom prst="ellipse">
            <a:avLst/>
          </a:prstGeom>
          <a:solidFill>
            <a:srgbClr val="B5532E"/>
          </a:solidFill>
          <a:ln/>
        </p:spPr>
      </p:sp>
      <p:pic>
        <p:nvPicPr>
          <p:cNvPr id="7" name="Image 0" descr="preencoded.png">    </p:cNvPr>
          <p:cNvPicPr>
            <a:picLocks noChangeAspect="1"/>
          </p:cNvPicPr>
          <p:nvPr/>
        </p:nvPicPr>
        <p:blipFill>
          <a:blip r:embed="rId1"/>
          <a:stretch>
            <a:fillRect/>
          </a:stretch>
        </p:blipFill>
        <p:spPr>
          <a:xfrm>
            <a:off x="786384" y="2112264"/>
            <a:ext cx="347472" cy="347472"/>
          </a:xfrm>
          <a:prstGeom prst="rect">
            <a:avLst/>
          </a:prstGeom>
        </p:spPr>
      </p:pic>
      <p:sp>
        <p:nvSpPr>
          <p:cNvPr id="8" name="Text 5"/>
          <p:cNvSpPr/>
          <p:nvPr/>
        </p:nvSpPr>
        <p:spPr>
          <a:xfrm>
            <a:off x="1371600" y="2029968"/>
            <a:ext cx="4389120" cy="50292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“Why is this broken?”</a:t>
            </a:r>
            <a:endParaRPr lang="en-US" sz="1800" dirty="0"/>
          </a:p>
        </p:txBody>
      </p:sp>
      <p:sp>
        <p:nvSpPr>
          <p:cNvPr id="9" name="Shape 6"/>
          <p:cNvSpPr/>
          <p:nvPr/>
        </p:nvSpPr>
        <p:spPr>
          <a:xfrm>
            <a:off x="658368" y="2697480"/>
            <a:ext cx="5084064" cy="1554480"/>
          </a:xfrm>
          <a:prstGeom prst="roundRect">
            <a:avLst>
              <a:gd name="adj" fmla="val 3529"/>
            </a:avLst>
          </a:prstGeom>
          <a:solidFill>
            <a:srgbClr val="1B2A4A"/>
          </a:solidFill>
          <a:ln/>
          <a:effectLst>
            <a:outerShdw sx="100000" sy="100000" kx="0" ky="0" algn="bl" rotWithShape="0" blurRad="88900" dist="38100" dir="8100000">
              <a:srgbClr val="000000">
                <a:alpha val="16000"/>
              </a:srgbClr>
            </a:outerShdw>
          </a:effectLst>
        </p:spPr>
      </p:sp>
      <p:sp>
        <p:nvSpPr>
          <p:cNvPr id="10" name="Text 7"/>
          <p:cNvSpPr/>
          <p:nvPr/>
        </p:nvSpPr>
        <p:spPr>
          <a:xfrm>
            <a:off x="886968" y="2825496"/>
            <a:ext cx="4626864"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PROMPT</a:t>
            </a:r>
            <a:endParaRPr lang="en-US" sz="1000" dirty="0"/>
          </a:p>
        </p:txBody>
      </p:sp>
      <p:sp>
        <p:nvSpPr>
          <p:cNvPr id="11" name="Text 8"/>
          <p:cNvSpPr/>
          <p:nvPr/>
        </p:nvSpPr>
        <p:spPr>
          <a:xfrm>
            <a:off x="886968" y="3118104"/>
            <a:ext cx="4626864" cy="1005840"/>
          </a:xfrm>
          <a:prstGeom prst="rect">
            <a:avLst/>
          </a:prstGeom>
          <a:noFill/>
          <a:ln/>
        </p:spPr>
        <p:txBody>
          <a:bodyPr wrap="square" lIns="0" tIns="0" rIns="0" bIns="0" rtlCol="0" anchor="t"/>
          <a:lstStyle/>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This formula returns #VALUE!. What's</a:t>
            </a: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wrong and how do I fix it?</a:t>
            </a:r>
            <a:endParaRPr lang="en-US" sz="1250" dirty="0"/>
          </a:p>
          <a:p>
            <a:pPr indent="0" marL="0">
              <a:lnSpc>
                <a:spcPct val="108000"/>
              </a:lnSpc>
              <a:buNone/>
            </a:pPr>
            <a:endParaRPr lang="en-US" sz="1250" dirty="0"/>
          </a:p>
          <a:p>
            <a:pPr indent="0" marL="0">
              <a:lnSpc>
                <a:spcPct val="108000"/>
              </a:lnSpc>
              <a:buNone/>
            </a:pPr>
            <a:r>
              <a:rPr lang="en-US" sz="1250" dirty="0">
                <a:solidFill>
                  <a:srgbClr val="EAF0F7"/>
                </a:solidFill>
                <a:latin typeface="Consolas" pitchFamily="34" charset="0"/>
                <a:ea typeface="Consolas" pitchFamily="34" charset="-122"/>
                <a:cs typeface="Consolas" pitchFamily="34" charset="-120"/>
              </a:rPr>
              <a:t>=A2*B2+"shipping"</a:t>
            </a:r>
            <a:endParaRPr lang="en-US" sz="1250" dirty="0"/>
          </a:p>
        </p:txBody>
      </p:sp>
      <p:sp>
        <p:nvSpPr>
          <p:cNvPr id="12" name="Text 9"/>
          <p:cNvSpPr/>
          <p:nvPr/>
        </p:nvSpPr>
        <p:spPr>
          <a:xfrm>
            <a:off x="685800" y="4434840"/>
            <a:ext cx="5029200" cy="1371600"/>
          </a:xfrm>
          <a:prstGeom prst="rect">
            <a:avLst/>
          </a:prstGeom>
          <a:noFill/>
          <a:ln/>
        </p:spPr>
        <p:txBody>
          <a:bodyPr wrap="square" lIns="0" tIns="0" rIns="0" bIns="0" rtlCol="0" anchor="t"/>
          <a:lstStyle/>
          <a:p>
            <a:pPr indent="0" marL="0">
              <a:lnSpc>
                <a:spcPct val="112000"/>
              </a:lnSpc>
              <a:buNone/>
            </a:pPr>
            <a:r>
              <a:rPr lang="en-US" sz="1350" dirty="0">
                <a:solidFill>
                  <a:srgbClr val="3C4A63"/>
                </a:solidFill>
                <a:latin typeface="Calibri" pitchFamily="34" charset="0"/>
                <a:ea typeface="Calibri" pitchFamily="34" charset="-122"/>
                <a:cs typeface="Calibri" pitchFamily="34" charset="-120"/>
              </a:rPr>
              <a:t>Claude spots the problem </a:t>
            </a:r>
            <a:pPr indent="0" marL="0">
              <a:lnSpc>
                <a:spcPct val="112000"/>
              </a:lnSpc>
              <a:buNone/>
            </a:pPr>
            <a:r>
              <a:rPr lang="en-US" sz="1350" b="1" dirty="0">
                <a:solidFill>
                  <a:srgbClr val="1B2A4A"/>
                </a:solidFill>
                <a:latin typeface="Calibri" pitchFamily="34" charset="0"/>
                <a:ea typeface="Calibri" pitchFamily="34" charset="-122"/>
                <a:cs typeface="Calibri" pitchFamily="34" charset="-120"/>
              </a:rPr>
              <a:t>(you can't multiply by a text word), </a:t>
            </a:r>
            <a:pPr indent="0" marL="0">
              <a:lnSpc>
                <a:spcPct val="112000"/>
              </a:lnSpc>
              <a:buNone/>
            </a:pPr>
            <a:r>
              <a:rPr lang="en-US" sz="1350" dirty="0">
                <a:solidFill>
                  <a:srgbClr val="3C4A63"/>
                </a:solidFill>
                <a:latin typeface="Calibri" pitchFamily="34" charset="0"/>
                <a:ea typeface="Calibri" pitchFamily="34" charset="-122"/>
                <a:cs typeface="Calibri" pitchFamily="34" charset="-120"/>
              </a:rPr>
              <a:t>explains it, and hands back the corrected formula.</a:t>
            </a:r>
            <a:endParaRPr lang="en-US" sz="1350" dirty="0"/>
          </a:p>
        </p:txBody>
      </p:sp>
      <p:sp>
        <p:nvSpPr>
          <p:cNvPr id="13" name="Shape 10"/>
          <p:cNvSpPr/>
          <p:nvPr/>
        </p:nvSpPr>
        <p:spPr>
          <a:xfrm>
            <a:off x="6217920" y="1783080"/>
            <a:ext cx="5532120" cy="4160520"/>
          </a:xfrm>
          <a:prstGeom prst="roundRect">
            <a:avLst>
              <a:gd name="adj" fmla="val 1758"/>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4" name="Shape 11"/>
          <p:cNvSpPr/>
          <p:nvPr/>
        </p:nvSpPr>
        <p:spPr>
          <a:xfrm>
            <a:off x="6446520" y="2011680"/>
            <a:ext cx="548640" cy="548640"/>
          </a:xfrm>
          <a:prstGeom prst="ellipse">
            <a:avLst/>
          </a:prstGeom>
          <a:solidFill>
            <a:srgbClr val="2C8C8C"/>
          </a:solidFill>
          <a:ln/>
        </p:spPr>
      </p:sp>
      <p:pic>
        <p:nvPicPr>
          <p:cNvPr id="15" name="Image 1" descr="preencoded.png">    </p:cNvPr>
          <p:cNvPicPr>
            <a:picLocks noChangeAspect="1"/>
          </p:cNvPicPr>
          <p:nvPr/>
        </p:nvPicPr>
        <p:blipFill>
          <a:blip r:embed="rId2"/>
          <a:stretch>
            <a:fillRect/>
          </a:stretch>
        </p:blipFill>
        <p:spPr>
          <a:xfrm>
            <a:off x="6547104" y="2112264"/>
            <a:ext cx="347472" cy="347472"/>
          </a:xfrm>
          <a:prstGeom prst="rect">
            <a:avLst/>
          </a:prstGeom>
        </p:spPr>
      </p:pic>
      <p:sp>
        <p:nvSpPr>
          <p:cNvPr id="16" name="Text 12"/>
          <p:cNvSpPr/>
          <p:nvPr/>
        </p:nvSpPr>
        <p:spPr>
          <a:xfrm>
            <a:off x="7132320" y="2029968"/>
            <a:ext cx="4480560" cy="50292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“What does this even do?”</a:t>
            </a:r>
            <a:endParaRPr lang="en-US" sz="1800" dirty="0"/>
          </a:p>
        </p:txBody>
      </p:sp>
      <p:sp>
        <p:nvSpPr>
          <p:cNvPr id="17" name="Shape 13"/>
          <p:cNvSpPr/>
          <p:nvPr/>
        </p:nvSpPr>
        <p:spPr>
          <a:xfrm>
            <a:off x="6419088" y="2697480"/>
            <a:ext cx="5129784" cy="1554480"/>
          </a:xfrm>
          <a:prstGeom prst="roundRect">
            <a:avLst>
              <a:gd name="adj" fmla="val 3529"/>
            </a:avLst>
          </a:prstGeom>
          <a:solidFill>
            <a:srgbClr val="1B2A4A"/>
          </a:solidFill>
          <a:ln/>
          <a:effectLst>
            <a:outerShdw sx="100000" sy="100000" kx="0" ky="0" algn="bl" rotWithShape="0" blurRad="88900" dist="38100" dir="8100000">
              <a:srgbClr val="000000">
                <a:alpha val="16000"/>
              </a:srgbClr>
            </a:outerShdw>
          </a:effectLst>
        </p:spPr>
      </p:sp>
      <p:sp>
        <p:nvSpPr>
          <p:cNvPr id="18" name="Text 14"/>
          <p:cNvSpPr/>
          <p:nvPr/>
        </p:nvSpPr>
        <p:spPr>
          <a:xfrm>
            <a:off x="6647688" y="2825496"/>
            <a:ext cx="4672584" cy="256032"/>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PROMPT</a:t>
            </a:r>
            <a:endParaRPr lang="en-US" sz="1000" dirty="0"/>
          </a:p>
        </p:txBody>
      </p:sp>
      <p:sp>
        <p:nvSpPr>
          <p:cNvPr id="19" name="Text 15"/>
          <p:cNvSpPr/>
          <p:nvPr/>
        </p:nvSpPr>
        <p:spPr>
          <a:xfrm>
            <a:off x="6647688" y="3118104"/>
            <a:ext cx="4672584" cy="1005840"/>
          </a:xfrm>
          <a:prstGeom prst="rect">
            <a:avLst/>
          </a:prstGeom>
          <a:noFill/>
          <a:ln/>
        </p:spPr>
        <p:txBody>
          <a:bodyPr wrap="square" lIns="0" tIns="0" rIns="0" bIns="0" rtlCol="0" anchor="t"/>
          <a:lstStyle/>
          <a:p>
            <a:pPr indent="0" marL="0">
              <a:lnSpc>
                <a:spcPct val="108000"/>
              </a:lnSpc>
              <a:buNone/>
            </a:pPr>
            <a:r>
              <a:rPr lang="en-US" sz="1150" dirty="0">
                <a:solidFill>
                  <a:srgbClr val="EAF0F7"/>
                </a:solidFill>
                <a:latin typeface="Consolas" pitchFamily="34" charset="0"/>
                <a:ea typeface="Consolas" pitchFamily="34" charset="-122"/>
                <a:cs typeface="Consolas" pitchFamily="34" charset="-120"/>
              </a:rPr>
              <a:t>Explain what this formula does, step by</a:t>
            </a:r>
            <a:endParaRPr lang="en-US" sz="1250" dirty="0"/>
          </a:p>
          <a:p>
            <a:pPr indent="0" marL="0">
              <a:lnSpc>
                <a:spcPct val="108000"/>
              </a:lnSpc>
              <a:buNone/>
            </a:pPr>
            <a:r>
              <a:rPr lang="en-US" sz="1150" dirty="0">
                <a:solidFill>
                  <a:srgbClr val="EAF0F7"/>
                </a:solidFill>
                <a:latin typeface="Consolas" pitchFamily="34" charset="0"/>
                <a:ea typeface="Consolas" pitchFamily="34" charset="-122"/>
                <a:cs typeface="Consolas" pitchFamily="34" charset="-120"/>
              </a:rPr>
              <a:t>step, like I'm new to Excel:</a:t>
            </a:r>
            <a:endParaRPr lang="en-US" sz="1250" dirty="0"/>
          </a:p>
          <a:p>
            <a:pPr indent="0" marL="0">
              <a:lnSpc>
                <a:spcPct val="108000"/>
              </a:lnSpc>
              <a:buNone/>
            </a:pPr>
            <a:endParaRPr lang="en-US" sz="1250" dirty="0"/>
          </a:p>
          <a:p>
            <a:pPr indent="0" marL="0">
              <a:lnSpc>
                <a:spcPct val="108000"/>
              </a:lnSpc>
              <a:buNone/>
            </a:pPr>
            <a:r>
              <a:rPr lang="en-US" sz="1150" dirty="0">
                <a:solidFill>
                  <a:srgbClr val="EAF0F7"/>
                </a:solidFill>
                <a:latin typeface="Consolas" pitchFamily="34" charset="0"/>
                <a:ea typeface="Consolas" pitchFamily="34" charset="-122"/>
                <a:cs typeface="Consolas" pitchFamily="34" charset="-120"/>
              </a:rPr>
              <a:t>=IFERROR(VLOOKUP(A2,Sheet2!A:C,3,0),"")</a:t>
            </a:r>
            <a:endParaRPr lang="en-US" sz="1250" dirty="0"/>
          </a:p>
        </p:txBody>
      </p:sp>
      <p:sp>
        <p:nvSpPr>
          <p:cNvPr id="20" name="Text 16"/>
          <p:cNvSpPr/>
          <p:nvPr/>
        </p:nvSpPr>
        <p:spPr>
          <a:xfrm>
            <a:off x="6446520" y="4434840"/>
            <a:ext cx="5029200" cy="1371600"/>
          </a:xfrm>
          <a:prstGeom prst="rect">
            <a:avLst/>
          </a:prstGeom>
          <a:noFill/>
          <a:ln/>
        </p:spPr>
        <p:txBody>
          <a:bodyPr wrap="square" lIns="0" tIns="0" rIns="0" bIns="0" rtlCol="0" anchor="t"/>
          <a:lstStyle/>
          <a:p>
            <a:pPr indent="0" marL="0">
              <a:lnSpc>
                <a:spcPct val="112000"/>
              </a:lnSpc>
              <a:buNone/>
            </a:pPr>
            <a:r>
              <a:rPr lang="en-US" sz="1350" dirty="0">
                <a:solidFill>
                  <a:srgbClr val="3C4A63"/>
                </a:solidFill>
                <a:latin typeface="Calibri" pitchFamily="34" charset="0"/>
                <a:ea typeface="Calibri" pitchFamily="34" charset="-122"/>
                <a:cs typeface="Calibri" pitchFamily="34" charset="-120"/>
              </a:rPr>
              <a:t>Perfect for the spreadsheet you inherited </a:t>
            </a:r>
            <a:pPr indent="0" marL="0">
              <a:lnSpc>
                <a:spcPct val="112000"/>
              </a:lnSpc>
              <a:buNone/>
            </a:pPr>
            <a:r>
              <a:rPr lang="en-US" sz="1350" b="1" dirty="0">
                <a:solidFill>
                  <a:srgbClr val="1B2A4A"/>
                </a:solidFill>
                <a:latin typeface="Calibri" pitchFamily="34" charset="0"/>
                <a:ea typeface="Calibri" pitchFamily="34" charset="-122"/>
                <a:cs typeface="Calibri" pitchFamily="34" charset="-120"/>
              </a:rPr>
              <a:t>and are afraid to touch. </a:t>
            </a:r>
            <a:pPr indent="0" marL="0">
              <a:lnSpc>
                <a:spcPct val="112000"/>
              </a:lnSpc>
              <a:buNone/>
            </a:pPr>
            <a:r>
              <a:rPr lang="en-US" sz="1350" dirty="0">
                <a:solidFill>
                  <a:srgbClr val="3C4A63"/>
                </a:solidFill>
                <a:latin typeface="Calibri" pitchFamily="34" charset="0"/>
                <a:ea typeface="Calibri" pitchFamily="34" charset="-122"/>
                <a:cs typeface="Calibri" pitchFamily="34" charset="-120"/>
              </a:rPr>
              <a:t>Now you understand it before you change it.</a:t>
            </a:r>
            <a:endParaRPr lang="en-US" sz="1350" dirty="0"/>
          </a:p>
        </p:txBody>
      </p:sp>
      <p:sp>
        <p:nvSpPr>
          <p:cNvPr id="22" name="Text 17"/>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3" name="Text 18"/>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MAKE IT STICK</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Save your best prompts and reuse them</a:t>
            </a:r>
            <a:endParaRPr lang="en-US" sz="3000" dirty="0"/>
          </a:p>
        </p:txBody>
      </p:sp>
      <p:sp>
        <p:nvSpPr>
          <p:cNvPr id="5" name="Text 3"/>
          <p:cNvSpPr/>
          <p:nvPr/>
        </p:nvSpPr>
        <p:spPr>
          <a:xfrm>
            <a:off x="457200" y="1508760"/>
            <a:ext cx="11247120" cy="457200"/>
          </a:xfrm>
          <a:prstGeom prst="rect">
            <a:avLst/>
          </a:prstGeom>
          <a:noFill/>
          <a:ln/>
        </p:spPr>
        <p:txBody>
          <a:bodyPr wrap="square" lIns="0" tIns="0" rIns="0" bIns="0" rtlCol="0" anchor="ctr"/>
          <a:lstStyle/>
          <a:p>
            <a:pPr indent="0" marL="0">
              <a:buNone/>
            </a:pPr>
            <a:r>
              <a:rPr lang="en-US" sz="1500" i="1" dirty="0">
                <a:solidFill>
                  <a:srgbClr val="3C4A63"/>
                </a:solidFill>
                <a:latin typeface="Calibri" pitchFamily="34" charset="0"/>
                <a:ea typeface="Calibri" pitchFamily="34" charset="-122"/>
                <a:cs typeface="Calibri" pitchFamily="34" charset="-120"/>
              </a:rPr>
              <a:t>The first time you write a good prompt is the slow time. Save it, and every time after is a 10-second job.</a:t>
            </a:r>
            <a:endParaRPr lang="en-US" sz="1500" dirty="0"/>
          </a:p>
        </p:txBody>
      </p:sp>
      <p:sp>
        <p:nvSpPr>
          <p:cNvPr id="6" name="Shape 4"/>
          <p:cNvSpPr/>
          <p:nvPr/>
        </p:nvSpPr>
        <p:spPr>
          <a:xfrm>
            <a:off x="457200" y="2148840"/>
            <a:ext cx="3657600" cy="2240280"/>
          </a:xfrm>
          <a:prstGeom prst="roundRect">
            <a:avLst>
              <a:gd name="adj" fmla="val 3265"/>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731520" y="2441448"/>
            <a:ext cx="777240" cy="777240"/>
          </a:xfrm>
          <a:prstGeom prst="ellipse">
            <a:avLst/>
          </a:prstGeom>
          <a:solidFill>
            <a:srgbClr val="1B2A4A"/>
          </a:solidFill>
          <a:ln/>
        </p:spPr>
      </p:sp>
      <p:pic>
        <p:nvPicPr>
          <p:cNvPr id="8" name="Image 0" descr="preencoded.png">    </p:cNvPr>
          <p:cNvPicPr>
            <a:picLocks noChangeAspect="1"/>
          </p:cNvPicPr>
          <p:nvPr/>
        </p:nvPicPr>
        <p:blipFill>
          <a:blip r:embed="rId1"/>
          <a:stretch>
            <a:fillRect/>
          </a:stretch>
        </p:blipFill>
        <p:spPr>
          <a:xfrm>
            <a:off x="905256" y="2615184"/>
            <a:ext cx="429768" cy="429768"/>
          </a:xfrm>
          <a:prstGeom prst="rect">
            <a:avLst/>
          </a:prstGeom>
        </p:spPr>
      </p:pic>
      <p:sp>
        <p:nvSpPr>
          <p:cNvPr id="9" name="Text 6"/>
          <p:cNvSpPr/>
          <p:nvPr/>
        </p:nvSpPr>
        <p:spPr>
          <a:xfrm>
            <a:off x="731520" y="3355848"/>
            <a:ext cx="3108960" cy="548640"/>
          </a:xfrm>
          <a:prstGeom prst="rect">
            <a:avLst/>
          </a:prstGeom>
          <a:noFill/>
          <a:ln/>
        </p:spPr>
        <p:txBody>
          <a:bodyPr wrap="square" lIns="0" tIns="0" rIns="0" bIns="0" rtlCol="0" anchor="ctr"/>
          <a:lstStyle/>
          <a:p>
            <a:pPr indent="0" marL="0">
              <a:buNone/>
            </a:pPr>
            <a:r>
              <a:rPr lang="en-US" sz="1700" b="1" dirty="0">
                <a:solidFill>
                  <a:srgbClr val="1B2A4A"/>
                </a:solidFill>
                <a:latin typeface="Georgia" pitchFamily="34" charset="0"/>
                <a:ea typeface="Georgia" pitchFamily="34" charset="-122"/>
                <a:cs typeface="Georgia" pitchFamily="34" charset="-120"/>
              </a:rPr>
              <a:t>Keep a prompt notebook</a:t>
            </a:r>
            <a:endParaRPr lang="en-US" sz="1700" dirty="0"/>
          </a:p>
        </p:txBody>
      </p:sp>
      <p:sp>
        <p:nvSpPr>
          <p:cNvPr id="10" name="Text 7"/>
          <p:cNvSpPr/>
          <p:nvPr/>
        </p:nvSpPr>
        <p:spPr>
          <a:xfrm>
            <a:off x="731520" y="3776472"/>
            <a:ext cx="3108960" cy="548640"/>
          </a:xfrm>
          <a:prstGeom prst="rect">
            <a:avLst/>
          </a:prstGeom>
          <a:noFill/>
          <a:ln/>
        </p:spPr>
        <p:txBody>
          <a:bodyPr wrap="square" lIns="0" tIns="0" rIns="0" bIns="0" rtlCol="0" anchor="ctr"/>
          <a:lstStyle/>
          <a:p>
            <a:pPr indent="0" marL="0">
              <a:lnSpc>
                <a:spcPct val="108000"/>
              </a:lnSpc>
              <a:buNone/>
            </a:pPr>
            <a:r>
              <a:rPr lang="en-US" sz="1250" dirty="0">
                <a:solidFill>
                  <a:srgbClr val="3C4A63"/>
                </a:solidFill>
                <a:latin typeface="Calibri" pitchFamily="34" charset="0"/>
                <a:ea typeface="Calibri" pitchFamily="34" charset="-122"/>
                <a:cs typeface="Calibri" pitchFamily="34" charset="-120"/>
              </a:rPr>
              <a:t>A simple Word doc or note with your 5–10 go-to prompts. Copy, tweak the specifics, paste.</a:t>
            </a:r>
            <a:endParaRPr lang="en-US" sz="1250" dirty="0"/>
          </a:p>
        </p:txBody>
      </p:sp>
      <p:sp>
        <p:nvSpPr>
          <p:cNvPr id="11" name="Shape 8"/>
          <p:cNvSpPr/>
          <p:nvPr/>
        </p:nvSpPr>
        <p:spPr>
          <a:xfrm>
            <a:off x="4261104" y="2148840"/>
            <a:ext cx="3657600" cy="2240280"/>
          </a:xfrm>
          <a:prstGeom prst="roundRect">
            <a:avLst>
              <a:gd name="adj" fmla="val 3265"/>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Shape 9"/>
          <p:cNvSpPr/>
          <p:nvPr/>
        </p:nvSpPr>
        <p:spPr>
          <a:xfrm>
            <a:off x="4535424" y="2441448"/>
            <a:ext cx="777240" cy="777240"/>
          </a:xfrm>
          <a:prstGeom prst="ellipse">
            <a:avLst/>
          </a:prstGeom>
          <a:solidFill>
            <a:srgbClr val="1B2A4A"/>
          </a:solidFill>
          <a:ln/>
        </p:spPr>
      </p:sp>
      <p:pic>
        <p:nvPicPr>
          <p:cNvPr id="13" name="Image 1" descr="preencoded.png">    </p:cNvPr>
          <p:cNvPicPr>
            <a:picLocks noChangeAspect="1"/>
          </p:cNvPicPr>
          <p:nvPr/>
        </p:nvPicPr>
        <p:blipFill>
          <a:blip r:embed="rId2"/>
          <a:stretch>
            <a:fillRect/>
          </a:stretch>
        </p:blipFill>
        <p:spPr>
          <a:xfrm>
            <a:off x="4709160" y="2615184"/>
            <a:ext cx="429768" cy="429768"/>
          </a:xfrm>
          <a:prstGeom prst="rect">
            <a:avLst/>
          </a:prstGeom>
        </p:spPr>
      </p:pic>
      <p:sp>
        <p:nvSpPr>
          <p:cNvPr id="14" name="Text 10"/>
          <p:cNvSpPr/>
          <p:nvPr/>
        </p:nvSpPr>
        <p:spPr>
          <a:xfrm>
            <a:off x="4535424" y="3355848"/>
            <a:ext cx="3108960" cy="548640"/>
          </a:xfrm>
          <a:prstGeom prst="rect">
            <a:avLst/>
          </a:prstGeom>
          <a:noFill/>
          <a:ln/>
        </p:spPr>
        <p:txBody>
          <a:bodyPr wrap="square" lIns="0" tIns="0" rIns="0" bIns="0" rtlCol="0" anchor="ctr"/>
          <a:lstStyle/>
          <a:p>
            <a:pPr indent="0" marL="0">
              <a:buNone/>
            </a:pPr>
            <a:r>
              <a:rPr lang="en-US" sz="1700" b="1" dirty="0">
                <a:solidFill>
                  <a:srgbClr val="1B2A4A"/>
                </a:solidFill>
                <a:latin typeface="Georgia" pitchFamily="34" charset="0"/>
                <a:ea typeface="Georgia" pitchFamily="34" charset="-122"/>
                <a:cs typeface="Georgia" pitchFamily="34" charset="-120"/>
              </a:rPr>
              <a:t>Use a fill-in template</a:t>
            </a:r>
            <a:endParaRPr lang="en-US" sz="1700" dirty="0"/>
          </a:p>
        </p:txBody>
      </p:sp>
      <p:sp>
        <p:nvSpPr>
          <p:cNvPr id="15" name="Text 11"/>
          <p:cNvSpPr/>
          <p:nvPr/>
        </p:nvSpPr>
        <p:spPr>
          <a:xfrm>
            <a:off x="4535424" y="3776472"/>
            <a:ext cx="3108960" cy="548640"/>
          </a:xfrm>
          <a:prstGeom prst="rect">
            <a:avLst/>
          </a:prstGeom>
          <a:noFill/>
          <a:ln/>
        </p:spPr>
        <p:txBody>
          <a:bodyPr wrap="square" lIns="0" tIns="0" rIns="0" bIns="0" rtlCol="0" anchor="ctr"/>
          <a:lstStyle/>
          <a:p>
            <a:pPr indent="0" marL="0">
              <a:lnSpc>
                <a:spcPct val="108000"/>
              </a:lnSpc>
              <a:buNone/>
            </a:pPr>
            <a:r>
              <a:rPr lang="en-US" sz="1250" dirty="0">
                <a:solidFill>
                  <a:srgbClr val="3C4A63"/>
                </a:solidFill>
                <a:latin typeface="Calibri" pitchFamily="34" charset="0"/>
                <a:ea typeface="Calibri" pitchFamily="34" charset="-122"/>
                <a:cs typeface="Calibri" pitchFamily="34" charset="-120"/>
              </a:rPr>
              <a:t>Write prompts with blanks: “Write a [tone] email to [who] about [topic], [length].”</a:t>
            </a:r>
            <a:endParaRPr lang="en-US" sz="1250" dirty="0"/>
          </a:p>
        </p:txBody>
      </p:sp>
      <p:sp>
        <p:nvSpPr>
          <p:cNvPr id="16" name="Shape 12"/>
          <p:cNvSpPr/>
          <p:nvPr/>
        </p:nvSpPr>
        <p:spPr>
          <a:xfrm>
            <a:off x="8065008" y="2148840"/>
            <a:ext cx="3657600" cy="2240280"/>
          </a:xfrm>
          <a:prstGeom prst="roundRect">
            <a:avLst>
              <a:gd name="adj" fmla="val 3265"/>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7" name="Shape 13"/>
          <p:cNvSpPr/>
          <p:nvPr/>
        </p:nvSpPr>
        <p:spPr>
          <a:xfrm>
            <a:off x="8339328" y="2441448"/>
            <a:ext cx="777240" cy="777240"/>
          </a:xfrm>
          <a:prstGeom prst="ellipse">
            <a:avLst/>
          </a:prstGeom>
          <a:solidFill>
            <a:srgbClr val="1B2A4A"/>
          </a:solidFill>
          <a:ln/>
        </p:spPr>
      </p:sp>
      <p:pic>
        <p:nvPicPr>
          <p:cNvPr id="18" name="Image 2" descr="preencoded.png">    </p:cNvPr>
          <p:cNvPicPr>
            <a:picLocks noChangeAspect="1"/>
          </p:cNvPicPr>
          <p:nvPr/>
        </p:nvPicPr>
        <p:blipFill>
          <a:blip r:embed="rId3"/>
          <a:stretch>
            <a:fillRect/>
          </a:stretch>
        </p:blipFill>
        <p:spPr>
          <a:xfrm>
            <a:off x="8513064" y="2615184"/>
            <a:ext cx="429768" cy="429768"/>
          </a:xfrm>
          <a:prstGeom prst="rect">
            <a:avLst/>
          </a:prstGeom>
        </p:spPr>
      </p:pic>
      <p:sp>
        <p:nvSpPr>
          <p:cNvPr id="19" name="Text 14"/>
          <p:cNvSpPr/>
          <p:nvPr/>
        </p:nvSpPr>
        <p:spPr>
          <a:xfrm>
            <a:off x="8339328" y="3355848"/>
            <a:ext cx="3108960" cy="548640"/>
          </a:xfrm>
          <a:prstGeom prst="rect">
            <a:avLst/>
          </a:prstGeom>
          <a:noFill/>
          <a:ln/>
        </p:spPr>
        <p:txBody>
          <a:bodyPr wrap="square" lIns="0" tIns="0" rIns="0" bIns="0" rtlCol="0" anchor="ctr"/>
          <a:lstStyle/>
          <a:p>
            <a:pPr indent="0" marL="0">
              <a:buNone/>
            </a:pPr>
            <a:r>
              <a:rPr lang="en-US" sz="1700" b="1" dirty="0">
                <a:solidFill>
                  <a:srgbClr val="1B2A4A"/>
                </a:solidFill>
                <a:latin typeface="Georgia" pitchFamily="34" charset="0"/>
                <a:ea typeface="Georgia" pitchFamily="34" charset="-122"/>
                <a:cs typeface="Georgia" pitchFamily="34" charset="-120"/>
              </a:rPr>
              <a:t>Save the wording that worked</a:t>
            </a:r>
            <a:endParaRPr lang="en-US" sz="1700" dirty="0"/>
          </a:p>
        </p:txBody>
      </p:sp>
      <p:sp>
        <p:nvSpPr>
          <p:cNvPr id="20" name="Text 15"/>
          <p:cNvSpPr/>
          <p:nvPr/>
        </p:nvSpPr>
        <p:spPr>
          <a:xfrm>
            <a:off x="8339328" y="3776472"/>
            <a:ext cx="3108960" cy="548640"/>
          </a:xfrm>
          <a:prstGeom prst="rect">
            <a:avLst/>
          </a:prstGeom>
          <a:noFill/>
          <a:ln/>
        </p:spPr>
        <p:txBody>
          <a:bodyPr wrap="square" lIns="0" tIns="0" rIns="0" bIns="0" rtlCol="0" anchor="ctr"/>
          <a:lstStyle/>
          <a:p>
            <a:pPr indent="0" marL="0">
              <a:lnSpc>
                <a:spcPct val="108000"/>
              </a:lnSpc>
              <a:buNone/>
            </a:pPr>
            <a:r>
              <a:rPr lang="en-US" sz="1250" dirty="0">
                <a:solidFill>
                  <a:srgbClr val="3C4A63"/>
                </a:solidFill>
                <a:latin typeface="Calibri" pitchFamily="34" charset="0"/>
                <a:ea typeface="Calibri" pitchFamily="34" charset="-122"/>
                <a:cs typeface="Calibri" pitchFamily="34" charset="-120"/>
              </a:rPr>
              <a:t>When an output nails it, save the exact prompt that produced it, don't reinvent it next week.</a:t>
            </a:r>
            <a:endParaRPr lang="en-US" sz="1250" dirty="0"/>
          </a:p>
        </p:txBody>
      </p:sp>
      <p:sp>
        <p:nvSpPr>
          <p:cNvPr id="21" name="Shape 16"/>
          <p:cNvSpPr/>
          <p:nvPr/>
        </p:nvSpPr>
        <p:spPr>
          <a:xfrm>
            <a:off x="457200" y="4617720"/>
            <a:ext cx="11274552" cy="1325880"/>
          </a:xfrm>
          <a:prstGeom prst="roundRect">
            <a:avLst>
              <a:gd name="adj" fmla="val 4138"/>
            </a:avLst>
          </a:prstGeom>
          <a:solidFill>
            <a:srgbClr val="1B2A4A"/>
          </a:solidFill>
          <a:ln/>
        </p:spPr>
      </p:sp>
      <p:sp>
        <p:nvSpPr>
          <p:cNvPr id="22" name="Text 17"/>
          <p:cNvSpPr/>
          <p:nvPr/>
        </p:nvSpPr>
        <p:spPr>
          <a:xfrm>
            <a:off x="731520" y="4773168"/>
            <a:ext cx="4572000" cy="274320"/>
          </a:xfrm>
          <a:prstGeom prst="rect">
            <a:avLst/>
          </a:prstGeom>
          <a:noFill/>
          <a:ln/>
        </p:spPr>
        <p:txBody>
          <a:bodyPr wrap="square" lIns="0" tIns="0" rIns="0" bIns="0"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EXAMPLE TEMPLATE</a:t>
            </a:r>
            <a:endParaRPr lang="en-US" sz="1000" dirty="0"/>
          </a:p>
        </p:txBody>
      </p:sp>
      <p:sp>
        <p:nvSpPr>
          <p:cNvPr id="23" name="Text 18"/>
          <p:cNvSpPr/>
          <p:nvPr/>
        </p:nvSpPr>
        <p:spPr>
          <a:xfrm>
            <a:off x="731520" y="5074920"/>
            <a:ext cx="10698480" cy="777240"/>
          </a:xfrm>
          <a:prstGeom prst="rect">
            <a:avLst/>
          </a:prstGeom>
          <a:noFill/>
          <a:ln/>
        </p:spPr>
        <p:txBody>
          <a:bodyPr wrap="square" lIns="0" tIns="0" rIns="0" bIns="0" rtlCol="0" anchor="t"/>
          <a:lstStyle/>
          <a:p>
            <a:pPr indent="0" marL="0">
              <a:lnSpc>
                <a:spcPct val="110000"/>
              </a:lnSpc>
              <a:buNone/>
            </a:pPr>
            <a:r>
              <a:rPr lang="en-US" sz="1450" dirty="0">
                <a:solidFill>
                  <a:srgbClr val="EAF0F7"/>
                </a:solidFill>
                <a:latin typeface="Consolas" pitchFamily="34" charset="0"/>
                <a:ea typeface="Consolas" pitchFamily="34" charset="-122"/>
                <a:cs typeface="Consolas" pitchFamily="34" charset="-120"/>
              </a:rPr>
              <a:t>“You're my [role]. Using the text below, write a [deliverable] for [audience]. </a:t>
            </a:r>
            <a:pPr indent="0" marL="0">
              <a:lnSpc>
                <a:spcPct val="110000"/>
              </a:lnSpc>
              <a:buNone/>
            </a:pPr>
            <a:r>
              <a:rPr lang="en-US" sz="1450" dirty="0">
                <a:solidFill>
                  <a:srgbClr val="8FE3C5"/>
                </a:solidFill>
                <a:latin typeface="Consolas" pitchFamily="34" charset="0"/>
                <a:ea typeface="Consolas" pitchFamily="34" charset="-122"/>
                <a:cs typeface="Consolas" pitchFamily="34" charset="-120"/>
              </a:rPr>
              <a:t>Format: [length / structure]. Keep my facts; don't invent anything.”</a:t>
            </a:r>
            <a:endParaRPr lang="en-US" sz="1450" dirty="0"/>
          </a:p>
        </p:txBody>
      </p:sp>
      <p:sp>
        <p:nvSpPr>
          <p:cNvPr id="25" name="Text 1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6" name="Text 20"/>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MAKE IT STICK</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A simple daily workflow you can start tomorrow</a:t>
            </a:r>
            <a:endParaRPr lang="en-US" sz="3000" dirty="0"/>
          </a:p>
        </p:txBody>
      </p:sp>
      <p:sp>
        <p:nvSpPr>
          <p:cNvPr id="5" name="Shape 3"/>
          <p:cNvSpPr/>
          <p:nvPr/>
        </p:nvSpPr>
        <p:spPr>
          <a:xfrm>
            <a:off x="457200" y="1828800"/>
            <a:ext cx="3611880" cy="2743200"/>
          </a:xfrm>
          <a:prstGeom prst="roundRect">
            <a:avLst>
              <a:gd name="adj" fmla="val 2667"/>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1805940" y="2194560"/>
            <a:ext cx="914400" cy="914400"/>
          </a:xfrm>
          <a:prstGeom prst="ellipse">
            <a:avLst/>
          </a:prstGeom>
          <a:solidFill>
            <a:srgbClr val="F5F7FA"/>
          </a:solidFill>
          <a:ln/>
        </p:spPr>
      </p:sp>
      <p:pic>
        <p:nvPicPr>
          <p:cNvPr id="7" name="Image 0" descr="preencoded.png">    </p:cNvPr>
          <p:cNvPicPr>
            <a:picLocks noChangeAspect="1"/>
          </p:cNvPicPr>
          <p:nvPr/>
        </p:nvPicPr>
        <p:blipFill>
          <a:blip r:embed="rId1"/>
          <a:stretch>
            <a:fillRect/>
          </a:stretch>
        </p:blipFill>
        <p:spPr>
          <a:xfrm>
            <a:off x="2016252" y="2404872"/>
            <a:ext cx="493776" cy="493776"/>
          </a:xfrm>
          <a:prstGeom prst="rect">
            <a:avLst/>
          </a:prstGeom>
        </p:spPr>
      </p:pic>
      <p:sp>
        <p:nvSpPr>
          <p:cNvPr id="8" name="Text 5"/>
          <p:cNvSpPr/>
          <p:nvPr/>
        </p:nvSpPr>
        <p:spPr>
          <a:xfrm>
            <a:off x="731520" y="3246120"/>
            <a:ext cx="3063240" cy="411480"/>
          </a:xfrm>
          <a:prstGeom prst="rect">
            <a:avLst/>
          </a:prstGeom>
          <a:noFill/>
          <a:ln/>
        </p:spPr>
        <p:txBody>
          <a:bodyPr wrap="square" lIns="0" tIns="0" rIns="0" bIns="0" rtlCol="0" anchor="ctr"/>
          <a:lstStyle/>
          <a:p>
            <a:pPr algn="ctr" indent="0" marL="0">
              <a:buNone/>
            </a:pPr>
            <a:r>
              <a:rPr lang="en-US" sz="1900" b="1" dirty="0">
                <a:solidFill>
                  <a:srgbClr val="1B2A4A"/>
                </a:solidFill>
                <a:latin typeface="Georgia" pitchFamily="34" charset="0"/>
                <a:ea typeface="Georgia" pitchFamily="34" charset="-122"/>
                <a:cs typeface="Georgia" pitchFamily="34" charset="-120"/>
              </a:rPr>
              <a:t>Morning</a:t>
            </a:r>
            <a:endParaRPr lang="en-US" sz="1900" dirty="0"/>
          </a:p>
        </p:txBody>
      </p:sp>
      <p:sp>
        <p:nvSpPr>
          <p:cNvPr id="9" name="Text 6"/>
          <p:cNvSpPr/>
          <p:nvPr/>
        </p:nvSpPr>
        <p:spPr>
          <a:xfrm>
            <a:off x="731520" y="3703320"/>
            <a:ext cx="3063240" cy="777240"/>
          </a:xfrm>
          <a:prstGeom prst="rect">
            <a:avLst/>
          </a:prstGeom>
          <a:noFill/>
          <a:ln/>
        </p:spPr>
        <p:txBody>
          <a:bodyPr wrap="square" lIns="0" tIns="0" rIns="0" bIns="0" rtlCol="0" anchor="ctr"/>
          <a:lstStyle/>
          <a:p>
            <a:pPr algn="ctr" indent="0" marL="0">
              <a:lnSpc>
                <a:spcPct val="110000"/>
              </a:lnSpc>
              <a:buNone/>
            </a:pPr>
            <a:r>
              <a:rPr lang="en-US" sz="1250" dirty="0">
                <a:solidFill>
                  <a:srgbClr val="3C4A63"/>
                </a:solidFill>
                <a:latin typeface="Calibri" pitchFamily="34" charset="0"/>
                <a:ea typeface="Calibri" pitchFamily="34" charset="-122"/>
                <a:cs typeface="Calibri" pitchFamily="34" charset="-120"/>
              </a:rPr>
              <a:t>Paste in your overnight email or notes:</a:t>
            </a:r>
            <a:endParaRPr lang="en-US" sz="1250" dirty="0"/>
          </a:p>
          <a:p>
            <a:pPr algn="ctr" indent="0" marL="0">
              <a:lnSpc>
                <a:spcPct val="110000"/>
              </a:lnSpc>
              <a:buNone/>
            </a:pPr>
            <a:r>
              <a:rPr lang="en-US" sz="1250" dirty="0">
                <a:solidFill>
                  <a:srgbClr val="3C4A63"/>
                </a:solidFill>
                <a:latin typeface="Calibri" pitchFamily="34" charset="0"/>
                <a:ea typeface="Calibri" pitchFamily="34" charset="-122"/>
                <a:cs typeface="Calibri" pitchFamily="34" charset="-120"/>
              </a:rPr>
              <a:t>“Summarize and tell me what needs a reply today.”</a:t>
            </a:r>
            <a:endParaRPr lang="en-US" sz="1250" dirty="0"/>
          </a:p>
        </p:txBody>
      </p:sp>
      <p:sp>
        <p:nvSpPr>
          <p:cNvPr id="10" name="Text 7"/>
          <p:cNvSpPr/>
          <p:nvPr/>
        </p:nvSpPr>
        <p:spPr>
          <a:xfrm>
            <a:off x="4087368" y="2926080"/>
            <a:ext cx="201168" cy="457200"/>
          </a:xfrm>
          <a:prstGeom prst="rect">
            <a:avLst/>
          </a:prstGeom>
          <a:noFill/>
          <a:ln/>
        </p:spPr>
        <p:txBody>
          <a:bodyPr wrap="square" lIns="0" tIns="0" rIns="0" bIns="0" rtlCol="0" anchor="ctr"/>
          <a:lstStyle/>
          <a:p>
            <a:pPr algn="ctr" indent="0" marL="0">
              <a:buNone/>
            </a:pPr>
            <a:r>
              <a:rPr lang="en-US" sz="2400" b="1" dirty="0">
                <a:solidFill>
                  <a:srgbClr val="E8A33D"/>
                </a:solidFill>
                <a:latin typeface="Calibri" pitchFamily="34" charset="0"/>
                <a:ea typeface="Calibri" pitchFamily="34" charset="-122"/>
                <a:cs typeface="Calibri" pitchFamily="34" charset="-120"/>
              </a:rPr>
              <a:t>→</a:t>
            </a:r>
            <a:endParaRPr lang="en-US" sz="2400" dirty="0"/>
          </a:p>
        </p:txBody>
      </p:sp>
      <p:sp>
        <p:nvSpPr>
          <p:cNvPr id="11" name="Shape 8"/>
          <p:cNvSpPr/>
          <p:nvPr/>
        </p:nvSpPr>
        <p:spPr>
          <a:xfrm>
            <a:off x="4288536" y="1828800"/>
            <a:ext cx="3611880" cy="2743200"/>
          </a:xfrm>
          <a:prstGeom prst="roundRect">
            <a:avLst>
              <a:gd name="adj" fmla="val 2667"/>
            </a:avLst>
          </a:prstGeom>
          <a:solidFill>
            <a:srgbClr val="1B2A4A"/>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Shape 9"/>
          <p:cNvSpPr/>
          <p:nvPr/>
        </p:nvSpPr>
        <p:spPr>
          <a:xfrm>
            <a:off x="5637276" y="2194560"/>
            <a:ext cx="914400" cy="914400"/>
          </a:xfrm>
          <a:prstGeom prst="ellipse">
            <a:avLst/>
          </a:prstGeom>
          <a:solidFill>
            <a:srgbClr val="24385F"/>
          </a:solidFill>
          <a:ln/>
        </p:spPr>
      </p:sp>
      <p:pic>
        <p:nvPicPr>
          <p:cNvPr id="13" name="Image 1" descr="preencoded.png">    </p:cNvPr>
          <p:cNvPicPr>
            <a:picLocks noChangeAspect="1"/>
          </p:cNvPicPr>
          <p:nvPr/>
        </p:nvPicPr>
        <p:blipFill>
          <a:blip r:embed="rId2"/>
          <a:stretch>
            <a:fillRect/>
          </a:stretch>
        </p:blipFill>
        <p:spPr>
          <a:xfrm>
            <a:off x="5847588" y="2404872"/>
            <a:ext cx="493776" cy="493776"/>
          </a:xfrm>
          <a:prstGeom prst="rect">
            <a:avLst/>
          </a:prstGeom>
        </p:spPr>
      </p:pic>
      <p:sp>
        <p:nvSpPr>
          <p:cNvPr id="14" name="Text 10"/>
          <p:cNvSpPr/>
          <p:nvPr/>
        </p:nvSpPr>
        <p:spPr>
          <a:xfrm>
            <a:off x="4562856" y="3246120"/>
            <a:ext cx="3063240" cy="411480"/>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During the day</a:t>
            </a:r>
            <a:endParaRPr lang="en-US" sz="1900" dirty="0"/>
          </a:p>
        </p:txBody>
      </p:sp>
      <p:sp>
        <p:nvSpPr>
          <p:cNvPr id="15" name="Text 11"/>
          <p:cNvSpPr/>
          <p:nvPr/>
        </p:nvSpPr>
        <p:spPr>
          <a:xfrm>
            <a:off x="4562856" y="3703320"/>
            <a:ext cx="3063240" cy="777240"/>
          </a:xfrm>
          <a:prstGeom prst="rect">
            <a:avLst/>
          </a:prstGeom>
          <a:noFill/>
          <a:ln/>
        </p:spPr>
        <p:txBody>
          <a:bodyPr wrap="square" lIns="0" tIns="0" rIns="0" bIns="0" rtlCol="0" anchor="ctr"/>
          <a:lstStyle/>
          <a:p>
            <a:pPr algn="ctr" indent="0" marL="0">
              <a:lnSpc>
                <a:spcPct val="110000"/>
              </a:lnSpc>
              <a:buNone/>
            </a:pPr>
            <a:r>
              <a:rPr lang="en-US" sz="1250" dirty="0">
                <a:solidFill>
                  <a:srgbClr val="C7D2E2"/>
                </a:solidFill>
                <a:latin typeface="Calibri" pitchFamily="34" charset="0"/>
                <a:ea typeface="Calibri" pitchFamily="34" charset="-122"/>
                <a:cs typeface="Calibri" pitchFamily="34" charset="-120"/>
              </a:rPr>
              <a:t>Hand off the routine writing as it comes up, drafts, replies, reformatting, formulas.</a:t>
            </a:r>
            <a:endParaRPr lang="en-US" sz="1250" dirty="0"/>
          </a:p>
        </p:txBody>
      </p:sp>
      <p:sp>
        <p:nvSpPr>
          <p:cNvPr id="16" name="Text 12"/>
          <p:cNvSpPr/>
          <p:nvPr/>
        </p:nvSpPr>
        <p:spPr>
          <a:xfrm>
            <a:off x="7918704" y="2926080"/>
            <a:ext cx="201168" cy="457200"/>
          </a:xfrm>
          <a:prstGeom prst="rect">
            <a:avLst/>
          </a:prstGeom>
          <a:noFill/>
          <a:ln/>
        </p:spPr>
        <p:txBody>
          <a:bodyPr wrap="square" lIns="0" tIns="0" rIns="0" bIns="0" rtlCol="0" anchor="ctr"/>
          <a:lstStyle/>
          <a:p>
            <a:pPr algn="ctr" indent="0" marL="0">
              <a:buNone/>
            </a:pPr>
            <a:r>
              <a:rPr lang="en-US" sz="2400" b="1" dirty="0">
                <a:solidFill>
                  <a:srgbClr val="E8A33D"/>
                </a:solidFill>
                <a:latin typeface="Calibri" pitchFamily="34" charset="0"/>
                <a:ea typeface="Calibri" pitchFamily="34" charset="-122"/>
                <a:cs typeface="Calibri" pitchFamily="34" charset="-120"/>
              </a:rPr>
              <a:t>→</a:t>
            </a:r>
            <a:endParaRPr lang="en-US" sz="2400" dirty="0"/>
          </a:p>
        </p:txBody>
      </p:sp>
      <p:sp>
        <p:nvSpPr>
          <p:cNvPr id="17" name="Shape 13"/>
          <p:cNvSpPr/>
          <p:nvPr/>
        </p:nvSpPr>
        <p:spPr>
          <a:xfrm>
            <a:off x="8119872" y="1828800"/>
            <a:ext cx="3611880" cy="2743200"/>
          </a:xfrm>
          <a:prstGeom prst="roundRect">
            <a:avLst>
              <a:gd name="adj" fmla="val 2667"/>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8" name="Shape 14"/>
          <p:cNvSpPr/>
          <p:nvPr/>
        </p:nvSpPr>
        <p:spPr>
          <a:xfrm>
            <a:off x="9468612" y="2194560"/>
            <a:ext cx="914400" cy="914400"/>
          </a:xfrm>
          <a:prstGeom prst="ellipse">
            <a:avLst/>
          </a:prstGeom>
          <a:solidFill>
            <a:srgbClr val="F5F7FA"/>
          </a:solidFill>
          <a:ln/>
        </p:spPr>
      </p:sp>
      <p:pic>
        <p:nvPicPr>
          <p:cNvPr id="19" name="Image 2" descr="preencoded.png">    </p:cNvPr>
          <p:cNvPicPr>
            <a:picLocks noChangeAspect="1"/>
          </p:cNvPicPr>
          <p:nvPr/>
        </p:nvPicPr>
        <p:blipFill>
          <a:blip r:embed="rId3"/>
          <a:stretch>
            <a:fillRect/>
          </a:stretch>
        </p:blipFill>
        <p:spPr>
          <a:xfrm>
            <a:off x="9678924" y="2404872"/>
            <a:ext cx="493776" cy="493776"/>
          </a:xfrm>
          <a:prstGeom prst="rect">
            <a:avLst/>
          </a:prstGeom>
        </p:spPr>
      </p:pic>
      <p:sp>
        <p:nvSpPr>
          <p:cNvPr id="20" name="Text 15"/>
          <p:cNvSpPr/>
          <p:nvPr/>
        </p:nvSpPr>
        <p:spPr>
          <a:xfrm>
            <a:off x="8394192" y="3246120"/>
            <a:ext cx="3063240" cy="411480"/>
          </a:xfrm>
          <a:prstGeom prst="rect">
            <a:avLst/>
          </a:prstGeom>
          <a:noFill/>
          <a:ln/>
        </p:spPr>
        <p:txBody>
          <a:bodyPr wrap="square" lIns="0" tIns="0" rIns="0" bIns="0" rtlCol="0" anchor="ctr"/>
          <a:lstStyle/>
          <a:p>
            <a:pPr algn="ctr" indent="0" marL="0">
              <a:buNone/>
            </a:pPr>
            <a:r>
              <a:rPr lang="en-US" sz="1900" b="1" dirty="0">
                <a:solidFill>
                  <a:srgbClr val="1B2A4A"/>
                </a:solidFill>
                <a:latin typeface="Georgia" pitchFamily="34" charset="0"/>
                <a:ea typeface="Georgia" pitchFamily="34" charset="-122"/>
                <a:cs typeface="Georgia" pitchFamily="34" charset="-120"/>
              </a:rPr>
              <a:t>End of day</a:t>
            </a:r>
            <a:endParaRPr lang="en-US" sz="1900" dirty="0"/>
          </a:p>
        </p:txBody>
      </p:sp>
      <p:sp>
        <p:nvSpPr>
          <p:cNvPr id="21" name="Text 16"/>
          <p:cNvSpPr/>
          <p:nvPr/>
        </p:nvSpPr>
        <p:spPr>
          <a:xfrm>
            <a:off x="8394192" y="3703320"/>
            <a:ext cx="3063240" cy="777240"/>
          </a:xfrm>
          <a:prstGeom prst="rect">
            <a:avLst/>
          </a:prstGeom>
          <a:noFill/>
          <a:ln/>
        </p:spPr>
        <p:txBody>
          <a:bodyPr wrap="square" lIns="0" tIns="0" rIns="0" bIns="0" rtlCol="0" anchor="ctr"/>
          <a:lstStyle/>
          <a:p>
            <a:pPr algn="ctr" indent="0" marL="0">
              <a:lnSpc>
                <a:spcPct val="110000"/>
              </a:lnSpc>
              <a:buNone/>
            </a:pPr>
            <a:r>
              <a:rPr lang="en-US" sz="1250" dirty="0">
                <a:solidFill>
                  <a:srgbClr val="3C4A63"/>
                </a:solidFill>
                <a:latin typeface="Calibri" pitchFamily="34" charset="0"/>
                <a:ea typeface="Calibri" pitchFamily="34" charset="-122"/>
                <a:cs typeface="Calibri" pitchFamily="34" charset="-120"/>
              </a:rPr>
              <a:t>“Turn my scratch notes into a status update / tomorrow's to-do list.”</a:t>
            </a:r>
            <a:endParaRPr lang="en-US" sz="1250" dirty="0"/>
          </a:p>
        </p:txBody>
      </p:sp>
      <p:sp>
        <p:nvSpPr>
          <p:cNvPr id="22" name="Text 17"/>
          <p:cNvSpPr/>
          <p:nvPr/>
        </p:nvSpPr>
        <p:spPr>
          <a:xfrm>
            <a:off x="457200" y="4892040"/>
            <a:ext cx="11247120" cy="731520"/>
          </a:xfrm>
          <a:prstGeom prst="rect">
            <a:avLst/>
          </a:prstGeom>
          <a:noFill/>
          <a:ln/>
        </p:spPr>
        <p:txBody>
          <a:bodyPr wrap="square" lIns="0" tIns="0" rIns="0" bIns="0" rtlCol="0" anchor="ctr"/>
          <a:lstStyle/>
          <a:p>
            <a:pPr indent="0" marL="0">
              <a:lnSpc>
                <a:spcPct val="112000"/>
              </a:lnSpc>
              <a:buNone/>
            </a:pPr>
            <a:r>
              <a:rPr lang="en-US" sz="1500" b="1" dirty="0">
                <a:solidFill>
                  <a:srgbClr val="1B2A4A"/>
                </a:solidFill>
                <a:latin typeface="Calibri" pitchFamily="34" charset="0"/>
                <a:ea typeface="Calibri" pitchFamily="34" charset="-122"/>
                <a:cs typeface="Calibri" pitchFamily="34" charset="-120"/>
              </a:rPr>
              <a:t>Start with ONE habit. </a:t>
            </a:r>
            <a:pPr indent="0" marL="0">
              <a:lnSpc>
                <a:spcPct val="112000"/>
              </a:lnSpc>
              <a:buNone/>
            </a:pPr>
            <a:r>
              <a:rPr lang="en-US" sz="1500" dirty="0">
                <a:solidFill>
                  <a:srgbClr val="3C4A63"/>
                </a:solidFill>
                <a:latin typeface="Calibri" pitchFamily="34" charset="0"/>
                <a:ea typeface="Calibri" pitchFamily="34" charset="-122"/>
                <a:cs typeface="Calibri" pitchFamily="34" charset="-120"/>
              </a:rPr>
              <a:t>Pick the single task you most dread and hand just that one to Claude every day for a week. Add more once it's automatic.</a:t>
            </a:r>
            <a:endParaRPr lang="en-US" sz="1500" dirty="0"/>
          </a:p>
        </p:txBody>
      </p:sp>
      <p:sp>
        <p:nvSpPr>
          <p:cNvPr id="24" name="Text 18"/>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5" name="Text 19"/>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USE IT RESPONSIBLY</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What to share, and what to keep out</a:t>
            </a:r>
            <a:endParaRPr lang="en-US" sz="3000" dirty="0"/>
          </a:p>
        </p:txBody>
      </p:sp>
      <p:sp>
        <p:nvSpPr>
          <p:cNvPr id="5" name="Shape 3"/>
          <p:cNvSpPr/>
          <p:nvPr/>
        </p:nvSpPr>
        <p:spPr>
          <a:xfrm>
            <a:off x="457200" y="1783080"/>
            <a:ext cx="5486400" cy="3200400"/>
          </a:xfrm>
          <a:prstGeom prst="roundRect">
            <a:avLst>
              <a:gd name="adj" fmla="val 2286"/>
            </a:avLst>
          </a:prstGeom>
          <a:solidFill>
            <a:srgbClr val="EAF5F0"/>
          </a:solidFill>
          <a:ln w="15240">
            <a:solidFill>
              <a:srgbClr val="2C8C8C"/>
            </a:solidFill>
            <a:prstDash val="solid"/>
          </a:ln>
        </p:spPr>
      </p:sp>
      <p:pic>
        <p:nvPicPr>
          <p:cNvPr id="6" name="Image 0" descr="preencoded.png">    </p:cNvPr>
          <p:cNvPicPr>
            <a:picLocks noChangeAspect="1"/>
          </p:cNvPicPr>
          <p:nvPr/>
        </p:nvPicPr>
        <p:blipFill>
          <a:blip r:embed="rId1"/>
          <a:stretch>
            <a:fillRect/>
          </a:stretch>
        </p:blipFill>
        <p:spPr>
          <a:xfrm>
            <a:off x="731520" y="2011680"/>
            <a:ext cx="457200" cy="457200"/>
          </a:xfrm>
          <a:prstGeom prst="rect">
            <a:avLst/>
          </a:prstGeom>
        </p:spPr>
      </p:pic>
      <p:sp>
        <p:nvSpPr>
          <p:cNvPr id="7" name="Text 4"/>
          <p:cNvSpPr/>
          <p:nvPr/>
        </p:nvSpPr>
        <p:spPr>
          <a:xfrm>
            <a:off x="1325880" y="2029968"/>
            <a:ext cx="4114800" cy="457200"/>
          </a:xfrm>
          <a:prstGeom prst="rect">
            <a:avLst/>
          </a:prstGeom>
          <a:noFill/>
          <a:ln/>
        </p:spPr>
        <p:txBody>
          <a:bodyPr wrap="square" lIns="0" tIns="0" rIns="0" bIns="0" rtlCol="0" anchor="ctr"/>
          <a:lstStyle/>
          <a:p>
            <a:pPr indent="0" marL="0">
              <a:buNone/>
            </a:pPr>
            <a:r>
              <a:rPr lang="en-US" sz="2000" b="1" dirty="0">
                <a:solidFill>
                  <a:srgbClr val="2C8C8C"/>
                </a:solidFill>
                <a:latin typeface="Georgia" pitchFamily="34" charset="0"/>
                <a:ea typeface="Georgia" pitchFamily="34" charset="-122"/>
                <a:cs typeface="Georgia" pitchFamily="34" charset="-120"/>
              </a:rPr>
              <a:t>Generally fine</a:t>
            </a:r>
            <a:endParaRPr lang="en-US" sz="2000" dirty="0"/>
          </a:p>
        </p:txBody>
      </p:sp>
      <p:sp>
        <p:nvSpPr>
          <p:cNvPr id="8" name="Text 5"/>
          <p:cNvSpPr/>
          <p:nvPr/>
        </p:nvSpPr>
        <p:spPr>
          <a:xfrm>
            <a:off x="777240" y="2651760"/>
            <a:ext cx="4937760" cy="2194560"/>
          </a:xfrm>
          <a:prstGeom prst="rect">
            <a:avLst/>
          </a:prstGeom>
          <a:noFill/>
          <a:ln/>
        </p:spPr>
        <p:txBody>
          <a:bodyPr wrap="square" lIns="0" tIns="0" rIns="0" bIns="0" rtlCol="0" anchor="ctr"/>
          <a:lstStyle/>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Public or already-shared material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General drafting, brainstorming, formatting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Made-up or anonymized example data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Your own rough notes and ideas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Formula logic and how-to questions</a:t>
            </a:r>
            <a:endParaRPr lang="en-US" sz="1400" dirty="0"/>
          </a:p>
        </p:txBody>
      </p:sp>
      <p:sp>
        <p:nvSpPr>
          <p:cNvPr id="9" name="Shape 6"/>
          <p:cNvSpPr/>
          <p:nvPr/>
        </p:nvSpPr>
        <p:spPr>
          <a:xfrm>
            <a:off x="6245352" y="1783080"/>
            <a:ext cx="5486400" cy="3200400"/>
          </a:xfrm>
          <a:prstGeom prst="roundRect">
            <a:avLst>
              <a:gd name="adj" fmla="val 2286"/>
            </a:avLst>
          </a:prstGeom>
          <a:solidFill>
            <a:srgbClr val="FBECE6"/>
          </a:solidFill>
          <a:ln w="15240">
            <a:solidFill>
              <a:srgbClr val="B5532E"/>
            </a:solidFill>
            <a:prstDash val="solid"/>
          </a:ln>
        </p:spPr>
      </p:sp>
      <p:pic>
        <p:nvPicPr>
          <p:cNvPr id="10" name="Image 1" descr="preencoded.png">    </p:cNvPr>
          <p:cNvPicPr>
            <a:picLocks noChangeAspect="1"/>
          </p:cNvPicPr>
          <p:nvPr/>
        </p:nvPicPr>
        <p:blipFill>
          <a:blip r:embed="rId2"/>
          <a:stretch>
            <a:fillRect/>
          </a:stretch>
        </p:blipFill>
        <p:spPr>
          <a:xfrm>
            <a:off x="6519672" y="2011680"/>
            <a:ext cx="457200" cy="457200"/>
          </a:xfrm>
          <a:prstGeom prst="rect">
            <a:avLst/>
          </a:prstGeom>
        </p:spPr>
      </p:pic>
      <p:sp>
        <p:nvSpPr>
          <p:cNvPr id="11" name="Text 7"/>
          <p:cNvSpPr/>
          <p:nvPr/>
        </p:nvSpPr>
        <p:spPr>
          <a:xfrm>
            <a:off x="7114032" y="2029968"/>
            <a:ext cx="4572000" cy="457200"/>
          </a:xfrm>
          <a:prstGeom prst="rect">
            <a:avLst/>
          </a:prstGeom>
          <a:noFill/>
          <a:ln/>
        </p:spPr>
        <p:txBody>
          <a:bodyPr wrap="square" lIns="0" tIns="0" rIns="0" bIns="0" rtlCol="0" anchor="ctr"/>
          <a:lstStyle/>
          <a:p>
            <a:pPr indent="0" marL="0">
              <a:buNone/>
            </a:pPr>
            <a:r>
              <a:rPr lang="en-US" sz="2000" b="1" dirty="0">
                <a:solidFill>
                  <a:srgbClr val="B5532E"/>
                </a:solidFill>
                <a:latin typeface="Georgia" pitchFamily="34" charset="0"/>
                <a:ea typeface="Georgia" pitchFamily="34" charset="-122"/>
                <a:cs typeface="Georgia" pitchFamily="34" charset="-120"/>
              </a:rPr>
              <a:t>Keep out (unless approved)</a:t>
            </a:r>
            <a:endParaRPr lang="en-US" sz="2000" dirty="0"/>
          </a:p>
        </p:txBody>
      </p:sp>
      <p:sp>
        <p:nvSpPr>
          <p:cNvPr id="12" name="Text 8"/>
          <p:cNvSpPr/>
          <p:nvPr/>
        </p:nvSpPr>
        <p:spPr>
          <a:xfrm>
            <a:off x="6565392" y="2651760"/>
            <a:ext cx="4937760" cy="2194560"/>
          </a:xfrm>
          <a:prstGeom prst="rect">
            <a:avLst/>
          </a:prstGeom>
          <a:noFill/>
          <a:ln/>
        </p:spPr>
        <p:txBody>
          <a:bodyPr wrap="square" lIns="0" tIns="0" rIns="0" bIns="0" rtlCol="0" anchor="ctr"/>
          <a:lstStyle/>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Customer / patient / employee personal data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Passwords, keys, financial account numbers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Trade secrets &amp; confidential contracts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Anything covered by an NDA or regulation
</a:t>
            </a:r>
            <a:endParaRPr lang="en-US" sz="1400" dirty="0"/>
          </a:p>
          <a:p>
            <a:pPr marL="342900" indent="-342900">
              <a:lnSpc>
                <a:spcPct val="125000"/>
              </a:lnSpc>
              <a:spcAft>
                <a:spcPts val="400"/>
              </a:spcAft>
              <a:buSzPct val="100000"/>
              <a:buChar char="•"/>
            </a:pPr>
            <a:r>
              <a:rPr lang="en-US" sz="1400" dirty="0">
                <a:solidFill>
                  <a:srgbClr val="1B2533"/>
                </a:solidFill>
                <a:latin typeface="Calibri" pitchFamily="34" charset="0"/>
                <a:ea typeface="Calibri" pitchFamily="34" charset="-122"/>
                <a:cs typeface="Calibri" pitchFamily="34" charset="-120"/>
              </a:rPr>
              <a:t>Anything you couldn't email outside the org</a:t>
            </a:r>
            <a:endParaRPr lang="en-US" sz="1400" dirty="0"/>
          </a:p>
        </p:txBody>
      </p:sp>
      <p:sp>
        <p:nvSpPr>
          <p:cNvPr id="13" name="Shape 9"/>
          <p:cNvSpPr/>
          <p:nvPr/>
        </p:nvSpPr>
        <p:spPr>
          <a:xfrm>
            <a:off x="457200" y="5166360"/>
            <a:ext cx="11274552" cy="868680"/>
          </a:xfrm>
          <a:prstGeom prst="roundRect">
            <a:avLst>
              <a:gd name="adj" fmla="val 6316"/>
            </a:avLst>
          </a:prstGeom>
          <a:solidFill>
            <a:srgbClr val="1B2A4A"/>
          </a:solidFill>
          <a:ln/>
        </p:spPr>
      </p:sp>
      <p:sp>
        <p:nvSpPr>
          <p:cNvPr id="14" name="Text 10"/>
          <p:cNvSpPr/>
          <p:nvPr/>
        </p:nvSpPr>
        <p:spPr>
          <a:xfrm>
            <a:off x="731520" y="5285232"/>
            <a:ext cx="10698480" cy="640080"/>
          </a:xfrm>
          <a:prstGeom prst="rect">
            <a:avLst/>
          </a:prstGeom>
          <a:noFill/>
          <a:ln/>
        </p:spPr>
        <p:txBody>
          <a:bodyPr wrap="square" lIns="0" tIns="0" rIns="0" bIns="0" rtlCol="0" anchor="ctr"/>
          <a:lstStyle/>
          <a:p>
            <a:pPr indent="0" marL="0">
              <a:lnSpc>
                <a:spcPct val="108000"/>
              </a:lnSpc>
              <a:buNone/>
            </a:pPr>
            <a:r>
              <a:rPr lang="en-US" sz="1400" b="1" dirty="0">
                <a:solidFill>
                  <a:srgbClr val="E8A33D"/>
                </a:solidFill>
                <a:latin typeface="Calibri" pitchFamily="34" charset="0"/>
                <a:ea typeface="Calibri" pitchFamily="34" charset="-122"/>
                <a:cs typeface="Calibri" pitchFamily="34" charset="-120"/>
              </a:rPr>
              <a:t>Two rules that cover most cases: </a:t>
            </a:r>
            <a:pPr indent="0" marL="0">
              <a:lnSpc>
                <a:spcPct val="108000"/>
              </a:lnSpc>
              <a:buNone/>
            </a:pPr>
            <a:r>
              <a:rPr lang="en-US" sz="1400" dirty="0">
                <a:solidFill>
                  <a:srgbClr val="EAF0F7"/>
                </a:solidFill>
                <a:latin typeface="Calibri" pitchFamily="34" charset="0"/>
                <a:ea typeface="Calibri" pitchFamily="34" charset="-122"/>
                <a:cs typeface="Calibri" pitchFamily="34" charset="-120"/>
              </a:rPr>
              <a:t>(1) Check your own company's AI policy first.  (2) When in doubt, anonymize it or leave it out, and always read the output before you use it.</a:t>
            </a:r>
            <a:endParaRPr lang="en-US" sz="1400" dirty="0"/>
          </a:p>
        </p:txBody>
      </p:sp>
      <p:sp>
        <p:nvSpPr>
          <p:cNvPr id="16" name="Text 11"/>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17" name="Text 12"/>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C8C8C"/>
          </a:solidFill>
          <a:ln/>
        </p:spPr>
      </p:sp>
      <p:sp>
        <p:nvSpPr>
          <p:cNvPr id="3" name="Text 1"/>
          <p:cNvSpPr/>
          <p:nvPr/>
        </p:nvSpPr>
        <p:spPr>
          <a:xfrm>
            <a:off x="822960" y="457200"/>
            <a:ext cx="7315200" cy="320040"/>
          </a:xfrm>
          <a:prstGeom prst="rect">
            <a:avLst/>
          </a:prstGeom>
          <a:noFill/>
          <a:ln/>
        </p:spPr>
        <p:txBody>
          <a:bodyPr wrap="square" lIns="0" tIns="0" rIns="0" bIns="0" rtlCol="0" anchor="ctr"/>
          <a:lstStyle/>
          <a:p>
            <a:pPr indent="0" marL="0">
              <a:buNone/>
            </a:pPr>
            <a:r>
              <a:rPr lang="en-US" sz="1200" b="1" spc="200" kern="0" dirty="0">
                <a:solidFill>
                  <a:srgbClr val="5FB3B3"/>
                </a:solidFill>
                <a:latin typeface="Calibri" pitchFamily="34" charset="0"/>
                <a:ea typeface="Calibri" pitchFamily="34" charset="-122"/>
                <a:cs typeface="Calibri" pitchFamily="34" charset="-120"/>
              </a:rPr>
              <a:t>WHEN YOU'RE READY FOR MORE</a:t>
            </a:r>
            <a:endParaRPr lang="en-US" sz="1200" dirty="0"/>
          </a:p>
        </p:txBody>
      </p:sp>
      <p:sp>
        <p:nvSpPr>
          <p:cNvPr id="4" name="Text 2"/>
          <p:cNvSpPr/>
          <p:nvPr/>
        </p:nvSpPr>
        <p:spPr>
          <a:xfrm>
            <a:off x="777240" y="777240"/>
            <a:ext cx="1078992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There are even better ways</a:t>
            </a:r>
            <a:endParaRPr lang="en-US" sz="3000" dirty="0"/>
          </a:p>
        </p:txBody>
      </p:sp>
      <p:sp>
        <p:nvSpPr>
          <p:cNvPr id="5" name="Text 3"/>
          <p:cNvSpPr/>
          <p:nvPr/>
        </p:nvSpPr>
        <p:spPr>
          <a:xfrm>
            <a:off x="822960" y="1417320"/>
            <a:ext cx="10698480" cy="640080"/>
          </a:xfrm>
          <a:prstGeom prst="rect">
            <a:avLst/>
          </a:prstGeom>
          <a:noFill/>
          <a:ln/>
        </p:spPr>
        <p:txBody>
          <a:bodyPr wrap="square" lIns="0" tIns="0" rIns="0" bIns="0" rtlCol="0" anchor="ctr"/>
          <a:lstStyle/>
          <a:p>
            <a:pPr indent="0" marL="0">
              <a:lnSpc>
                <a:spcPct val="112000"/>
              </a:lnSpc>
              <a:buNone/>
            </a:pPr>
            <a:r>
              <a:rPr lang="en-US" sz="1450" dirty="0">
                <a:solidFill>
                  <a:srgbClr val="C7D2E2"/>
                </a:solidFill>
                <a:latin typeface="Calibri" pitchFamily="34" charset="0"/>
                <a:ea typeface="Calibri" pitchFamily="34" charset="-122"/>
                <a:cs typeface="Calibri" pitchFamily="34" charset="-120"/>
              </a:rPr>
              <a:t>Copy-and-paste is the foundation and it works for everyone, free. But on a paid plan, Claude can step right into your apps and even run whole tasks for you. Two upgrades worth knowing about:</a:t>
            </a:r>
            <a:endParaRPr lang="en-US" sz="1450" dirty="0"/>
          </a:p>
        </p:txBody>
      </p:sp>
      <p:sp>
        <p:nvSpPr>
          <p:cNvPr id="6" name="Shape 4"/>
          <p:cNvSpPr/>
          <p:nvPr/>
        </p:nvSpPr>
        <p:spPr>
          <a:xfrm>
            <a:off x="777240" y="2240280"/>
            <a:ext cx="5330952" cy="3154680"/>
          </a:xfrm>
          <a:prstGeom prst="roundRect">
            <a:avLst>
              <a:gd name="adj" fmla="val 2319"/>
            </a:avLst>
          </a:prstGeom>
          <a:solidFill>
            <a:srgbClr val="24385F"/>
          </a:solidFill>
          <a:ln w="12700">
            <a:solidFill>
              <a:srgbClr val="33476B"/>
            </a:solidFill>
            <a:prstDash val="solid"/>
          </a:ln>
        </p:spPr>
      </p:sp>
      <p:sp>
        <p:nvSpPr>
          <p:cNvPr id="7" name="Shape 5"/>
          <p:cNvSpPr/>
          <p:nvPr/>
        </p:nvSpPr>
        <p:spPr>
          <a:xfrm>
            <a:off x="1097280" y="2560320"/>
            <a:ext cx="777240" cy="777240"/>
          </a:xfrm>
          <a:prstGeom prst="ellipse">
            <a:avLst/>
          </a:prstGeom>
          <a:solidFill>
            <a:srgbClr val="2C8C8C"/>
          </a:solidFill>
          <a:ln/>
        </p:spPr>
      </p:sp>
      <p:pic>
        <p:nvPicPr>
          <p:cNvPr id="8" name="Image 0" descr="preencoded.png">    </p:cNvPr>
          <p:cNvPicPr>
            <a:picLocks noChangeAspect="1"/>
          </p:cNvPicPr>
          <p:nvPr/>
        </p:nvPicPr>
        <p:blipFill>
          <a:blip r:embed="rId1"/>
          <a:stretch>
            <a:fillRect/>
          </a:stretch>
        </p:blipFill>
        <p:spPr>
          <a:xfrm>
            <a:off x="1271016" y="2734056"/>
            <a:ext cx="429768" cy="429768"/>
          </a:xfrm>
          <a:prstGeom prst="rect">
            <a:avLst/>
          </a:prstGeom>
        </p:spPr>
      </p:pic>
      <p:sp>
        <p:nvSpPr>
          <p:cNvPr id="9" name="Text 6"/>
          <p:cNvSpPr/>
          <p:nvPr/>
        </p:nvSpPr>
        <p:spPr>
          <a:xfrm>
            <a:off x="2057400" y="2624328"/>
            <a:ext cx="3867912" cy="4114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Claude inside your apps</a:t>
            </a:r>
            <a:endParaRPr lang="en-US" sz="1900" dirty="0"/>
          </a:p>
        </p:txBody>
      </p:sp>
      <p:sp>
        <p:nvSpPr>
          <p:cNvPr id="10" name="Text 7"/>
          <p:cNvSpPr/>
          <p:nvPr/>
        </p:nvSpPr>
        <p:spPr>
          <a:xfrm>
            <a:off x="2057400" y="2990088"/>
            <a:ext cx="3867912" cy="320040"/>
          </a:xfrm>
          <a:prstGeom prst="rect">
            <a:avLst/>
          </a:prstGeom>
          <a:noFill/>
          <a:ln/>
        </p:spPr>
        <p:txBody>
          <a:bodyPr wrap="square" lIns="0" tIns="0" rIns="0" bIns="0" rtlCol="0" anchor="ctr"/>
          <a:lstStyle/>
          <a:p>
            <a:pPr indent="0" marL="0">
              <a:buNone/>
            </a:pPr>
            <a:r>
              <a:rPr lang="en-US" sz="1250" i="1" dirty="0">
                <a:solidFill>
                  <a:srgbClr val="8FB6C9"/>
                </a:solidFill>
                <a:latin typeface="Calibri" pitchFamily="34" charset="0"/>
                <a:ea typeface="Calibri" pitchFamily="34" charset="-122"/>
                <a:cs typeface="Calibri" pitchFamily="34" charset="-120"/>
              </a:rPr>
              <a:t>The Microsoft 365 add-in</a:t>
            </a:r>
            <a:endParaRPr lang="en-US" sz="1250" dirty="0"/>
          </a:p>
        </p:txBody>
      </p:sp>
      <p:sp>
        <p:nvSpPr>
          <p:cNvPr id="11" name="Text 8"/>
          <p:cNvSpPr/>
          <p:nvPr/>
        </p:nvSpPr>
        <p:spPr>
          <a:xfrm>
            <a:off x="1143000" y="3474720"/>
            <a:ext cx="4645152" cy="1828800"/>
          </a:xfrm>
          <a:prstGeom prst="rect">
            <a:avLst/>
          </a:prstGeom>
          <a:noFill/>
          <a:ln/>
        </p:spPr>
        <p:txBody>
          <a:bodyPr wrap="square" lIns="0" tIns="0" rIns="0" bIns="0" rtlCol="0" anchor="t"/>
          <a:lstStyle/>
          <a:p>
            <a:pPr marL="342900" indent="-342900">
              <a:lnSpc>
                <a:spcPct val="106000"/>
              </a:lnSpc>
              <a:spcAft>
                <a:spcPts val="500"/>
              </a:spcAft>
              <a:buSzPct val="100000"/>
              <a:buChar char="•"/>
            </a:pPr>
            <a:r>
              <a:rPr lang="en-US" sz="1250" dirty="0">
                <a:solidFill>
                  <a:srgbClr val="D3DEEC"/>
                </a:solidFill>
                <a:latin typeface="Calibri" pitchFamily="34" charset="0"/>
                <a:ea typeface="Calibri" pitchFamily="34" charset="-122"/>
                <a:cs typeface="Calibri" pitchFamily="34" charset="-120"/>
              </a:rPr>
              <a:t>A side panel right inside Word, Excel, PowerPoint and Outlook, so you skip the copy-paste.</a:t>
            </a:r>
            <a:endParaRPr lang="en-US" sz="1250" dirty="0"/>
          </a:p>
          <a:p>
            <a:pPr marL="342900" indent="-342900">
              <a:lnSpc>
                <a:spcPct val="106000"/>
              </a:lnSpc>
              <a:spcAft>
                <a:spcPts val="500"/>
              </a:spcAft>
              <a:buSzPct val="100000"/>
              <a:buChar char="•"/>
            </a:pPr>
            <a:r>
              <a:rPr lang="en-US" sz="1250" dirty="0">
                <a:solidFill>
                  <a:srgbClr val="D3DEEC"/>
                </a:solidFill>
                <a:latin typeface="Calibri" pitchFamily="34" charset="0"/>
                <a:ea typeface="Calibri" pitchFamily="34" charset="-122"/>
                <a:cs typeface="Calibri" pitchFamily="34" charset="-120"/>
              </a:rPr>
              <a:t>Watch your apps flow together: Claude can follow one task across an email, a document and a spreadsheet in a single conversation.</a:t>
            </a:r>
            <a:endParaRPr lang="en-US" sz="1250" dirty="0"/>
          </a:p>
          <a:p>
            <a:pPr marL="342900" indent="-342900">
              <a:lnSpc>
                <a:spcPct val="106000"/>
              </a:lnSpc>
              <a:spcAft>
                <a:spcPts val="500"/>
              </a:spcAft>
              <a:buSzPct val="100000"/>
              <a:buChar char="•"/>
            </a:pPr>
            <a:r>
              <a:rPr lang="en-US" sz="1250" dirty="0">
                <a:solidFill>
                  <a:srgbClr val="D3DEEC"/>
                </a:solidFill>
                <a:latin typeface="Calibri" pitchFamily="34" charset="0"/>
                <a:ea typeface="Calibri" pitchFamily="34" charset="-122"/>
                <a:cs typeface="Calibri" pitchFamily="34" charset="-120"/>
              </a:rPr>
              <a:t>It works with what you have open, limited to content you can already access.</a:t>
            </a:r>
            <a:endParaRPr lang="en-US" sz="1250" dirty="0"/>
          </a:p>
          <a:p>
            <a:pPr marL="342900" indent="-342900">
              <a:lnSpc>
                <a:spcPct val="106000"/>
              </a:lnSpc>
              <a:spcAft>
                <a:spcPts val="500"/>
              </a:spcAft>
              <a:buSzPct val="100000"/>
              <a:buChar char="•"/>
            </a:pPr>
            <a:r>
              <a:rPr lang="en-US" sz="1250" dirty="0">
                <a:solidFill>
                  <a:srgbClr val="D3DEEC"/>
                </a:solidFill>
                <a:latin typeface="Calibri" pitchFamily="34" charset="0"/>
                <a:ea typeface="Calibri" pitchFamily="34" charset="-122"/>
                <a:cs typeface="Calibri" pitchFamily="34" charset="-120"/>
              </a:rPr>
              <a:t>Set up by your organization on a business Microsoft 365 account.</a:t>
            </a:r>
            <a:endParaRPr lang="en-US" sz="1250" dirty="0"/>
          </a:p>
        </p:txBody>
      </p:sp>
      <p:sp>
        <p:nvSpPr>
          <p:cNvPr id="12" name="Shape 9"/>
          <p:cNvSpPr/>
          <p:nvPr/>
        </p:nvSpPr>
        <p:spPr>
          <a:xfrm>
            <a:off x="6355080" y="2240280"/>
            <a:ext cx="5330952" cy="3154680"/>
          </a:xfrm>
          <a:prstGeom prst="roundRect">
            <a:avLst>
              <a:gd name="adj" fmla="val 2319"/>
            </a:avLst>
          </a:prstGeom>
          <a:solidFill>
            <a:srgbClr val="24385F"/>
          </a:solidFill>
          <a:ln w="12700">
            <a:solidFill>
              <a:srgbClr val="33476B"/>
            </a:solidFill>
            <a:prstDash val="solid"/>
          </a:ln>
        </p:spPr>
      </p:sp>
      <p:sp>
        <p:nvSpPr>
          <p:cNvPr id="13" name="Shape 10"/>
          <p:cNvSpPr/>
          <p:nvPr/>
        </p:nvSpPr>
        <p:spPr>
          <a:xfrm>
            <a:off x="6675120" y="2560320"/>
            <a:ext cx="777240" cy="777240"/>
          </a:xfrm>
          <a:prstGeom prst="ellipse">
            <a:avLst/>
          </a:prstGeom>
          <a:solidFill>
            <a:srgbClr val="E8A33D"/>
          </a:solidFill>
          <a:ln/>
        </p:spPr>
      </p:sp>
      <p:pic>
        <p:nvPicPr>
          <p:cNvPr id="14" name="Image 1" descr="preencoded.png">    </p:cNvPr>
          <p:cNvPicPr>
            <a:picLocks noChangeAspect="1"/>
          </p:cNvPicPr>
          <p:nvPr/>
        </p:nvPicPr>
        <p:blipFill>
          <a:blip r:embed="rId2"/>
          <a:stretch>
            <a:fillRect/>
          </a:stretch>
        </p:blipFill>
        <p:spPr>
          <a:xfrm>
            <a:off x="6848856" y="2734056"/>
            <a:ext cx="429768" cy="429768"/>
          </a:xfrm>
          <a:prstGeom prst="rect">
            <a:avLst/>
          </a:prstGeom>
        </p:spPr>
      </p:pic>
      <p:sp>
        <p:nvSpPr>
          <p:cNvPr id="15" name="Text 11"/>
          <p:cNvSpPr/>
          <p:nvPr/>
        </p:nvSpPr>
        <p:spPr>
          <a:xfrm>
            <a:off x="7635240" y="2624328"/>
            <a:ext cx="3867912" cy="4114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Hand off whole tasks</a:t>
            </a:r>
            <a:endParaRPr lang="en-US" sz="1900" dirty="0"/>
          </a:p>
        </p:txBody>
      </p:sp>
      <p:sp>
        <p:nvSpPr>
          <p:cNvPr id="16" name="Text 12"/>
          <p:cNvSpPr/>
          <p:nvPr/>
        </p:nvSpPr>
        <p:spPr>
          <a:xfrm>
            <a:off x="7635240" y="2990088"/>
            <a:ext cx="3867912" cy="320040"/>
          </a:xfrm>
          <a:prstGeom prst="rect">
            <a:avLst/>
          </a:prstGeom>
          <a:noFill/>
          <a:ln/>
        </p:spPr>
        <p:txBody>
          <a:bodyPr wrap="square" lIns="0" tIns="0" rIns="0" bIns="0" rtlCol="0" anchor="ctr"/>
          <a:lstStyle/>
          <a:p>
            <a:pPr indent="0" marL="0">
              <a:buNone/>
            </a:pPr>
            <a:r>
              <a:rPr lang="en-US" sz="1250" i="1" dirty="0">
                <a:solidFill>
                  <a:srgbClr val="8FB6C9"/>
                </a:solidFill>
                <a:latin typeface="Calibri" pitchFamily="34" charset="0"/>
                <a:ea typeface="Calibri" pitchFamily="34" charset="-122"/>
                <a:cs typeface="Calibri" pitchFamily="34" charset="-120"/>
              </a:rPr>
              <a:t>Cowork, in the Claude desktop app</a:t>
            </a:r>
            <a:endParaRPr lang="en-US" sz="1250" dirty="0"/>
          </a:p>
        </p:txBody>
      </p:sp>
      <p:sp>
        <p:nvSpPr>
          <p:cNvPr id="17" name="Text 13"/>
          <p:cNvSpPr/>
          <p:nvPr/>
        </p:nvSpPr>
        <p:spPr>
          <a:xfrm>
            <a:off x="6720840" y="3474720"/>
            <a:ext cx="4645152" cy="1828800"/>
          </a:xfrm>
          <a:prstGeom prst="rect">
            <a:avLst/>
          </a:prstGeom>
          <a:noFill/>
          <a:ln/>
        </p:spPr>
        <p:txBody>
          <a:bodyPr wrap="square" lIns="0" tIns="0" rIns="0" bIns="0" rtlCol="0" anchor="t"/>
          <a:lstStyle/>
          <a:p>
            <a:pPr marL="342900" indent="-342900">
              <a:lnSpc>
                <a:spcPct val="106000"/>
              </a:lnSpc>
              <a:spcAft>
                <a:spcPts val="500"/>
              </a:spcAft>
              <a:buSzPct val="100000"/>
              <a:buChar char="•"/>
            </a:pPr>
            <a:r>
              <a:rPr lang="en-US" sz="1250" dirty="0">
                <a:solidFill>
                  <a:srgbClr val="D3DEEC"/>
                </a:solidFill>
                <a:latin typeface="Calibri" pitchFamily="34" charset="0"/>
                <a:ea typeface="Calibri" pitchFamily="34" charset="-122"/>
                <a:cs typeface="Calibri" pitchFamily="34" charset="-120"/>
              </a:rPr>
              <a:t>An assistant that lives on your desktop and works across your actual files, not just one chat box.</a:t>
            </a:r>
            <a:endParaRPr lang="en-US" sz="1250" dirty="0"/>
          </a:p>
          <a:p>
            <a:pPr marL="342900" indent="-342900">
              <a:lnSpc>
                <a:spcPct val="106000"/>
              </a:lnSpc>
              <a:spcAft>
                <a:spcPts val="500"/>
              </a:spcAft>
              <a:buSzPct val="100000"/>
              <a:buChar char="•"/>
            </a:pPr>
            <a:r>
              <a:rPr lang="en-US" sz="1250" dirty="0">
                <a:solidFill>
                  <a:srgbClr val="D3DEEC"/>
                </a:solidFill>
                <a:latin typeface="Calibri" pitchFamily="34" charset="0"/>
                <a:ea typeface="Calibri" pitchFamily="34" charset="-122"/>
                <a:cs typeface="Calibri" pitchFamily="34" charset="-120"/>
              </a:rPr>
              <a:t>Describe an outcome, step away, come back to finished work: organized files, drafted documents, pulled-together research.</a:t>
            </a:r>
            <a:endParaRPr lang="en-US" sz="1250" dirty="0"/>
          </a:p>
          <a:p>
            <a:pPr marL="342900" indent="-342900">
              <a:lnSpc>
                <a:spcPct val="106000"/>
              </a:lnSpc>
              <a:spcAft>
                <a:spcPts val="500"/>
              </a:spcAft>
              <a:buSzPct val="100000"/>
              <a:buChar char="•"/>
            </a:pPr>
            <a:r>
              <a:rPr lang="en-US" sz="1250" dirty="0">
                <a:solidFill>
                  <a:srgbClr val="D3DEEC"/>
                </a:solidFill>
                <a:latin typeface="Calibri" pitchFamily="34" charset="0"/>
                <a:ea typeface="Calibri" pitchFamily="34" charset="-122"/>
                <a:cs typeface="Calibri" pitchFamily="34" charset="-120"/>
              </a:rPr>
              <a:t>Runs multi-step jobs, taps your connected tools, and can even work on a schedule.</a:t>
            </a:r>
            <a:endParaRPr lang="en-US" sz="1250" dirty="0"/>
          </a:p>
          <a:p>
            <a:pPr marL="342900" indent="-342900">
              <a:lnSpc>
                <a:spcPct val="106000"/>
              </a:lnSpc>
              <a:spcAft>
                <a:spcPts val="500"/>
              </a:spcAft>
              <a:buSzPct val="100000"/>
              <a:buChar char="•"/>
            </a:pPr>
            <a:r>
              <a:rPr lang="en-US" sz="1250" dirty="0">
                <a:solidFill>
                  <a:srgbClr val="D3DEEC"/>
                </a:solidFill>
                <a:latin typeface="Calibri" pitchFamily="34" charset="0"/>
                <a:ea typeface="Calibri" pitchFamily="34" charset="-122"/>
                <a:cs typeface="Calibri" pitchFamily="34" charset="-120"/>
              </a:rPr>
              <a:t>Available on paid plans (Pro, Max, Team, Enterprise).</a:t>
            </a:r>
            <a:endParaRPr lang="en-US" sz="1250" dirty="0"/>
          </a:p>
        </p:txBody>
      </p:sp>
      <p:sp>
        <p:nvSpPr>
          <p:cNvPr id="18" name="Shape 14"/>
          <p:cNvSpPr/>
          <p:nvPr/>
        </p:nvSpPr>
        <p:spPr>
          <a:xfrm>
            <a:off x="777240" y="5623560"/>
            <a:ext cx="10908792" cy="713232"/>
          </a:xfrm>
          <a:prstGeom prst="roundRect">
            <a:avLst>
              <a:gd name="adj" fmla="val 7692"/>
            </a:avLst>
          </a:prstGeom>
          <a:solidFill>
            <a:srgbClr val="1F3354"/>
          </a:solidFill>
          <a:ln w="12700">
            <a:solidFill>
              <a:srgbClr val="E8A33D"/>
            </a:solidFill>
            <a:prstDash val="solid"/>
          </a:ln>
        </p:spPr>
      </p:sp>
      <p:pic>
        <p:nvPicPr>
          <p:cNvPr id="19" name="Image 2" descr="preencoded.png">    </p:cNvPr>
          <p:cNvPicPr>
            <a:picLocks noChangeAspect="1"/>
          </p:cNvPicPr>
          <p:nvPr/>
        </p:nvPicPr>
        <p:blipFill>
          <a:blip r:embed="rId3"/>
          <a:stretch>
            <a:fillRect/>
          </a:stretch>
        </p:blipFill>
        <p:spPr>
          <a:xfrm>
            <a:off x="1005840" y="5797296"/>
            <a:ext cx="365760" cy="365760"/>
          </a:xfrm>
          <a:prstGeom prst="rect">
            <a:avLst/>
          </a:prstGeom>
        </p:spPr>
      </p:pic>
      <p:sp>
        <p:nvSpPr>
          <p:cNvPr id="20" name="Text 15"/>
          <p:cNvSpPr/>
          <p:nvPr/>
        </p:nvSpPr>
        <p:spPr>
          <a:xfrm>
            <a:off x="1508760" y="5705856"/>
            <a:ext cx="9966960" cy="548640"/>
          </a:xfrm>
          <a:prstGeom prst="rect">
            <a:avLst/>
          </a:prstGeom>
          <a:noFill/>
          <a:ln/>
        </p:spPr>
        <p:txBody>
          <a:bodyPr wrap="square" lIns="0" tIns="0" rIns="0" bIns="0" rtlCol="0" anchor="ctr"/>
          <a:lstStyle/>
          <a:p>
            <a:pPr indent="0" marL="0">
              <a:lnSpc>
                <a:spcPct val="105000"/>
              </a:lnSpc>
              <a:buNone/>
            </a:pPr>
            <a:r>
              <a:rPr lang="en-US" sz="1350" b="1" dirty="0">
                <a:solidFill>
                  <a:srgbClr val="E8A33D"/>
                </a:solidFill>
                <a:latin typeface="Calibri" pitchFamily="34" charset="0"/>
                <a:ea typeface="Calibri" pitchFamily="34" charset="-122"/>
                <a:cs typeface="Calibri" pitchFamily="34" charset="-120"/>
              </a:rPr>
              <a:t>These are upgrades, not prerequisites. </a:t>
            </a:r>
            <a:pPr indent="0" marL="0">
              <a:lnSpc>
                <a:spcPct val="105000"/>
              </a:lnSpc>
              <a:buNone/>
            </a:pPr>
            <a:r>
              <a:rPr lang="en-US" sz="1350" dirty="0">
                <a:solidFill>
                  <a:srgbClr val="EAF0F7"/>
                </a:solidFill>
                <a:latin typeface="Calibri" pitchFamily="34" charset="0"/>
                <a:ea typeface="Calibri" pitchFamily="34" charset="-122"/>
                <a:cs typeface="Calibri" pitchFamily="34" charset="-120"/>
              </a:rPr>
              <a:t>Start free with copy-paste today; reach for these when you want Claude to do more of the work for you.</a:t>
            </a:r>
            <a:endParaRPr lang="en-US" sz="1350" dirty="0"/>
          </a:p>
        </p:txBody>
      </p:sp>
      <p:sp>
        <p:nvSpPr>
          <p:cNvPr id="22" name="Text 16"/>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3" name="Text 17"/>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p:spPr>
      </p:sp>
      <p:sp>
        <p:nvSpPr>
          <p:cNvPr id="3" name="Text 1"/>
          <p:cNvSpPr/>
          <p:nvPr/>
        </p:nvSpPr>
        <p:spPr>
          <a:xfrm>
            <a:off x="457200" y="384048"/>
            <a:ext cx="10058400" cy="274320"/>
          </a:xfrm>
          <a:prstGeom prst="rect">
            <a:avLst/>
          </a:prstGeom>
          <a:noFill/>
          <a:ln/>
        </p:spPr>
        <p:txBody>
          <a:bodyPr wrap="square" lIns="0" tIns="0" rIns="0" bIns="0" rtlCol="0" anchor="ctr"/>
          <a:lstStyle/>
          <a:p>
            <a:pPr indent="0" marL="0">
              <a:buNone/>
            </a:pPr>
            <a:r>
              <a:rPr lang="en-US" sz="1200" b="1" spc="200" kern="0" dirty="0">
                <a:solidFill>
                  <a:srgbClr val="2C8C8C"/>
                </a:solidFill>
                <a:latin typeface="Calibri" pitchFamily="34" charset="0"/>
                <a:ea typeface="Calibri" pitchFamily="34" charset="-122"/>
                <a:cs typeface="Calibri" pitchFamily="34" charset="-120"/>
              </a:rPr>
              <a:t>RECAP</a:t>
            </a:r>
            <a:endParaRPr lang="en-US" sz="1200" dirty="0"/>
          </a:p>
        </p:txBody>
      </p:sp>
      <p:sp>
        <p:nvSpPr>
          <p:cNvPr id="4" name="Text 2"/>
          <p:cNvSpPr/>
          <p:nvPr/>
        </p:nvSpPr>
        <p:spPr>
          <a:xfrm>
            <a:off x="457200" y="658368"/>
            <a:ext cx="11155680" cy="7772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Three things to do tomorrow morning</a:t>
            </a:r>
            <a:endParaRPr lang="en-US" sz="3000" dirty="0"/>
          </a:p>
        </p:txBody>
      </p:sp>
      <p:sp>
        <p:nvSpPr>
          <p:cNvPr id="5" name="Shape 3"/>
          <p:cNvSpPr/>
          <p:nvPr/>
        </p:nvSpPr>
        <p:spPr>
          <a:xfrm>
            <a:off x="457200" y="1783080"/>
            <a:ext cx="3611880" cy="2651760"/>
          </a:xfrm>
          <a:prstGeom prst="roundRect">
            <a:avLst>
              <a:gd name="adj" fmla="val 2759"/>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457200" y="1783080"/>
            <a:ext cx="3611880" cy="118872"/>
          </a:xfrm>
          <a:prstGeom prst="rect">
            <a:avLst/>
          </a:prstGeom>
          <a:solidFill>
            <a:srgbClr val="E8A33D"/>
          </a:solidFill>
          <a:ln/>
        </p:spPr>
      </p:sp>
      <p:sp>
        <p:nvSpPr>
          <p:cNvPr id="7" name="Shape 5"/>
          <p:cNvSpPr/>
          <p:nvPr/>
        </p:nvSpPr>
        <p:spPr>
          <a:xfrm>
            <a:off x="1760220" y="2148840"/>
            <a:ext cx="1005840" cy="1005840"/>
          </a:xfrm>
          <a:prstGeom prst="ellipse">
            <a:avLst/>
          </a:prstGeom>
          <a:solidFill>
            <a:srgbClr val="1B2A4A"/>
          </a:solidFill>
          <a:ln/>
        </p:spPr>
      </p:sp>
      <p:pic>
        <p:nvPicPr>
          <p:cNvPr id="8" name="Image 0" descr="preencoded.png">    </p:cNvPr>
          <p:cNvPicPr>
            <a:picLocks noChangeAspect="1"/>
          </p:cNvPicPr>
          <p:nvPr/>
        </p:nvPicPr>
        <p:blipFill>
          <a:blip r:embed="rId1"/>
          <a:stretch>
            <a:fillRect/>
          </a:stretch>
        </p:blipFill>
        <p:spPr>
          <a:xfrm>
            <a:off x="1988820" y="2377440"/>
            <a:ext cx="548640" cy="548640"/>
          </a:xfrm>
          <a:prstGeom prst="rect">
            <a:avLst/>
          </a:prstGeom>
        </p:spPr>
      </p:pic>
      <p:sp>
        <p:nvSpPr>
          <p:cNvPr id="9" name="Text 6"/>
          <p:cNvSpPr/>
          <p:nvPr/>
        </p:nvSpPr>
        <p:spPr>
          <a:xfrm>
            <a:off x="731520" y="3291840"/>
            <a:ext cx="3063240" cy="502920"/>
          </a:xfrm>
          <a:prstGeom prst="rect">
            <a:avLst/>
          </a:prstGeom>
          <a:noFill/>
          <a:ln/>
        </p:spPr>
        <p:txBody>
          <a:bodyPr wrap="square" lIns="0" tIns="0" rIns="0" bIns="0" rtlCol="0" anchor="ctr"/>
          <a:lstStyle/>
          <a:p>
            <a:pPr algn="ctr" indent="0" marL="0">
              <a:buNone/>
            </a:pPr>
            <a:r>
              <a:rPr lang="en-US" sz="1800" b="1" dirty="0">
                <a:solidFill>
                  <a:srgbClr val="1B2A4A"/>
                </a:solidFill>
                <a:latin typeface="Georgia" pitchFamily="34" charset="0"/>
                <a:ea typeface="Georgia" pitchFamily="34" charset="-122"/>
                <a:cs typeface="Georgia" pitchFamily="34" charset="-120"/>
              </a:rPr>
              <a:t>Create a free account</a:t>
            </a:r>
            <a:endParaRPr lang="en-US" sz="1800" dirty="0"/>
          </a:p>
        </p:txBody>
      </p:sp>
      <p:sp>
        <p:nvSpPr>
          <p:cNvPr id="10" name="Text 7"/>
          <p:cNvSpPr/>
          <p:nvPr/>
        </p:nvSpPr>
        <p:spPr>
          <a:xfrm>
            <a:off x="731520" y="3749040"/>
            <a:ext cx="3063240" cy="640080"/>
          </a:xfrm>
          <a:prstGeom prst="rect">
            <a:avLst/>
          </a:prstGeom>
          <a:noFill/>
          <a:ln/>
        </p:spPr>
        <p:txBody>
          <a:bodyPr wrap="square" lIns="0" tIns="0" rIns="0" bIns="0" rtlCol="0" anchor="ctr"/>
          <a:lstStyle/>
          <a:p>
            <a:pPr algn="ctr" indent="0" marL="0">
              <a:lnSpc>
                <a:spcPct val="110000"/>
              </a:lnSpc>
              <a:buNone/>
            </a:pPr>
            <a:r>
              <a:rPr lang="en-US" sz="1250" dirty="0">
                <a:solidFill>
                  <a:srgbClr val="3C4A63"/>
                </a:solidFill>
                <a:latin typeface="Calibri" pitchFamily="34" charset="0"/>
                <a:ea typeface="Calibri" pitchFamily="34" charset="-122"/>
                <a:cs typeface="Calibri" pitchFamily="34" charset="-120"/>
              </a:rPr>
              <a:t>Go to claude.ai and sign up. Two minutes, no install, no IT ticket.</a:t>
            </a:r>
            <a:endParaRPr lang="en-US" sz="1250" dirty="0"/>
          </a:p>
        </p:txBody>
      </p:sp>
      <p:sp>
        <p:nvSpPr>
          <p:cNvPr id="11" name="Shape 8"/>
          <p:cNvSpPr/>
          <p:nvPr/>
        </p:nvSpPr>
        <p:spPr>
          <a:xfrm>
            <a:off x="4288536" y="1783080"/>
            <a:ext cx="3611880" cy="2651760"/>
          </a:xfrm>
          <a:prstGeom prst="roundRect">
            <a:avLst>
              <a:gd name="adj" fmla="val 2759"/>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2" name="Shape 9"/>
          <p:cNvSpPr/>
          <p:nvPr/>
        </p:nvSpPr>
        <p:spPr>
          <a:xfrm>
            <a:off x="4288536" y="1783080"/>
            <a:ext cx="3611880" cy="118872"/>
          </a:xfrm>
          <a:prstGeom prst="rect">
            <a:avLst/>
          </a:prstGeom>
          <a:solidFill>
            <a:srgbClr val="E8A33D"/>
          </a:solidFill>
          <a:ln/>
        </p:spPr>
      </p:sp>
      <p:sp>
        <p:nvSpPr>
          <p:cNvPr id="13" name="Shape 10"/>
          <p:cNvSpPr/>
          <p:nvPr/>
        </p:nvSpPr>
        <p:spPr>
          <a:xfrm>
            <a:off x="5591556" y="2148840"/>
            <a:ext cx="1005840" cy="1005840"/>
          </a:xfrm>
          <a:prstGeom prst="ellipse">
            <a:avLst/>
          </a:prstGeom>
          <a:solidFill>
            <a:srgbClr val="1B2A4A"/>
          </a:solidFill>
          <a:ln/>
        </p:spPr>
      </p:sp>
      <p:pic>
        <p:nvPicPr>
          <p:cNvPr id="14" name="Image 1" descr="preencoded.png">    </p:cNvPr>
          <p:cNvPicPr>
            <a:picLocks noChangeAspect="1"/>
          </p:cNvPicPr>
          <p:nvPr/>
        </p:nvPicPr>
        <p:blipFill>
          <a:blip r:embed="rId2"/>
          <a:stretch>
            <a:fillRect/>
          </a:stretch>
        </p:blipFill>
        <p:spPr>
          <a:xfrm>
            <a:off x="5820156" y="2377440"/>
            <a:ext cx="548640" cy="548640"/>
          </a:xfrm>
          <a:prstGeom prst="rect">
            <a:avLst/>
          </a:prstGeom>
        </p:spPr>
      </p:pic>
      <p:sp>
        <p:nvSpPr>
          <p:cNvPr id="15" name="Text 11"/>
          <p:cNvSpPr/>
          <p:nvPr/>
        </p:nvSpPr>
        <p:spPr>
          <a:xfrm>
            <a:off x="4562856" y="3291840"/>
            <a:ext cx="3063240" cy="502920"/>
          </a:xfrm>
          <a:prstGeom prst="rect">
            <a:avLst/>
          </a:prstGeom>
          <a:noFill/>
          <a:ln/>
        </p:spPr>
        <p:txBody>
          <a:bodyPr wrap="square" lIns="0" tIns="0" rIns="0" bIns="0" rtlCol="0" anchor="ctr"/>
          <a:lstStyle/>
          <a:p>
            <a:pPr algn="ctr" indent="0" marL="0">
              <a:buNone/>
            </a:pPr>
            <a:r>
              <a:rPr lang="en-US" sz="1800" b="1" dirty="0">
                <a:solidFill>
                  <a:srgbClr val="1B2A4A"/>
                </a:solidFill>
                <a:latin typeface="Georgia" pitchFamily="34" charset="0"/>
                <a:ea typeface="Georgia" pitchFamily="34" charset="-122"/>
                <a:cs typeface="Georgia" pitchFamily="34" charset="-120"/>
              </a:rPr>
              <a:t>Hand off ONE dreaded task</a:t>
            </a:r>
            <a:endParaRPr lang="en-US" sz="1800" dirty="0"/>
          </a:p>
        </p:txBody>
      </p:sp>
      <p:sp>
        <p:nvSpPr>
          <p:cNvPr id="16" name="Text 12"/>
          <p:cNvSpPr/>
          <p:nvPr/>
        </p:nvSpPr>
        <p:spPr>
          <a:xfrm>
            <a:off x="4562856" y="3749040"/>
            <a:ext cx="3063240" cy="640080"/>
          </a:xfrm>
          <a:prstGeom prst="rect">
            <a:avLst/>
          </a:prstGeom>
          <a:noFill/>
          <a:ln/>
        </p:spPr>
        <p:txBody>
          <a:bodyPr wrap="square" lIns="0" tIns="0" rIns="0" bIns="0" rtlCol="0" anchor="ctr"/>
          <a:lstStyle/>
          <a:p>
            <a:pPr algn="ctr" indent="0" marL="0">
              <a:lnSpc>
                <a:spcPct val="110000"/>
              </a:lnSpc>
              <a:buNone/>
            </a:pPr>
            <a:r>
              <a:rPr lang="en-US" sz="1250" dirty="0">
                <a:solidFill>
                  <a:srgbClr val="3C4A63"/>
                </a:solidFill>
                <a:latin typeface="Calibri" pitchFamily="34" charset="0"/>
                <a:ea typeface="Calibri" pitchFamily="34" charset="-122"/>
                <a:cs typeface="Calibri" pitchFamily="34" charset="-120"/>
              </a:rPr>
              <a:t>Pick your worst recurring writing job and give it to Claude this week.</a:t>
            </a:r>
            <a:endParaRPr lang="en-US" sz="1250" dirty="0"/>
          </a:p>
        </p:txBody>
      </p:sp>
      <p:sp>
        <p:nvSpPr>
          <p:cNvPr id="17" name="Shape 13"/>
          <p:cNvSpPr/>
          <p:nvPr/>
        </p:nvSpPr>
        <p:spPr>
          <a:xfrm>
            <a:off x="8119872" y="1783080"/>
            <a:ext cx="3611880" cy="2651760"/>
          </a:xfrm>
          <a:prstGeom prst="roundRect">
            <a:avLst>
              <a:gd name="adj" fmla="val 2759"/>
            </a:avLst>
          </a:prstGeom>
          <a:solidFill>
            <a:srgbClr val="FFFFFF"/>
          </a:solidFill>
          <a:ln w="12700">
            <a:solidFill>
              <a:srgbClr val="E2E7EF"/>
            </a:solidFill>
            <a:prstDash val="solid"/>
          </a:ln>
          <a:effectLst>
            <a:outerShdw sx="100000" sy="100000" kx="0" ky="0" algn="bl" rotWithShape="0" blurRad="88900" dist="38100" dir="8100000">
              <a:srgbClr val="000000">
                <a:alpha val="16000"/>
              </a:srgbClr>
            </a:outerShdw>
          </a:effectLst>
        </p:spPr>
      </p:sp>
      <p:sp>
        <p:nvSpPr>
          <p:cNvPr id="18" name="Shape 14"/>
          <p:cNvSpPr/>
          <p:nvPr/>
        </p:nvSpPr>
        <p:spPr>
          <a:xfrm>
            <a:off x="8119872" y="1783080"/>
            <a:ext cx="3611880" cy="118872"/>
          </a:xfrm>
          <a:prstGeom prst="rect">
            <a:avLst/>
          </a:prstGeom>
          <a:solidFill>
            <a:srgbClr val="E8A33D"/>
          </a:solidFill>
          <a:ln/>
        </p:spPr>
      </p:sp>
      <p:sp>
        <p:nvSpPr>
          <p:cNvPr id="19" name="Shape 15"/>
          <p:cNvSpPr/>
          <p:nvPr/>
        </p:nvSpPr>
        <p:spPr>
          <a:xfrm>
            <a:off x="9422892" y="2148840"/>
            <a:ext cx="1005840" cy="1005840"/>
          </a:xfrm>
          <a:prstGeom prst="ellipse">
            <a:avLst/>
          </a:prstGeom>
          <a:solidFill>
            <a:srgbClr val="1B2A4A"/>
          </a:solidFill>
          <a:ln/>
        </p:spPr>
      </p:sp>
      <p:pic>
        <p:nvPicPr>
          <p:cNvPr id="20" name="Image 2" descr="preencoded.png">    </p:cNvPr>
          <p:cNvPicPr>
            <a:picLocks noChangeAspect="1"/>
          </p:cNvPicPr>
          <p:nvPr/>
        </p:nvPicPr>
        <p:blipFill>
          <a:blip r:embed="rId3"/>
          <a:stretch>
            <a:fillRect/>
          </a:stretch>
        </p:blipFill>
        <p:spPr>
          <a:xfrm>
            <a:off x="9651492" y="2377440"/>
            <a:ext cx="548640" cy="548640"/>
          </a:xfrm>
          <a:prstGeom prst="rect">
            <a:avLst/>
          </a:prstGeom>
        </p:spPr>
      </p:pic>
      <p:sp>
        <p:nvSpPr>
          <p:cNvPr id="21" name="Text 16"/>
          <p:cNvSpPr/>
          <p:nvPr/>
        </p:nvSpPr>
        <p:spPr>
          <a:xfrm>
            <a:off x="8394192" y="3291840"/>
            <a:ext cx="3063240" cy="502920"/>
          </a:xfrm>
          <a:prstGeom prst="rect">
            <a:avLst/>
          </a:prstGeom>
          <a:noFill/>
          <a:ln/>
        </p:spPr>
        <p:txBody>
          <a:bodyPr wrap="square" lIns="0" tIns="0" rIns="0" bIns="0" rtlCol="0" anchor="ctr"/>
          <a:lstStyle/>
          <a:p>
            <a:pPr algn="ctr" indent="0" marL="0">
              <a:buNone/>
            </a:pPr>
            <a:r>
              <a:rPr lang="en-US" sz="1800" b="1" dirty="0">
                <a:solidFill>
                  <a:srgbClr val="1B2A4A"/>
                </a:solidFill>
                <a:latin typeface="Georgia" pitchFamily="34" charset="0"/>
                <a:ea typeface="Georgia" pitchFamily="34" charset="-122"/>
                <a:cs typeface="Georgia" pitchFamily="34" charset="-120"/>
              </a:rPr>
              <a:t>Save your first prompt</a:t>
            </a:r>
            <a:endParaRPr lang="en-US" sz="1800" dirty="0"/>
          </a:p>
        </p:txBody>
      </p:sp>
      <p:sp>
        <p:nvSpPr>
          <p:cNvPr id="22" name="Text 17"/>
          <p:cNvSpPr/>
          <p:nvPr/>
        </p:nvSpPr>
        <p:spPr>
          <a:xfrm>
            <a:off x="8394192" y="3749040"/>
            <a:ext cx="3063240" cy="640080"/>
          </a:xfrm>
          <a:prstGeom prst="rect">
            <a:avLst/>
          </a:prstGeom>
          <a:noFill/>
          <a:ln/>
        </p:spPr>
        <p:txBody>
          <a:bodyPr wrap="square" lIns="0" tIns="0" rIns="0" bIns="0" rtlCol="0" anchor="ctr"/>
          <a:lstStyle/>
          <a:p>
            <a:pPr algn="ctr" indent="0" marL="0">
              <a:lnSpc>
                <a:spcPct val="110000"/>
              </a:lnSpc>
              <a:buNone/>
            </a:pPr>
            <a:r>
              <a:rPr lang="en-US" sz="1250" dirty="0">
                <a:solidFill>
                  <a:srgbClr val="3C4A63"/>
                </a:solidFill>
                <a:latin typeface="Calibri" pitchFamily="34" charset="0"/>
                <a:ea typeface="Calibri" pitchFamily="34" charset="-122"/>
                <a:cs typeface="Calibri" pitchFamily="34" charset="-120"/>
              </a:rPr>
              <a:t>When something works, paste the prompt into a notebook to reuse it.</a:t>
            </a:r>
            <a:endParaRPr lang="en-US" sz="1250" dirty="0"/>
          </a:p>
        </p:txBody>
      </p:sp>
      <p:sp>
        <p:nvSpPr>
          <p:cNvPr id="23" name="Shape 18"/>
          <p:cNvSpPr/>
          <p:nvPr/>
        </p:nvSpPr>
        <p:spPr>
          <a:xfrm>
            <a:off x="457200" y="4663440"/>
            <a:ext cx="11274552" cy="1280160"/>
          </a:xfrm>
          <a:prstGeom prst="roundRect">
            <a:avLst>
              <a:gd name="adj" fmla="val 4286"/>
            </a:avLst>
          </a:prstGeom>
          <a:solidFill>
            <a:srgbClr val="1B2A4A"/>
          </a:solidFill>
          <a:ln/>
        </p:spPr>
      </p:sp>
      <p:sp>
        <p:nvSpPr>
          <p:cNvPr id="24" name="Text 19"/>
          <p:cNvSpPr/>
          <p:nvPr/>
        </p:nvSpPr>
        <p:spPr>
          <a:xfrm>
            <a:off x="731520" y="4846320"/>
            <a:ext cx="10058400" cy="32004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Your takeaway in one line</a:t>
            </a:r>
            <a:endParaRPr lang="en-US" sz="1100" dirty="0"/>
          </a:p>
        </p:txBody>
      </p:sp>
      <p:sp>
        <p:nvSpPr>
          <p:cNvPr id="25" name="Text 20"/>
          <p:cNvSpPr/>
          <p:nvPr/>
        </p:nvSpPr>
        <p:spPr>
          <a:xfrm>
            <a:off x="731520" y="5138928"/>
            <a:ext cx="10698480" cy="6400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Copy → Ask → Review → Paste back. The same four steps, in every app, on the work you already do.</a:t>
            </a:r>
            <a:endParaRPr lang="en-US" sz="1900" dirty="0"/>
          </a:p>
        </p:txBody>
      </p:sp>
      <p:sp>
        <p:nvSpPr>
          <p:cNvPr id="27" name="Text 21"/>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28" name="Text 22"/>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8A33D"/>
          </a:solidFill>
          <a:ln/>
        </p:spPr>
      </p:sp>
      <p:sp>
        <p:nvSpPr>
          <p:cNvPr id="3" name="Shape 1"/>
          <p:cNvSpPr/>
          <p:nvPr/>
        </p:nvSpPr>
        <p:spPr>
          <a:xfrm>
            <a:off x="9875520" y="-914400"/>
            <a:ext cx="2926080" cy="2926080"/>
          </a:xfrm>
          <a:prstGeom prst="ellipse">
            <a:avLst/>
          </a:prstGeom>
          <a:solidFill>
            <a:srgbClr val="24385F"/>
          </a:solidFill>
          <a:ln/>
        </p:spPr>
      </p:sp>
      <p:sp>
        <p:nvSpPr>
          <p:cNvPr id="4" name="Text 2"/>
          <p:cNvSpPr/>
          <p:nvPr/>
        </p:nvSpPr>
        <p:spPr>
          <a:xfrm>
            <a:off x="822960" y="1371600"/>
            <a:ext cx="8229600" cy="91440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Questions?</a:t>
            </a:r>
            <a:endParaRPr lang="en-US" sz="5200" dirty="0"/>
          </a:p>
        </p:txBody>
      </p:sp>
      <p:sp>
        <p:nvSpPr>
          <p:cNvPr id="5" name="Text 3"/>
          <p:cNvSpPr/>
          <p:nvPr/>
        </p:nvSpPr>
        <p:spPr>
          <a:xfrm>
            <a:off x="822960" y="2468880"/>
            <a:ext cx="9601200" cy="731520"/>
          </a:xfrm>
          <a:prstGeom prst="rect">
            <a:avLst/>
          </a:prstGeom>
          <a:noFill/>
          <a:ln/>
        </p:spPr>
        <p:txBody>
          <a:bodyPr wrap="square" lIns="0" tIns="0" rIns="0" bIns="0" rtlCol="0" anchor="ctr"/>
          <a:lstStyle/>
          <a:p>
            <a:pPr indent="0" marL="0">
              <a:lnSpc>
                <a:spcPct val="115000"/>
              </a:lnSpc>
              <a:buNone/>
            </a:pPr>
            <a:r>
              <a:rPr lang="en-US" sz="1700" dirty="0">
                <a:solidFill>
                  <a:srgbClr val="C7D2E2"/>
                </a:solidFill>
                <a:latin typeface="Calibri" pitchFamily="34" charset="0"/>
                <a:ea typeface="Calibri" pitchFamily="34" charset="-122"/>
                <a:cs typeface="Calibri" pitchFamily="34" charset="-120"/>
              </a:rPr>
              <a:t>Let's troubleshoot your real tasks, bring me the thing you do every week that you'd love to hand off.</a:t>
            </a:r>
            <a:endParaRPr lang="en-US" sz="1700" dirty="0"/>
          </a:p>
        </p:txBody>
      </p:sp>
      <p:sp>
        <p:nvSpPr>
          <p:cNvPr id="6" name="Shape 4"/>
          <p:cNvSpPr/>
          <p:nvPr/>
        </p:nvSpPr>
        <p:spPr>
          <a:xfrm>
            <a:off x="822960" y="3200400"/>
            <a:ext cx="10515600" cy="2788920"/>
          </a:xfrm>
          <a:prstGeom prst="roundRect">
            <a:avLst>
              <a:gd name="adj" fmla="val 2623"/>
            </a:avLst>
          </a:prstGeom>
          <a:solidFill>
            <a:srgbClr val="24385F"/>
          </a:solidFill>
          <a:ln w="12700">
            <a:solidFill>
              <a:srgbClr val="33476B"/>
            </a:solidFill>
            <a:prstDash val="solid"/>
          </a:ln>
        </p:spPr>
      </p:sp>
      <p:sp>
        <p:nvSpPr>
          <p:cNvPr id="7" name="Text 5"/>
          <p:cNvSpPr/>
          <p:nvPr/>
        </p:nvSpPr>
        <p:spPr>
          <a:xfrm>
            <a:off x="1143000" y="3383280"/>
            <a:ext cx="7315200" cy="320040"/>
          </a:xfrm>
          <a:prstGeom prst="rect">
            <a:avLst/>
          </a:prstGeom>
          <a:noFill/>
          <a:ln/>
        </p:spPr>
        <p:txBody>
          <a:bodyPr wrap="square" lIns="0" tIns="0" rIns="0" bIns="0" rtlCol="0" anchor="ctr"/>
          <a:lstStyle/>
          <a:p>
            <a:pPr indent="0" marL="0">
              <a:buNone/>
            </a:pPr>
            <a:r>
              <a:rPr lang="en-US" sz="1200" b="1" spc="150" kern="0" dirty="0">
                <a:solidFill>
                  <a:srgbClr val="E8A33D"/>
                </a:solidFill>
                <a:latin typeface="Calibri" pitchFamily="34" charset="0"/>
                <a:ea typeface="Calibri" pitchFamily="34" charset="-122"/>
                <a:cs typeface="Calibri" pitchFamily="34" charset="-120"/>
              </a:rPr>
              <a:t>YOUR TAKE-HOME PACK</a:t>
            </a:r>
            <a:endParaRPr lang="en-US" sz="1200" dirty="0"/>
          </a:p>
        </p:txBody>
      </p:sp>
      <p:sp>
        <p:nvSpPr>
          <p:cNvPr id="8" name="Shape 6"/>
          <p:cNvSpPr/>
          <p:nvPr/>
        </p:nvSpPr>
        <p:spPr>
          <a:xfrm>
            <a:off x="1143000" y="3785616"/>
            <a:ext cx="502920" cy="502920"/>
          </a:xfrm>
          <a:prstGeom prst="ellipse">
            <a:avLst/>
          </a:prstGeom>
          <a:solidFill>
            <a:srgbClr val="E8A33D"/>
          </a:solidFill>
          <a:ln/>
        </p:spPr>
      </p:sp>
      <p:pic>
        <p:nvPicPr>
          <p:cNvPr id="9" name="Image 0" descr="preencoded.png">    </p:cNvPr>
          <p:cNvPicPr>
            <a:picLocks noChangeAspect="1"/>
          </p:cNvPicPr>
          <p:nvPr/>
        </p:nvPicPr>
        <p:blipFill>
          <a:blip r:embed="rId1"/>
          <a:stretch>
            <a:fillRect/>
          </a:stretch>
        </p:blipFill>
        <p:spPr>
          <a:xfrm>
            <a:off x="1271016" y="3904488"/>
            <a:ext cx="256032" cy="256032"/>
          </a:xfrm>
          <a:prstGeom prst="rect">
            <a:avLst/>
          </a:prstGeom>
        </p:spPr>
      </p:pic>
      <p:sp>
        <p:nvSpPr>
          <p:cNvPr id="10" name="Text 7"/>
          <p:cNvSpPr/>
          <p:nvPr/>
        </p:nvSpPr>
        <p:spPr>
          <a:xfrm>
            <a:off x="1801368" y="3712464"/>
            <a:ext cx="4343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These slides</a:t>
            </a:r>
            <a:endParaRPr lang="en-US" sz="1450" dirty="0"/>
          </a:p>
        </p:txBody>
      </p:sp>
      <p:sp>
        <p:nvSpPr>
          <p:cNvPr id="11" name="Text 8"/>
          <p:cNvSpPr/>
          <p:nvPr/>
        </p:nvSpPr>
        <p:spPr>
          <a:xfrm>
            <a:off x="1801368" y="4032504"/>
            <a:ext cx="4343400" cy="329184"/>
          </a:xfrm>
          <a:prstGeom prst="rect">
            <a:avLst/>
          </a:prstGeom>
          <a:noFill/>
          <a:ln/>
        </p:spPr>
        <p:txBody>
          <a:bodyPr wrap="square" lIns="0" tIns="0" rIns="0" bIns="0" rtlCol="0" anchor="ctr"/>
          <a:lstStyle/>
          <a:p>
            <a:pPr indent="0" marL="0">
              <a:buNone/>
            </a:pPr>
            <a:r>
              <a:rPr lang="en-US" sz="1100" dirty="0">
                <a:solidFill>
                  <a:srgbClr val="9FB0C9"/>
                </a:solidFill>
                <a:latin typeface="Calibri" pitchFamily="34" charset="0"/>
                <a:ea typeface="Calibri" pitchFamily="34" charset="-122"/>
                <a:cs typeface="Calibri" pitchFamily="34" charset="-120"/>
              </a:rPr>
              <a:t>With full speaker notes on every slide</a:t>
            </a:r>
            <a:endParaRPr lang="en-US" sz="1100" dirty="0"/>
          </a:p>
        </p:txBody>
      </p:sp>
      <p:sp>
        <p:nvSpPr>
          <p:cNvPr id="12" name="Shape 9"/>
          <p:cNvSpPr/>
          <p:nvPr/>
        </p:nvSpPr>
        <p:spPr>
          <a:xfrm>
            <a:off x="6263640" y="3785616"/>
            <a:ext cx="502920" cy="502920"/>
          </a:xfrm>
          <a:prstGeom prst="ellipse">
            <a:avLst/>
          </a:prstGeom>
          <a:solidFill>
            <a:srgbClr val="E8A33D"/>
          </a:solidFill>
          <a:ln/>
        </p:spPr>
      </p:sp>
      <p:pic>
        <p:nvPicPr>
          <p:cNvPr id="13" name="Image 1" descr="preencoded.png">    </p:cNvPr>
          <p:cNvPicPr>
            <a:picLocks noChangeAspect="1"/>
          </p:cNvPicPr>
          <p:nvPr/>
        </p:nvPicPr>
        <p:blipFill>
          <a:blip r:embed="rId2"/>
          <a:stretch>
            <a:fillRect/>
          </a:stretch>
        </p:blipFill>
        <p:spPr>
          <a:xfrm>
            <a:off x="6391656" y="3904488"/>
            <a:ext cx="256032" cy="256032"/>
          </a:xfrm>
          <a:prstGeom prst="rect">
            <a:avLst/>
          </a:prstGeom>
        </p:spPr>
      </p:pic>
      <p:sp>
        <p:nvSpPr>
          <p:cNvPr id="14" name="Text 10"/>
          <p:cNvSpPr/>
          <p:nvPr/>
        </p:nvSpPr>
        <p:spPr>
          <a:xfrm>
            <a:off x="6922008" y="3712464"/>
            <a:ext cx="4343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Demo Pack &amp; Slide Map</a:t>
            </a:r>
            <a:endParaRPr lang="en-US" sz="1450" dirty="0"/>
          </a:p>
        </p:txBody>
      </p:sp>
      <p:sp>
        <p:nvSpPr>
          <p:cNvPr id="15" name="Text 11"/>
          <p:cNvSpPr/>
          <p:nvPr/>
        </p:nvSpPr>
        <p:spPr>
          <a:xfrm>
            <a:off x="6922008" y="4032504"/>
            <a:ext cx="4343400" cy="329184"/>
          </a:xfrm>
          <a:prstGeom prst="rect">
            <a:avLst/>
          </a:prstGeom>
          <a:noFill/>
          <a:ln/>
        </p:spPr>
        <p:txBody>
          <a:bodyPr wrap="square" lIns="0" tIns="0" rIns="0" bIns="0" rtlCol="0" anchor="ctr"/>
          <a:lstStyle/>
          <a:p>
            <a:pPr indent="0" marL="0">
              <a:buNone/>
            </a:pPr>
            <a:r>
              <a:rPr lang="en-US" sz="1100" dirty="0">
                <a:solidFill>
                  <a:srgbClr val="9FB0C9"/>
                </a:solidFill>
                <a:latin typeface="Calibri" pitchFamily="34" charset="0"/>
                <a:ea typeface="Calibri" pitchFamily="34" charset="-122"/>
                <a:cs typeface="Calibri" pitchFamily="34" charset="-120"/>
              </a:rPr>
              <a:t>Every demo's prompt + sample, mapped to slides</a:t>
            </a:r>
            <a:endParaRPr lang="en-US" sz="1100" dirty="0"/>
          </a:p>
        </p:txBody>
      </p:sp>
      <p:sp>
        <p:nvSpPr>
          <p:cNvPr id="16" name="Shape 12"/>
          <p:cNvSpPr/>
          <p:nvPr/>
        </p:nvSpPr>
        <p:spPr>
          <a:xfrm>
            <a:off x="1143000" y="4498848"/>
            <a:ext cx="502920" cy="502920"/>
          </a:xfrm>
          <a:prstGeom prst="ellipse">
            <a:avLst/>
          </a:prstGeom>
          <a:solidFill>
            <a:srgbClr val="E8A33D"/>
          </a:solidFill>
          <a:ln/>
        </p:spPr>
      </p:sp>
      <p:pic>
        <p:nvPicPr>
          <p:cNvPr id="17" name="Image 2" descr="preencoded.png">    </p:cNvPr>
          <p:cNvPicPr>
            <a:picLocks noChangeAspect="1"/>
          </p:cNvPicPr>
          <p:nvPr/>
        </p:nvPicPr>
        <p:blipFill>
          <a:blip r:embed="rId3"/>
          <a:stretch>
            <a:fillRect/>
          </a:stretch>
        </p:blipFill>
        <p:spPr>
          <a:xfrm>
            <a:off x="1271016" y="4617720"/>
            <a:ext cx="256032" cy="256032"/>
          </a:xfrm>
          <a:prstGeom prst="rect">
            <a:avLst/>
          </a:prstGeom>
        </p:spPr>
      </p:pic>
      <p:sp>
        <p:nvSpPr>
          <p:cNvPr id="18" name="Text 13"/>
          <p:cNvSpPr/>
          <p:nvPr/>
        </p:nvSpPr>
        <p:spPr>
          <a:xfrm>
            <a:off x="1801368" y="4425696"/>
            <a:ext cx="4343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Sample files</a:t>
            </a:r>
            <a:endParaRPr lang="en-US" sz="1450" dirty="0"/>
          </a:p>
        </p:txBody>
      </p:sp>
      <p:sp>
        <p:nvSpPr>
          <p:cNvPr id="19" name="Text 14"/>
          <p:cNvSpPr/>
          <p:nvPr/>
        </p:nvSpPr>
        <p:spPr>
          <a:xfrm>
            <a:off x="1801368" y="4745736"/>
            <a:ext cx="4343400" cy="329184"/>
          </a:xfrm>
          <a:prstGeom prst="rect">
            <a:avLst/>
          </a:prstGeom>
          <a:noFill/>
          <a:ln/>
        </p:spPr>
        <p:txBody>
          <a:bodyPr wrap="square" lIns="0" tIns="0" rIns="0" bIns="0" rtlCol="0" anchor="ctr"/>
          <a:lstStyle/>
          <a:p>
            <a:pPr indent="0" marL="0">
              <a:buNone/>
            </a:pPr>
            <a:r>
              <a:rPr lang="en-US" sz="1100" dirty="0">
                <a:solidFill>
                  <a:srgbClr val="9FB0C9"/>
                </a:solidFill>
                <a:latin typeface="Calibri" pitchFamily="34" charset="0"/>
                <a:ea typeface="Calibri" pitchFamily="34" charset="-122"/>
                <a:cs typeface="Calibri" pitchFamily="34" charset="-120"/>
              </a:rPr>
              <a:t>Fictional spreadsheet + document to demo with</a:t>
            </a:r>
            <a:endParaRPr lang="en-US" sz="1100" dirty="0"/>
          </a:p>
        </p:txBody>
      </p:sp>
      <p:sp>
        <p:nvSpPr>
          <p:cNvPr id="20" name="Shape 15"/>
          <p:cNvSpPr/>
          <p:nvPr/>
        </p:nvSpPr>
        <p:spPr>
          <a:xfrm>
            <a:off x="6263640" y="4498848"/>
            <a:ext cx="502920" cy="502920"/>
          </a:xfrm>
          <a:prstGeom prst="ellipse">
            <a:avLst/>
          </a:prstGeom>
          <a:solidFill>
            <a:srgbClr val="E8A33D"/>
          </a:solidFill>
          <a:ln/>
        </p:spPr>
      </p:sp>
      <p:pic>
        <p:nvPicPr>
          <p:cNvPr id="21" name="Image 3" descr="preencoded.png">    </p:cNvPr>
          <p:cNvPicPr>
            <a:picLocks noChangeAspect="1"/>
          </p:cNvPicPr>
          <p:nvPr/>
        </p:nvPicPr>
        <p:blipFill>
          <a:blip r:embed="rId4"/>
          <a:stretch>
            <a:fillRect/>
          </a:stretch>
        </p:blipFill>
        <p:spPr>
          <a:xfrm>
            <a:off x="6391656" y="4617720"/>
            <a:ext cx="256032" cy="256032"/>
          </a:xfrm>
          <a:prstGeom prst="rect">
            <a:avLst/>
          </a:prstGeom>
        </p:spPr>
      </p:pic>
      <p:sp>
        <p:nvSpPr>
          <p:cNvPr id="22" name="Text 16"/>
          <p:cNvSpPr/>
          <p:nvPr/>
        </p:nvSpPr>
        <p:spPr>
          <a:xfrm>
            <a:off x="6922008" y="4425696"/>
            <a:ext cx="4343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Quick-Start Cheat Sheet</a:t>
            </a:r>
            <a:endParaRPr lang="en-US" sz="1450" dirty="0"/>
          </a:p>
        </p:txBody>
      </p:sp>
      <p:sp>
        <p:nvSpPr>
          <p:cNvPr id="23" name="Text 17"/>
          <p:cNvSpPr/>
          <p:nvPr/>
        </p:nvSpPr>
        <p:spPr>
          <a:xfrm>
            <a:off x="6922008" y="4745736"/>
            <a:ext cx="4343400" cy="329184"/>
          </a:xfrm>
          <a:prstGeom prst="rect">
            <a:avLst/>
          </a:prstGeom>
          <a:noFill/>
          <a:ln/>
        </p:spPr>
        <p:txBody>
          <a:bodyPr wrap="square" lIns="0" tIns="0" rIns="0" bIns="0" rtlCol="0" anchor="ctr"/>
          <a:lstStyle/>
          <a:p>
            <a:pPr indent="0" marL="0">
              <a:buNone/>
            </a:pPr>
            <a:r>
              <a:rPr lang="en-US" sz="1100" dirty="0">
                <a:solidFill>
                  <a:srgbClr val="9FB0C9"/>
                </a:solidFill>
                <a:latin typeface="Calibri" pitchFamily="34" charset="0"/>
                <a:ea typeface="Calibri" pitchFamily="34" charset="-122"/>
                <a:cs typeface="Calibri" pitchFamily="34" charset="-120"/>
              </a:rPr>
              <a:t>Prompt patterns + do/don't, one page</a:t>
            </a:r>
            <a:endParaRPr lang="en-US" sz="1100" dirty="0"/>
          </a:p>
        </p:txBody>
      </p:sp>
      <p:sp>
        <p:nvSpPr>
          <p:cNvPr id="24" name="Shape 18"/>
          <p:cNvSpPr/>
          <p:nvPr/>
        </p:nvSpPr>
        <p:spPr>
          <a:xfrm>
            <a:off x="1143000" y="5212080"/>
            <a:ext cx="502920" cy="502920"/>
          </a:xfrm>
          <a:prstGeom prst="ellipse">
            <a:avLst/>
          </a:prstGeom>
          <a:solidFill>
            <a:srgbClr val="E8A33D"/>
          </a:solidFill>
          <a:ln/>
        </p:spPr>
      </p:sp>
      <p:pic>
        <p:nvPicPr>
          <p:cNvPr id="25" name="Image 4" descr="preencoded.png">    </p:cNvPr>
          <p:cNvPicPr>
            <a:picLocks noChangeAspect="1"/>
          </p:cNvPicPr>
          <p:nvPr/>
        </p:nvPicPr>
        <p:blipFill>
          <a:blip r:embed="rId5"/>
          <a:stretch>
            <a:fillRect/>
          </a:stretch>
        </p:blipFill>
        <p:spPr>
          <a:xfrm>
            <a:off x="1271016" y="5330952"/>
            <a:ext cx="256032" cy="256032"/>
          </a:xfrm>
          <a:prstGeom prst="rect">
            <a:avLst/>
          </a:prstGeom>
        </p:spPr>
      </p:pic>
      <p:sp>
        <p:nvSpPr>
          <p:cNvPr id="26" name="Text 19"/>
          <p:cNvSpPr/>
          <p:nvPr/>
        </p:nvSpPr>
        <p:spPr>
          <a:xfrm>
            <a:off x="1801368" y="5138928"/>
            <a:ext cx="4343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Hands-On Exercises</a:t>
            </a:r>
            <a:endParaRPr lang="en-US" sz="1450" dirty="0"/>
          </a:p>
        </p:txBody>
      </p:sp>
      <p:sp>
        <p:nvSpPr>
          <p:cNvPr id="27" name="Text 20"/>
          <p:cNvSpPr/>
          <p:nvPr/>
        </p:nvSpPr>
        <p:spPr>
          <a:xfrm>
            <a:off x="1801368" y="5458968"/>
            <a:ext cx="4343400" cy="329184"/>
          </a:xfrm>
          <a:prstGeom prst="rect">
            <a:avLst/>
          </a:prstGeom>
          <a:noFill/>
          <a:ln/>
        </p:spPr>
        <p:txBody>
          <a:bodyPr wrap="square" lIns="0" tIns="0" rIns="0" bIns="0" rtlCol="0" anchor="ctr"/>
          <a:lstStyle/>
          <a:p>
            <a:pPr indent="0" marL="0">
              <a:buNone/>
            </a:pPr>
            <a:r>
              <a:rPr lang="en-US" sz="1100" dirty="0">
                <a:solidFill>
                  <a:srgbClr val="9FB0C9"/>
                </a:solidFill>
                <a:latin typeface="Calibri" pitchFamily="34" charset="0"/>
                <a:ea typeface="Calibri" pitchFamily="34" charset="-122"/>
                <a:cs typeface="Calibri" pitchFamily="34" charset="-120"/>
              </a:rPr>
              <a:t>Try-it tasks for each app, with sample text</a:t>
            </a:r>
            <a:endParaRPr lang="en-US" sz="1100" dirty="0"/>
          </a:p>
        </p:txBody>
      </p:sp>
      <p:sp>
        <p:nvSpPr>
          <p:cNvPr id="28" name="Shape 21"/>
          <p:cNvSpPr/>
          <p:nvPr/>
        </p:nvSpPr>
        <p:spPr>
          <a:xfrm>
            <a:off x="6263640" y="5212080"/>
            <a:ext cx="502920" cy="502920"/>
          </a:xfrm>
          <a:prstGeom prst="ellipse">
            <a:avLst/>
          </a:prstGeom>
          <a:solidFill>
            <a:srgbClr val="E8A33D"/>
          </a:solidFill>
          <a:ln/>
        </p:spPr>
      </p:sp>
      <p:pic>
        <p:nvPicPr>
          <p:cNvPr id="29" name="Image 5" descr="preencoded.png">    </p:cNvPr>
          <p:cNvPicPr>
            <a:picLocks noChangeAspect="1"/>
          </p:cNvPicPr>
          <p:nvPr/>
        </p:nvPicPr>
        <p:blipFill>
          <a:blip r:embed="rId6"/>
          <a:stretch>
            <a:fillRect/>
          </a:stretch>
        </p:blipFill>
        <p:spPr>
          <a:xfrm>
            <a:off x="6391656" y="5330952"/>
            <a:ext cx="256032" cy="256032"/>
          </a:xfrm>
          <a:prstGeom prst="rect">
            <a:avLst/>
          </a:prstGeom>
        </p:spPr>
      </p:pic>
      <p:sp>
        <p:nvSpPr>
          <p:cNvPr id="30" name="Text 22"/>
          <p:cNvSpPr/>
          <p:nvPr/>
        </p:nvSpPr>
        <p:spPr>
          <a:xfrm>
            <a:off x="6922008" y="5138928"/>
            <a:ext cx="4343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Download &amp; Licensing Guide</a:t>
            </a:r>
            <a:endParaRPr lang="en-US" sz="1450" dirty="0"/>
          </a:p>
        </p:txBody>
      </p:sp>
      <p:sp>
        <p:nvSpPr>
          <p:cNvPr id="31" name="Text 23"/>
          <p:cNvSpPr/>
          <p:nvPr/>
        </p:nvSpPr>
        <p:spPr>
          <a:xfrm>
            <a:off x="6922008" y="5458968"/>
            <a:ext cx="4343400" cy="329184"/>
          </a:xfrm>
          <a:prstGeom prst="rect">
            <a:avLst/>
          </a:prstGeom>
          <a:noFill/>
          <a:ln/>
        </p:spPr>
        <p:txBody>
          <a:bodyPr wrap="square" lIns="0" tIns="0" rIns="0" bIns="0" rtlCol="0" anchor="ctr"/>
          <a:lstStyle/>
          <a:p>
            <a:pPr indent="0" marL="0">
              <a:buNone/>
            </a:pPr>
            <a:r>
              <a:rPr lang="en-US" sz="1100" dirty="0">
                <a:solidFill>
                  <a:srgbClr val="9FB0C9"/>
                </a:solidFill>
                <a:latin typeface="Calibri" pitchFamily="34" charset="0"/>
                <a:ea typeface="Calibri" pitchFamily="34" charset="-122"/>
                <a:cs typeface="Calibri" pitchFamily="34" charset="-120"/>
              </a:rPr>
              <a:t>How to get Claude, plans, privacy basics</a:t>
            </a:r>
            <a:endParaRPr lang="en-US" sz="1100" dirty="0"/>
          </a:p>
        </p:txBody>
      </p:sp>
      <p:sp>
        <p:nvSpPr>
          <p:cNvPr id="32" name="Text 24"/>
          <p:cNvSpPr/>
          <p:nvPr/>
        </p:nvSpPr>
        <p:spPr>
          <a:xfrm>
            <a:off x="822960" y="6126480"/>
            <a:ext cx="10058400" cy="320040"/>
          </a:xfrm>
          <a:prstGeom prst="rect">
            <a:avLst/>
          </a:prstGeom>
          <a:noFill/>
          <a:ln/>
        </p:spPr>
        <p:txBody>
          <a:bodyPr wrap="square" lIns="0" tIns="0" rIns="0" bIns="0" rtlCol="0" anchor="ctr"/>
          <a:lstStyle/>
          <a:p>
            <a:pPr indent="0" marL="0">
              <a:buNone/>
            </a:pPr>
            <a:r>
              <a:rPr lang="en-US" sz="1350" i="1" dirty="0">
                <a:solidFill>
                  <a:srgbClr val="5FB3B3"/>
                </a:solidFill>
                <a:latin typeface="Calibri" pitchFamily="34" charset="0"/>
                <a:ea typeface="Calibri" pitchFamily="34" charset="-122"/>
                <a:cs typeface="Calibri" pitchFamily="34" charset="-120"/>
              </a:rPr>
              <a:t>Thank you for spending the hour. Now go hand something off.</a:t>
            </a:r>
            <a:endParaRPr lang="en-US" sz="1350" dirty="0"/>
          </a:p>
        </p:txBody>
      </p:sp>
      <p:sp>
        <p:nvSpPr>
          <p:cNvPr id="34" name="Text 25"/>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6B7890"/>
                </a:solidFill>
                <a:latin typeface="Calibri" pitchFamily="34" charset="0"/>
                <a:ea typeface="Calibri" pitchFamily="34" charset="-122"/>
                <a:cs typeface="Calibri" pitchFamily="34" charset="-120"/>
              </a:rPr>
              <a:t>Claude + Microsoft 365 for Everyday Productivity</a:t>
            </a:r>
            <a:endParaRPr lang="en-US" sz="900" dirty="0"/>
          </a:p>
        </p:txBody>
      </p:sp>
      <p:sp>
        <p:nvSpPr>
          <p:cNvPr id="35" name="Text 26"/>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6B789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 Microsoft 365 for Everyday Productivity</dc:title>
  <dc:subject>PptxGenJS Presentation</dc:subject>
  <dc:creator>Webinar Facilitator</dc:creator>
  <cp:lastModifiedBy>Webinar Facilitator</cp:lastModifiedBy>
  <cp:revision>1</cp:revision>
  <dcterms:created xsi:type="dcterms:W3CDTF">2026-06-08T18:56:15Z</dcterms:created>
  <dcterms:modified xsi:type="dcterms:W3CDTF">2026-06-08T18:56:15Z</dcterms:modified>
</cp:coreProperties>
</file>